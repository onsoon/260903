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7" r:id="rId1"/>
  </p:sldMasterIdLst>
  <p:notesMasterIdLst>
    <p:notesMasterId r:id="rId4"/>
  </p:notesMasterIdLst>
  <p:sldIdLst>
    <p:sldId id="263" r:id="rId2"/>
    <p:sldId id="264" r:id="rId3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x="12192000" cy="6858000"/>
  <p:notesSz cx="6858000" cy="9144000"/>
  <p:embeddedFontLst>
    <p:embeddedFont>
      <p:font typeface="Pretendard ExtraBold" panose="02000903000000020004" pitchFamily="50" charset="-127"/>
      <p:bold r:id="rId5"/>
    </p:embeddedFont>
    <p:embeddedFont>
      <p:font typeface="Pretendard Medium" panose="02000603000000020004" pitchFamily="50" charset="-127"/>
      <p:regular r:id="rId6"/>
    </p:embeddedFont>
    <p:embeddedFont>
      <p:font typeface="Pretendard SemiBold" panose="02000703000000020004" pitchFamily="50" charset="-127"/>
      <p:bold r:id="rId7"/>
    </p:embeddedFont>
    <p:embeddedFont>
      <p:font typeface="맑은 고딕" panose="020B0503020000020004" pitchFamily="50" charset="-127"/>
      <p:regular r:id="rId8"/>
      <p:bold r:id="rId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51C4"/>
    <a:srgbClr val="DC143C"/>
    <a:srgbClr val="FC9EE8"/>
    <a:srgbClr val="F76FD3"/>
    <a:srgbClr val="FFFFFF"/>
    <a:srgbClr val="B22222"/>
    <a:srgbClr val="4D91FF"/>
    <a:srgbClr val="C2091F"/>
    <a:srgbClr val="000000"/>
    <a:srgbClr val="18C2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66" autoAdjust="0"/>
    <p:restoredTop sz="87869" autoAdjust="0"/>
  </p:normalViewPr>
  <p:slideViewPr>
    <p:cSldViewPr snapToGrid="0">
      <p:cViewPr varScale="1">
        <p:scale>
          <a:sx n="93" d="100"/>
          <a:sy n="93" d="100"/>
        </p:scale>
        <p:origin x="604" y="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viewProps" Target="viewProps.xml"/><Relationship Id="rId5" Type="http://schemas.openxmlformats.org/officeDocument/2006/relationships/font" Target="fonts/font1.fntdata"/><Relationship Id="rId1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microsoft.com/office/2016/11/relationships/changesInfo" Target="changesInfos/changesInfo1.xml"/>  <Relationship Id="rId15" Type="http://schemas.openxmlformats.org/officeDocument/2006/relationships/slide" Target="slides/slide3.xml"/>
  <Relationship Id="rId16" Type="http://schemas.openxmlformats.org/officeDocument/2006/relationships/slide" Target="slides/slide4.xml"/>
  <Relationship Id="rId17" Type="http://schemas.openxmlformats.org/officeDocument/2006/relationships/slide" Target="slides/slide5.xml"/>
  <Relationship Id="rId18" Type="http://schemas.openxmlformats.org/officeDocument/2006/relationships/slide" Target="slides/slide6.xml"/>
  <Relationship Id="rId19" Type="http://schemas.openxmlformats.org/officeDocument/2006/relationships/slide" Target="slides/slide7.xml"/>
  <Relationship Id="rId20" Type="http://schemas.openxmlformats.org/officeDocument/2006/relationships/slide" Target="slides/slide8.xml"/>
  <Relationship Id="rId21" Type="http://schemas.openxmlformats.org/officeDocument/2006/relationships/slide" Target="slides/slide9.xml"/>
  <Relationship Id="rId22" Type="http://schemas.openxmlformats.org/officeDocument/2006/relationships/slide" Target="slides/slide10.xml"/>
  <Relationship Id="rId23" Type="http://schemas.openxmlformats.org/officeDocument/2006/relationships/slide" Target="slides/slide11.xml"/>
  <Relationship Id="rId24" Type="http://schemas.openxmlformats.org/officeDocument/2006/relationships/slide" Target="slides/slide12.xml"/>
  <Relationship Id="rId25" Type="http://schemas.openxmlformats.org/officeDocument/2006/relationships/slide" Target="slides/slide13.xml"/>
  <Relationship Id="rId26" Type="http://schemas.openxmlformats.org/officeDocument/2006/relationships/slide" Target="slides/slide14.xml"/>
  <Relationship Id="rId27" Type="http://schemas.openxmlformats.org/officeDocument/2006/relationships/slide" Target="slides/slide15.xml"/>
  <Relationship Id="rId28" Type="http://schemas.openxmlformats.org/officeDocument/2006/relationships/slide" Target="slides/slide16.xml"/>
  <Relationship Id="rId29" Type="http://schemas.openxmlformats.org/officeDocument/2006/relationships/slide" Target="slides/slide17.xml"/>
  <Relationship Id="rId30" Type="http://schemas.openxmlformats.org/officeDocument/2006/relationships/slide" Target="slides/slide18.xml"/>
  <Relationship Id="rId31" Type="http://schemas.openxmlformats.org/officeDocument/2006/relationships/slide" Target="slides/slide19.xml"/>
  <Relationship Id="rId32" Type="http://schemas.openxmlformats.org/officeDocument/2006/relationships/slide" Target="slides/slide20.xml"/>
  <Relationship Id="rId33" Type="http://schemas.openxmlformats.org/officeDocument/2006/relationships/slide" Target="slides/slide21.xml"/>
  <Relationship Id="rId34" Type="http://schemas.openxmlformats.org/officeDocument/2006/relationships/slide" Target="slides/slide22.xml"/>
  <Relationship Id="rId35" Type="http://schemas.openxmlformats.org/officeDocument/2006/relationships/slide" Target="slides/slide23.xml"/>
  <Relationship Id="rId36" Type="http://schemas.openxmlformats.org/officeDocument/2006/relationships/slide" Target="slides/slide24.xml"/>
  <Relationship Id="rId37" Type="http://schemas.openxmlformats.org/officeDocument/2006/relationships/slide" Target="slides/slide25.xml"/>
  <Relationship Id="rId38" Type="http://schemas.openxmlformats.org/officeDocument/2006/relationships/slide" Target="slides/slide26.xml"/>
  <Relationship Id="rId39" Type="http://schemas.openxmlformats.org/officeDocument/2006/relationships/slide" Target="slides/slide27.xml"/>
  <Relationship Id="rId40" Type="http://schemas.openxmlformats.org/officeDocument/2006/relationships/slide" Target="slides/slide28.xml"/>
  <Relationship Id="rId41" Type="http://schemas.openxmlformats.org/officeDocument/2006/relationships/slide" Target="slides/slide29.xml"/>
  <Relationship Id="rId42" Type="http://schemas.openxmlformats.org/officeDocument/2006/relationships/slide" Target="slides/slide30.xml"/>
  <Relationship Id="rId43" Type="http://schemas.openxmlformats.org/officeDocument/2006/relationships/slide" Target="slides/slide31.xml"/>
  <Relationship Id="rId44" Type="http://schemas.openxmlformats.org/officeDocument/2006/relationships/slide" Target="slides/slide32.xml"/>
  <Relationship Id="rId45" Type="http://schemas.openxmlformats.org/officeDocument/2006/relationships/slide" Target="slides/slide33.xml"/>
  <Relationship Id="rId46" Type="http://schemas.openxmlformats.org/officeDocument/2006/relationships/slide" Target="slides/slide34.xml"/>
  <Relationship Id="rId47" Type="http://schemas.openxmlformats.org/officeDocument/2006/relationships/slide" Target="slides/slide35.xml"/>
  <Relationship Id="rId48" Type="http://schemas.openxmlformats.org/officeDocument/2006/relationships/slide" Target="slides/slide36.xml"/>
  <Relationship Id="rId49" Type="http://schemas.openxmlformats.org/officeDocument/2006/relationships/slide" Target="slides/slide37.xml"/>
  <Relationship Id="rId50" Type="http://schemas.openxmlformats.org/officeDocument/2006/relationships/slide" Target="slides/slide38.xml"/>
  <Relationship Id="rId51" Type="http://schemas.openxmlformats.org/officeDocument/2006/relationships/slide" Target="slides/slide39.xml"/>
  <Relationship Id="rId52" Type="http://schemas.openxmlformats.org/officeDocument/2006/relationships/slide" Target="slides/slide40.xml"/>
  <Relationship Id="rId53" Type="http://schemas.openxmlformats.org/officeDocument/2006/relationships/slide" Target="slides/slide41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바운더리엑스 BX" userId="fae158da74b76feb" providerId="LiveId" clId="{A33A18A8-C8D6-4685-A82C-3C59FC320838}"/>
    <pc:docChg chg="undo custSel modSld modMainMaster">
      <pc:chgData name="바운더리엑스 BX" userId="fae158da74b76feb" providerId="LiveId" clId="{A33A18A8-C8D6-4685-A82C-3C59FC320838}" dt="2026-10-04T13:17:57.523" v="49"/>
      <pc:docMkLst>
        <pc:docMk/>
      </pc:docMkLst>
      <pc:sldChg chg="modSp mod">
        <pc:chgData name="바운더리엑스 BX" userId="fae158da74b76feb" providerId="LiveId" clId="{A33A18A8-C8D6-4685-A82C-3C59FC320838}" dt="2026-10-04T13:17:37.198" v="39" actId="6549"/>
        <pc:sldMkLst>
          <pc:docMk/>
          <pc:sldMk cId="3880595200" sldId="263"/>
        </pc:sldMkLst>
        <pc:spChg chg="mod">
          <ac:chgData name="바운더리엑스 BX" userId="fae158da74b76feb" providerId="LiveId" clId="{A33A18A8-C8D6-4685-A82C-3C59FC320838}" dt="2026-10-04T13:17:26.449" v="5"/>
          <ac:spMkLst>
            <pc:docMk/>
            <pc:sldMk cId="3880595200" sldId="263"/>
            <ac:spMk id="14" creationId="{DF410FA3-32FA-7872-EFFE-E18348B9C13C}"/>
          </ac:spMkLst>
        </pc:spChg>
        <pc:spChg chg="mod">
          <ac:chgData name="바운더리엑스 BX" userId="fae158da74b76feb" providerId="LiveId" clId="{A33A18A8-C8D6-4685-A82C-3C59FC320838}" dt="2026-10-04T13:17:31.610" v="19" actId="20577"/>
          <ac:spMkLst>
            <pc:docMk/>
            <pc:sldMk cId="3880595200" sldId="263"/>
            <ac:spMk id="15" creationId="{F71A7A23-005B-00CC-27D0-14991D4E29EA}"/>
          </ac:spMkLst>
        </pc:spChg>
        <pc:spChg chg="mod">
          <ac:chgData name="바운더리엑스 BX" userId="fae158da74b76feb" providerId="LiveId" clId="{A33A18A8-C8D6-4685-A82C-3C59FC320838}" dt="2026-10-04T13:17:37.198" v="39" actId="6549"/>
          <ac:spMkLst>
            <pc:docMk/>
            <pc:sldMk cId="3880595200" sldId="263"/>
            <ac:spMk id="21" creationId="{F39E2139-E6C2-C1D4-9769-9954A103D750}"/>
          </ac:spMkLst>
        </pc:spChg>
      </pc:sldChg>
      <pc:sldMasterChg chg="modSldLayout">
        <pc:chgData name="바운더리엑스 BX" userId="fae158da74b76feb" providerId="LiveId" clId="{A33A18A8-C8D6-4685-A82C-3C59FC320838}" dt="2026-10-04T13:17:57.523" v="49"/>
        <pc:sldMasterMkLst>
          <pc:docMk/>
          <pc:sldMasterMk cId="4107476840" sldId="2147483667"/>
        </pc:sldMasterMkLst>
        <pc:sldLayoutChg chg="modSp mod">
          <pc:chgData name="바운더리엑스 BX" userId="fae158da74b76feb" providerId="LiveId" clId="{A33A18A8-C8D6-4685-A82C-3C59FC320838}" dt="2026-10-04T13:17:57.523" v="49"/>
          <pc:sldLayoutMkLst>
            <pc:docMk/>
            <pc:sldMasterMk cId="4107476840" sldId="2147483667"/>
            <pc:sldLayoutMk cId="1466440955" sldId="2147483668"/>
          </pc:sldLayoutMkLst>
          <pc:spChg chg="mod">
            <ac:chgData name="바운더리엑스 BX" userId="fae158da74b76feb" providerId="LiveId" clId="{A33A18A8-C8D6-4685-A82C-3C59FC320838}" dt="2026-10-04T13:17:57.523" v="49"/>
            <ac:spMkLst>
              <pc:docMk/>
              <pc:sldMasterMk cId="4107476840" sldId="2147483667"/>
              <pc:sldLayoutMk cId="1466440955" sldId="2147483668"/>
              <ac:spMk id="8" creationId="{47557FB5-D351-D9D5-5C37-B3CD73BE3AA7}"/>
            </ac:spMkLst>
          </pc:spChg>
        </pc:sldLayoutChg>
      </pc:sldMasterChg>
    </pc:docChg>
  </pc:docChgLst>
  <pc:docChgLst>
    <pc:chgData name="바운더리엑스 BX" userId="fae158da74b76feb" providerId="LiveId" clId="{227174CC-F114-4F83-9C5C-C1992A547DB5}"/>
    <pc:docChg chg="undo custSel addSld modSld modMainMaster">
      <pc:chgData name="바운더리엑스 BX" userId="fae158da74b76feb" providerId="LiveId" clId="{227174CC-F114-4F83-9C5C-C1992A547DB5}" dt="2026-05-04T05:37:25.361" v="464" actId="680"/>
      <pc:docMkLst>
        <pc:docMk/>
      </pc:docMkLst>
      <pc:sldChg chg="addSp delSp modSp mod">
        <pc:chgData name="바운더리엑스 BX" userId="fae158da74b76feb" providerId="LiveId" clId="{227174CC-F114-4F83-9C5C-C1992A547DB5}" dt="2026-05-04T05:37:22.916" v="463" actId="1076"/>
        <pc:sldMkLst>
          <pc:docMk/>
          <pc:sldMk cId="3880595200" sldId="263"/>
        </pc:sldMkLst>
        <pc:spChg chg="mod">
          <ac:chgData name="바운더리엑스 BX" userId="fae158da74b76feb" providerId="LiveId" clId="{227174CC-F114-4F83-9C5C-C1992A547DB5}" dt="2026-05-04T05:35:01.063" v="262" actId="6549"/>
          <ac:spMkLst>
            <pc:docMk/>
            <pc:sldMk cId="3880595200" sldId="263"/>
            <ac:spMk id="14" creationId="{DF410FA3-32FA-7872-EFFE-E18348B9C13C}"/>
          </ac:spMkLst>
        </pc:spChg>
        <pc:spChg chg="mod">
          <ac:chgData name="바운더리엑스 BX" userId="fae158da74b76feb" providerId="LiveId" clId="{227174CC-F114-4F83-9C5C-C1992A547DB5}" dt="2026-05-04T05:35:08.319" v="274" actId="20577"/>
          <ac:spMkLst>
            <pc:docMk/>
            <pc:sldMk cId="3880595200" sldId="263"/>
            <ac:spMk id="15" creationId="{F71A7A23-005B-00CC-27D0-14991D4E29EA}"/>
          </ac:spMkLst>
        </pc:spChg>
        <pc:spChg chg="mod">
          <ac:chgData name="바운더리엑스 BX" userId="fae158da74b76feb" providerId="LiveId" clId="{227174CC-F114-4F83-9C5C-C1992A547DB5}" dt="2026-05-04T05:36:48.363" v="453" actId="1076"/>
          <ac:spMkLst>
            <pc:docMk/>
            <pc:sldMk cId="3880595200" sldId="263"/>
            <ac:spMk id="19" creationId="{1276BE5A-F114-846F-C0D5-15DC98B52419}"/>
          </ac:spMkLst>
        </pc:spChg>
        <pc:spChg chg="add del mod">
          <ac:chgData name="바운더리엑스 BX" userId="fae158da74b76feb" providerId="LiveId" clId="{227174CC-F114-4F83-9C5C-C1992A547DB5}" dt="2026-05-04T05:37:22.916" v="463" actId="1076"/>
          <ac:spMkLst>
            <pc:docMk/>
            <pc:sldMk cId="3880595200" sldId="263"/>
            <ac:spMk id="20" creationId="{DEF1D552-8CF0-14C2-BE90-3F06DF8F792D}"/>
          </ac:spMkLst>
        </pc:spChg>
        <pc:spChg chg="mod">
          <ac:chgData name="바운더리엑스 BX" userId="fae158da74b76feb" providerId="LiveId" clId="{227174CC-F114-4F83-9C5C-C1992A547DB5}" dt="2026-05-04T05:35:36.162" v="318" actId="20577"/>
          <ac:spMkLst>
            <pc:docMk/>
            <pc:sldMk cId="3880595200" sldId="263"/>
            <ac:spMk id="21" creationId="{F39E2139-E6C2-C1D4-9769-9954A103D750}"/>
          </ac:spMkLst>
        </pc:spChg>
        <pc:spChg chg="del">
          <ac:chgData name="바운더리엑스 BX" userId="fae158da74b76feb" providerId="LiveId" clId="{227174CC-F114-4F83-9C5C-C1992A547DB5}" dt="2026-05-04T05:36:25.777" v="442" actId="478"/>
          <ac:spMkLst>
            <pc:docMk/>
            <pc:sldMk cId="3880595200" sldId="263"/>
            <ac:spMk id="24" creationId="{C334485D-F712-9765-22DF-8919BE3E9CE3}"/>
          </ac:spMkLst>
        </pc:spChg>
        <pc:picChg chg="del">
          <ac:chgData name="바운더리엑스 BX" userId="fae158da74b76feb" providerId="LiveId" clId="{227174CC-F114-4F83-9C5C-C1992A547DB5}" dt="2026-05-04T05:34:48.577" v="187" actId="478"/>
          <ac:picMkLst>
            <pc:docMk/>
            <pc:sldMk cId="3880595200" sldId="263"/>
            <ac:picMk id="3" creationId="{8533C1CD-E4D9-1E3C-6ECA-AF33E6D1F83C}"/>
          </ac:picMkLst>
        </pc:picChg>
      </pc:sldChg>
      <pc:sldChg chg="new">
        <pc:chgData name="바운더리엑스 BX" userId="fae158da74b76feb" providerId="LiveId" clId="{227174CC-F114-4F83-9C5C-C1992A547DB5}" dt="2026-05-04T05:37:25.361" v="464" actId="680"/>
        <pc:sldMkLst>
          <pc:docMk/>
          <pc:sldMk cId="776711884" sldId="264"/>
        </pc:sldMkLst>
      </pc:sldChg>
      <pc:sldMasterChg chg="delSp mod modSldLayout sldLayoutOrd">
        <pc:chgData name="바운더리엑스 BX" userId="fae158da74b76feb" providerId="LiveId" clId="{227174CC-F114-4F83-9C5C-C1992A547DB5}" dt="2026-05-04T05:34:27.745" v="146" actId="1076"/>
        <pc:sldMasterMkLst>
          <pc:docMk/>
          <pc:sldMasterMk cId="4107476840" sldId="2147483667"/>
        </pc:sldMasterMkLst>
        <pc:spChg chg="del">
          <ac:chgData name="바운더리엑스 BX" userId="fae158da74b76feb" providerId="LiveId" clId="{227174CC-F114-4F83-9C5C-C1992A547DB5}" dt="2026-05-04T05:31:37.061" v="0" actId="478"/>
          <ac:spMkLst>
            <pc:docMk/>
            <pc:sldMasterMk cId="4107476840" sldId="2147483667"/>
            <ac:spMk id="8" creationId="{D9F077FB-3F4D-48D0-BCA5-7BDAABDAF495}"/>
          </ac:spMkLst>
        </pc:spChg>
        <pc:sldLayoutChg chg="addSp delSp modSp mod">
          <pc:chgData name="바운더리엑스 BX" userId="fae158da74b76feb" providerId="LiveId" clId="{227174CC-F114-4F83-9C5C-C1992A547DB5}" dt="2026-05-04T05:34:21.197" v="142" actId="1076"/>
          <pc:sldLayoutMkLst>
            <pc:docMk/>
            <pc:sldMasterMk cId="4107476840" sldId="2147483667"/>
            <pc:sldLayoutMk cId="1466440955" sldId="2147483668"/>
          </pc:sldLayoutMkLst>
          <pc:spChg chg="mod">
            <ac:chgData name="바운더리엑스 BX" userId="fae158da74b76feb" providerId="LiveId" clId="{227174CC-F114-4F83-9C5C-C1992A547DB5}" dt="2026-05-04T05:33:46.632" v="130" actId="1076"/>
            <ac:spMkLst>
              <pc:docMk/>
              <pc:sldMasterMk cId="4107476840" sldId="2147483667"/>
              <pc:sldLayoutMk cId="1466440955" sldId="2147483668"/>
              <ac:spMk id="8" creationId="{47557FB5-D351-D9D5-5C37-B3CD73BE3AA7}"/>
            </ac:spMkLst>
          </pc:spChg>
          <pc:spChg chg="del">
            <ac:chgData name="바운더리엑스 BX" userId="fae158da74b76feb" providerId="LiveId" clId="{227174CC-F114-4F83-9C5C-C1992A547DB5}" dt="2026-05-04T05:33:47.672" v="131" actId="478"/>
            <ac:spMkLst>
              <pc:docMk/>
              <pc:sldMasterMk cId="4107476840" sldId="2147483667"/>
              <pc:sldLayoutMk cId="1466440955" sldId="2147483668"/>
              <ac:spMk id="39" creationId="{91868ED9-14E2-1324-756D-1F28CE3B6362}"/>
            </ac:spMkLst>
          </pc:spChg>
          <pc:grpChg chg="add mod">
            <ac:chgData name="바운더리엑스 BX" userId="fae158da74b76feb" providerId="LiveId" clId="{227174CC-F114-4F83-9C5C-C1992A547DB5}" dt="2026-05-04T05:34:21.197" v="142" actId="1076"/>
            <ac:grpSpMkLst>
              <pc:docMk/>
              <pc:sldMasterMk cId="4107476840" sldId="2147483667"/>
              <pc:sldLayoutMk cId="1466440955" sldId="2147483668"/>
              <ac:grpSpMk id="9" creationId="{F9B9EAF0-03C7-6620-798D-B1F8F3BE9665}"/>
            </ac:grpSpMkLst>
          </pc:grpChg>
          <pc:picChg chg="add mod">
            <ac:chgData name="바운더리엑스 BX" userId="fae158da74b76feb" providerId="LiveId" clId="{227174CC-F114-4F83-9C5C-C1992A547DB5}" dt="2026-05-04T05:34:21.197" v="142" actId="1076"/>
            <ac:picMkLst>
              <pc:docMk/>
              <pc:sldMasterMk cId="4107476840" sldId="2147483667"/>
              <pc:sldLayoutMk cId="1466440955" sldId="2147483668"/>
              <ac:picMk id="3" creationId="{2739EA64-E267-CE94-78D9-88550FA83866}"/>
            </ac:picMkLst>
          </pc:picChg>
          <pc:picChg chg="del">
            <ac:chgData name="바운더리엑스 BX" userId="fae158da74b76feb" providerId="LiveId" clId="{227174CC-F114-4F83-9C5C-C1992A547DB5}" dt="2026-05-04T05:33:48.389" v="132" actId="478"/>
            <ac:picMkLst>
              <pc:docMk/>
              <pc:sldMasterMk cId="4107476840" sldId="2147483667"/>
              <pc:sldLayoutMk cId="1466440955" sldId="2147483668"/>
              <ac:picMk id="4" creationId="{071BBE8D-E469-8D47-0206-496263498596}"/>
            </ac:picMkLst>
          </pc:picChg>
          <pc:picChg chg="add mod">
            <ac:chgData name="바운더리엑스 BX" userId="fae158da74b76feb" providerId="LiveId" clId="{227174CC-F114-4F83-9C5C-C1992A547DB5}" dt="2026-05-04T05:34:21.197" v="142" actId="1076"/>
            <ac:picMkLst>
              <pc:docMk/>
              <pc:sldMasterMk cId="4107476840" sldId="2147483667"/>
              <pc:sldLayoutMk cId="1466440955" sldId="2147483668"/>
              <ac:picMk id="5" creationId="{75F6BDF3-05BA-4FA2-FD2A-7B03E3EF907D}"/>
            </ac:picMkLst>
          </pc:picChg>
          <pc:picChg chg="del">
            <ac:chgData name="바운더리엑스 BX" userId="fae158da74b76feb" providerId="LiveId" clId="{227174CC-F114-4F83-9C5C-C1992A547DB5}" dt="2026-05-04T05:33:54.847" v="133" actId="478"/>
            <ac:picMkLst>
              <pc:docMk/>
              <pc:sldMasterMk cId="4107476840" sldId="2147483667"/>
              <pc:sldLayoutMk cId="1466440955" sldId="2147483668"/>
              <ac:picMk id="6" creationId="{1FA6BD8B-2D93-B405-B0A3-46BE1838899D}"/>
            </ac:picMkLst>
          </pc:picChg>
          <pc:picChg chg="del">
            <ac:chgData name="바운더리엑스 BX" userId="fae158da74b76feb" providerId="LiveId" clId="{227174CC-F114-4F83-9C5C-C1992A547DB5}" dt="2026-05-04T05:33:55.229" v="134" actId="478"/>
            <ac:picMkLst>
              <pc:docMk/>
              <pc:sldMasterMk cId="4107476840" sldId="2147483667"/>
              <pc:sldLayoutMk cId="1466440955" sldId="2147483668"/>
              <ac:picMk id="7" creationId="{CAFD3946-F200-F782-0C77-BF14E2652AB3}"/>
            </ac:picMkLst>
          </pc:picChg>
        </pc:sldLayoutChg>
        <pc:sldLayoutChg chg="addSp delSp modSp mod ord">
          <pc:chgData name="바운더리엑스 BX" userId="fae158da74b76feb" providerId="LiveId" clId="{227174CC-F114-4F83-9C5C-C1992A547DB5}" dt="2026-05-04T05:34:27.745" v="146" actId="1076"/>
          <pc:sldLayoutMkLst>
            <pc:docMk/>
            <pc:sldMasterMk cId="4107476840" sldId="2147483667"/>
            <pc:sldLayoutMk cId="435201989" sldId="2147483669"/>
          </pc:sldLayoutMkLst>
          <pc:spChg chg="del">
            <ac:chgData name="바운더리엑스 BX" userId="fae158da74b76feb" providerId="LiveId" clId="{227174CC-F114-4F83-9C5C-C1992A547DB5}" dt="2026-05-04T05:32:24.687" v="6" actId="478"/>
            <ac:spMkLst>
              <pc:docMk/>
              <pc:sldMasterMk cId="4107476840" sldId="2147483667"/>
              <pc:sldLayoutMk cId="435201989" sldId="2147483669"/>
              <ac:spMk id="2" creationId="{AD09968E-9F25-7F89-C08B-0AB7E47A2E59}"/>
            </ac:spMkLst>
          </pc:spChg>
          <pc:spChg chg="add del">
            <ac:chgData name="바운더리엑스 BX" userId="fae158da74b76feb" providerId="LiveId" clId="{227174CC-F114-4F83-9C5C-C1992A547DB5}" dt="2026-05-04T05:32:31.084" v="10" actId="478"/>
            <ac:spMkLst>
              <pc:docMk/>
              <pc:sldMasterMk cId="4107476840" sldId="2147483667"/>
              <pc:sldLayoutMk cId="435201989" sldId="2147483669"/>
              <ac:spMk id="4" creationId="{FA2FEE01-38BE-78D8-314F-2E5A3CFF90EC}"/>
            </ac:spMkLst>
          </pc:spChg>
          <pc:spChg chg="add del mod">
            <ac:chgData name="바운더리엑스 BX" userId="fae158da74b76feb" providerId="LiveId" clId="{227174CC-F114-4F83-9C5C-C1992A547DB5}" dt="2026-05-04T05:32:51.307" v="15" actId="478"/>
            <ac:spMkLst>
              <pc:docMk/>
              <pc:sldMasterMk cId="4107476840" sldId="2147483667"/>
              <pc:sldLayoutMk cId="435201989" sldId="2147483669"/>
              <ac:spMk id="7" creationId="{42C3F4BC-C849-827D-0F47-CB819D56AFF7}"/>
            </ac:spMkLst>
          </pc:spChg>
          <pc:grpChg chg="add mod">
            <ac:chgData name="바운더리엑스 BX" userId="fae158da74b76feb" providerId="LiveId" clId="{227174CC-F114-4F83-9C5C-C1992A547DB5}" dt="2026-05-04T05:34:27.745" v="146" actId="1076"/>
            <ac:grpSpMkLst>
              <pc:docMk/>
              <pc:sldMasterMk cId="4107476840" sldId="2147483667"/>
              <pc:sldLayoutMk cId="435201989" sldId="2147483669"/>
              <ac:grpSpMk id="8" creationId="{9B560E44-9AB1-A14A-428B-677AB892D51A}"/>
            </ac:grpSpMkLst>
          </pc:grpChg>
          <pc:graphicFrameChg chg="add del mod">
            <ac:chgData name="바운더리엑스 BX" userId="fae158da74b76feb" providerId="LiveId" clId="{227174CC-F114-4F83-9C5C-C1992A547DB5}" dt="2026-05-04T05:33:05.662" v="22" actId="478"/>
            <ac:graphicFrameMkLst>
              <pc:docMk/>
              <pc:sldMasterMk cId="4107476840" sldId="2147483667"/>
              <pc:sldLayoutMk cId="435201989" sldId="2147483669"/>
              <ac:graphicFrameMk id="6" creationId="{FED51D16-2BE1-4CDE-ADD3-4E68B3013E38}"/>
            </ac:graphicFrameMkLst>
          </pc:graphicFrameChg>
          <pc:picChg chg="add del">
            <ac:chgData name="바운더리엑스 BX" userId="fae158da74b76feb" providerId="LiveId" clId="{227174CC-F114-4F83-9C5C-C1992A547DB5}" dt="2026-05-04T05:32:25.476" v="7" actId="478"/>
            <ac:picMkLst>
              <pc:docMk/>
              <pc:sldMasterMk cId="4107476840" sldId="2147483667"/>
              <pc:sldLayoutMk cId="435201989" sldId="2147483669"/>
              <ac:picMk id="3" creationId="{41571674-45ED-A848-109B-9135F55DBA68}"/>
            </ac:picMkLst>
          </pc:picChg>
          <pc:picChg chg="add del">
            <ac:chgData name="바운더리엑스 BX" userId="fae158da74b76feb" providerId="LiveId" clId="{227174CC-F114-4F83-9C5C-C1992A547DB5}" dt="2026-05-04T05:32:26.444" v="8" actId="478"/>
            <ac:picMkLst>
              <pc:docMk/>
              <pc:sldMasterMk cId="4107476840" sldId="2147483667"/>
              <pc:sldLayoutMk cId="435201989" sldId="2147483669"/>
              <ac:picMk id="5" creationId="{9FF4AD72-D871-3515-F3C7-AE49351B2927}"/>
            </ac:picMkLst>
          </pc:picChg>
          <pc:picChg chg="mod">
            <ac:chgData name="바운더리엑스 BX" userId="fae158da74b76feb" providerId="LiveId" clId="{227174CC-F114-4F83-9C5C-C1992A547DB5}" dt="2026-05-04T05:34:27.745" v="146" actId="1076"/>
            <ac:picMkLst>
              <pc:docMk/>
              <pc:sldMasterMk cId="4107476840" sldId="2147483667"/>
              <pc:sldLayoutMk cId="435201989" sldId="2147483669"/>
              <ac:picMk id="9" creationId="{6BFCB9C5-E326-D982-1FEF-2335A50CAF22}"/>
            </ac:picMkLst>
          </pc:picChg>
          <pc:picChg chg="mod">
            <ac:chgData name="바운더리엑스 BX" userId="fae158da74b76feb" providerId="LiveId" clId="{227174CC-F114-4F83-9C5C-C1992A547DB5}" dt="2026-05-04T05:34:27.745" v="146" actId="1076"/>
            <ac:picMkLst>
              <pc:docMk/>
              <pc:sldMasterMk cId="4107476840" sldId="2147483667"/>
              <pc:sldLayoutMk cId="435201989" sldId="2147483669"/>
              <ac:picMk id="10" creationId="{E1955121-C92D-8588-4FE9-16FE3B82E6E8}"/>
            </ac:picMkLst>
          </pc:picChg>
          <pc:picChg chg="add mod">
            <ac:chgData name="바운더리엑스 BX" userId="fae158da74b76feb" providerId="LiveId" clId="{227174CC-F114-4F83-9C5C-C1992A547DB5}" dt="2026-05-04T05:32:38.761" v="13" actId="1076"/>
            <ac:picMkLst>
              <pc:docMk/>
              <pc:sldMasterMk cId="4107476840" sldId="2147483667"/>
              <pc:sldLayoutMk cId="435201989" sldId="2147483669"/>
              <ac:picMk id="1025" creationId="{3B4F7B21-F166-4E67-8845-1DCC55400B86}"/>
            </ac:picMkLst>
          </pc:picChg>
          <pc:picChg chg="add del mod">
            <ac:chgData name="바운더리엑스 BX" userId="fae158da74b76feb" providerId="LiveId" clId="{227174CC-F114-4F83-9C5C-C1992A547DB5}" dt="2026-05-04T05:34:23.467" v="143" actId="478"/>
            <ac:picMkLst>
              <pc:docMk/>
              <pc:sldMasterMk cId="4107476840" sldId="2147483667"/>
              <pc:sldLayoutMk cId="435201989" sldId="2147483669"/>
              <ac:picMk id="1027" creationId="{9F80868B-0069-780B-3415-F9EEF494C3CD}"/>
            </ac:picMkLst>
          </pc:picChg>
          <pc:picChg chg="add del mod">
            <ac:chgData name="바운더리엑스 BX" userId="fae158da74b76feb" providerId="LiveId" clId="{227174CC-F114-4F83-9C5C-C1992A547DB5}" dt="2026-05-04T05:34:23.917" v="144" actId="478"/>
            <ac:picMkLst>
              <pc:docMk/>
              <pc:sldMasterMk cId="4107476840" sldId="2147483667"/>
              <pc:sldLayoutMk cId="435201989" sldId="2147483669"/>
              <ac:picMk id="1028" creationId="{641A2DB8-6D2B-CA55-4C16-BB1E3F0D864B}"/>
            </ac:picMkLst>
          </pc:picChg>
        </pc:sldLayoutChg>
      </pc:sldMasterChg>
    </pc:docChg>
  </pc:docChgLst>
  <pc:docChgLst>
    <pc:chgData name="바운더리엑스 BX" userId="fae158da74b76feb" providerId="LiveId" clId="{2F5550CC-EF82-4FB7-8E58-D6D8CF764220}"/>
    <pc:docChg chg="modSld">
      <pc:chgData name="바운더리엑스 BX" userId="fae158da74b76feb" providerId="LiveId" clId="{2F5550CC-EF82-4FB7-8E58-D6D8CF764220}" dt="2026-05-04T05:46:04.803" v="115" actId="20577"/>
      <pc:docMkLst>
        <pc:docMk/>
      </pc:docMkLst>
      <pc:sldChg chg="modSp mod">
        <pc:chgData name="바운더리엑스 BX" userId="fae158da74b76feb" providerId="LiveId" clId="{2F5550CC-EF82-4FB7-8E58-D6D8CF764220}" dt="2026-05-04T05:46:04.803" v="115" actId="20577"/>
        <pc:sldMkLst>
          <pc:docMk/>
          <pc:sldMk cId="3880595200" sldId="263"/>
        </pc:sldMkLst>
        <pc:spChg chg="mod">
          <ac:chgData name="바운더리엑스 BX" userId="fae158da74b76feb" providerId="LiveId" clId="{2F5550CC-EF82-4FB7-8E58-D6D8CF764220}" dt="2026-05-04T05:45:42.736" v="17" actId="20577"/>
          <ac:spMkLst>
            <pc:docMk/>
            <pc:sldMk cId="3880595200" sldId="263"/>
            <ac:spMk id="15" creationId="{F71A7A23-005B-00CC-27D0-14991D4E29EA}"/>
          </ac:spMkLst>
        </pc:spChg>
        <pc:spChg chg="mod">
          <ac:chgData name="바운더리엑스 BX" userId="fae158da74b76feb" providerId="LiveId" clId="{2F5550CC-EF82-4FB7-8E58-D6D8CF764220}" dt="2026-05-04T05:45:40.102" v="7" actId="20577"/>
          <ac:spMkLst>
            <pc:docMk/>
            <pc:sldMk cId="3880595200" sldId="263"/>
            <ac:spMk id="19" creationId="{1276BE5A-F114-846F-C0D5-15DC98B52419}"/>
          </ac:spMkLst>
        </pc:spChg>
        <pc:spChg chg="mod">
          <ac:chgData name="바운더리엑스 BX" userId="fae158da74b76feb" providerId="LiveId" clId="{2F5550CC-EF82-4FB7-8E58-D6D8CF764220}" dt="2026-05-04T05:46:04.803" v="115" actId="20577"/>
          <ac:spMkLst>
            <pc:docMk/>
            <pc:sldMk cId="3880595200" sldId="263"/>
            <ac:spMk id="20" creationId="{DEF1D552-8CF0-14C2-BE90-3F06DF8F792D}"/>
          </ac:spMkLst>
        </pc:spChg>
        <pc:spChg chg="mod">
          <ac:chgData name="바운더리엑스 BX" userId="fae158da74b76feb" providerId="LiveId" clId="{2F5550CC-EF82-4FB7-8E58-D6D8CF764220}" dt="2026-05-04T05:45:50.152" v="39" actId="6549"/>
          <ac:spMkLst>
            <pc:docMk/>
            <pc:sldMk cId="3880595200" sldId="263"/>
            <ac:spMk id="21" creationId="{F39E2139-E6C2-C1D4-9769-9954A103D75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F7BE4-5086-4AE9-94BE-4FC8BC5BA708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A845F2-98D0-46AA-85E4-B15C86CE6F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06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_x743102944">
            <a:extLst>
              <a:ext uri="{FF2B5EF4-FFF2-40B4-BE49-F238E27FC236}">
                <a16:creationId xmlns:a16="http://schemas.microsoft.com/office/drawing/2014/main" id="{3B4F7B21-F166-4E67-8845-1DCC55400B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66078" cy="70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9B560E44-9AB1-A14A-428B-677AB892D51A}"/>
              </a:ext>
            </a:extLst>
          </p:cNvPr>
          <p:cNvGrpSpPr/>
          <p:nvPr userDrawn="1"/>
        </p:nvGrpSpPr>
        <p:grpSpPr>
          <a:xfrm>
            <a:off x="10006834" y="127737"/>
            <a:ext cx="2076806" cy="332595"/>
            <a:chOff x="8835438" y="93854"/>
            <a:chExt cx="3203910" cy="513098"/>
          </a:xfrm>
        </p:grpSpPr>
        <p:pic>
          <p:nvPicPr>
            <p:cNvPr id="9" name="_x743105104">
              <a:extLst>
                <a:ext uri="{FF2B5EF4-FFF2-40B4-BE49-F238E27FC236}">
                  <a16:creationId xmlns:a16="http://schemas.microsoft.com/office/drawing/2014/main" id="{6BFCB9C5-E326-D982-1FEF-2335A50CAF2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35438" y="93854"/>
              <a:ext cx="513098" cy="5130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_x743105248">
              <a:extLst>
                <a:ext uri="{FF2B5EF4-FFF2-40B4-BE49-F238E27FC236}">
                  <a16:creationId xmlns:a16="http://schemas.microsoft.com/office/drawing/2014/main" id="{E1955121-C92D-8588-4FE9-16FE3B82E6E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005" b="13184"/>
            <a:stretch>
              <a:fillRect/>
            </a:stretch>
          </p:blipFill>
          <p:spPr bwMode="auto">
            <a:xfrm>
              <a:off x="9348536" y="122597"/>
              <a:ext cx="2690812" cy="4556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35201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C294465C-F4B1-1AF0-1272-8E88079CFB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52472" y="649287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rgbClr val="4747C0"/>
                </a:solidFill>
              </a:defRPr>
            </a:lvl1pPr>
          </a:lstStyle>
          <a:p>
            <a:fld id="{A0574734-EBF8-4D12-9523-8F525075FA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98359B9-7845-1702-046F-87BD738674AF}"/>
              </a:ext>
            </a:extLst>
          </p:cNvPr>
          <p:cNvSpPr/>
          <p:nvPr userDrawn="1"/>
        </p:nvSpPr>
        <p:spPr>
          <a:xfrm>
            <a:off x="-342820" y="826249"/>
            <a:ext cx="4104115" cy="56560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557FB5-D351-D9D5-5C37-B3CD73BE3AA7}"/>
              </a:ext>
            </a:extLst>
          </p:cNvPr>
          <p:cNvSpPr txBox="1"/>
          <p:nvPr userDrawn="1"/>
        </p:nvSpPr>
        <p:spPr>
          <a:xfrm>
            <a:off x="-116678" y="248431"/>
            <a:ext cx="3985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5451C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26</a:t>
            </a:r>
            <a:r>
              <a:rPr lang="ko-KR" altLang="en-US" sz="1400" dirty="0">
                <a:solidFill>
                  <a:srgbClr val="5451C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년 하반기 </a:t>
            </a:r>
            <a:r>
              <a:rPr lang="en-US" altLang="ko-KR" sz="1400" dirty="0">
                <a:solidFill>
                  <a:srgbClr val="5451C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| </a:t>
            </a:r>
            <a:r>
              <a:rPr lang="ko-KR" altLang="en-US" sz="1400" dirty="0">
                <a:solidFill>
                  <a:srgbClr val="5451C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미래역량 함양 </a:t>
            </a:r>
            <a:r>
              <a:rPr lang="ko-KR" altLang="en-US" sz="1400" dirty="0">
                <a:solidFill>
                  <a:srgbClr val="5451C4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학교관리자 직무연수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F9B9EAF0-03C7-6620-798D-B1F8F3BE9665}"/>
              </a:ext>
            </a:extLst>
          </p:cNvPr>
          <p:cNvGrpSpPr/>
          <p:nvPr userDrawn="1"/>
        </p:nvGrpSpPr>
        <p:grpSpPr>
          <a:xfrm>
            <a:off x="10018866" y="236021"/>
            <a:ext cx="2076806" cy="332595"/>
            <a:chOff x="8835438" y="93854"/>
            <a:chExt cx="3203910" cy="513098"/>
          </a:xfrm>
        </p:grpSpPr>
        <p:pic>
          <p:nvPicPr>
            <p:cNvPr id="3" name="_x743105104">
              <a:extLst>
                <a:ext uri="{FF2B5EF4-FFF2-40B4-BE49-F238E27FC236}">
                  <a16:creationId xmlns:a16="http://schemas.microsoft.com/office/drawing/2014/main" id="{2739EA64-E267-CE94-78D9-88550FA8386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35438" y="93854"/>
              <a:ext cx="513098" cy="5130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_x743105248">
              <a:extLst>
                <a:ext uri="{FF2B5EF4-FFF2-40B4-BE49-F238E27FC236}">
                  <a16:creationId xmlns:a16="http://schemas.microsoft.com/office/drawing/2014/main" id="{75F6BDF3-05BA-4FA2-FD2A-7B03E3EF907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005" b="13184"/>
            <a:stretch>
              <a:fillRect/>
            </a:stretch>
          </p:blipFill>
          <p:spPr bwMode="auto">
            <a:xfrm>
              <a:off x="9348536" y="122597"/>
              <a:ext cx="2690812" cy="4556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66440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18B582-A094-CC59-683A-BB9BF082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5A97C7-62DF-3CE8-50CF-D2FE0183D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024629-B321-D78A-35CB-19CDBDC4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C8718E-014A-D060-BDBC-ECF30BF8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A07D89-A6C3-963E-A735-9DDBE7440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574734-EBF8-4D12-9523-8F525075FA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9405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C9F14F-61B8-E673-3C07-5A2FE93F2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8EAA7E-D71E-5D80-F855-AA198172B5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89E27D-3C49-E4BD-7377-D57A5FEDA4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31E3F6-BE19-2B4F-A1AB-8D94E7179B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419D13-07A0-34F0-19A6-E7E82B47D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516318-E04D-9959-BBC7-245360CB9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574734-EBF8-4D12-9523-8F525075FA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46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E30020-7E6C-E015-01AB-9578D3760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657109-7E9E-BDF2-C737-0F3EDE464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A5AA21-EF06-592A-1BE2-1D7DA721A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FD9FE0-75DE-0C0A-5D2A-F5A6F3740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2A533C-1ED7-5F9C-CAD6-06938A40B2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2182C5F-A736-149D-EC03-7FC34E6EB0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0AC216-40CC-A168-8AE1-EF98E44BC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6D9C498-78D7-A122-AC84-59EA90363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574734-EBF8-4D12-9523-8F525075FA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290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F2344D-B56F-BFE6-8649-64D85D582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5970527-4052-5AF4-E5EC-80AD913CA1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0B84723-950A-7251-54FF-96E9EB77A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89A8F8-2CE2-F493-898A-46B7F2125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574734-EBF8-4D12-9523-8F525075FA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211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EB2833A-9E6E-504A-0CAD-22F9F3F12E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914D460-7649-53CF-7515-03838FB5D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B8FEEA-1F22-D9C9-EF64-9804FDAC2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574734-EBF8-4D12-9523-8F525075FA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958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098983-6326-AA3B-ADC6-6D5818CF6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B453AC-5E7C-4C6F-0240-C6F538B49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B6F2E43-9F41-A177-C03D-72E45D069F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D3AD62-F3F0-452C-72A6-81CE4C0D81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A28542-5728-7A9E-4190-2C63CF186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E5BF58-59DD-A319-6E30-829F57C48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574734-EBF8-4D12-9523-8F525075FA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119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8D4935-8AFB-3B28-A400-B848A5244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047D9AB-8882-616E-8E36-4C8B9A70F5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B0E98B-7C37-AE7C-360E-DF2F9C233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1CF313-160F-066B-59DD-D6DC2621D6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44659E-7C6A-D58B-F7D3-02A5293DA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9C0457-9572-9743-4015-5C7CE95FA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574734-EBF8-4D12-9523-8F525075FA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551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20B562-AF98-3A73-9876-3E75F5194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5F3BC42-4D60-83AF-49D8-4E0351195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5A2456-4A07-F039-B0F9-B271F1B1E7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235BAB-0E91-0705-6C4B-29F5E9E53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5F5D66-39B8-098E-9220-E842E67BF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574734-EBF8-4D12-9523-8F525075FA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240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A1430F2-A1DC-2C03-3389-7284CDB74A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63623AF-0164-4D65-3068-5A45B955FE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DA2674-16BC-9AD4-0BD6-497EC9BB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762E75-0619-8CD1-A9E3-64294B78B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58BAC6-BAEC-EC2A-3B0E-E86DD3AA2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574734-EBF8-4D12-9523-8F525075FA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175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CBDEC37-9AE6-4288-9F98-D421A2DD60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52472" y="649287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rgbClr val="5968B0"/>
                </a:solidFill>
              </a:defRPr>
            </a:lvl1pPr>
          </a:lstStyle>
          <a:p>
            <a:fld id="{A0574734-EBF8-4D12-9523-8F525075FA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7476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8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23200-7A4D-F2FD-DA23-7BE8E344C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F414A26-E243-528E-FDEF-1437B5A81B51}"/>
              </a:ext>
            </a:extLst>
          </p:cNvPr>
          <p:cNvSpPr/>
          <p:nvPr/>
        </p:nvSpPr>
        <p:spPr>
          <a:xfrm>
            <a:off x="524052" y="4078544"/>
            <a:ext cx="11118495" cy="1015663"/>
          </a:xfrm>
          <a:prstGeom prst="roundRect">
            <a:avLst>
              <a:gd name="adj" fmla="val 27235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5400000" algn="t" rotWithShape="0">
              <a:schemeClr val="tx1">
                <a:lumMod val="75000"/>
                <a:lumOff val="2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F64047A3-FE95-B5CE-E970-C2813B29A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60000">
            <a:off x="425448" y="2463904"/>
            <a:ext cx="1372461" cy="1372461"/>
          </a:xfrm>
          <a:prstGeom prst="rect">
            <a:avLst/>
          </a:prstGeom>
        </p:spPr>
      </p:pic>
      <p:pic>
        <p:nvPicPr>
          <p:cNvPr id="8" name="Picture 11">
            <a:extLst>
              <a:ext uri="{FF2B5EF4-FFF2-40B4-BE49-F238E27FC236}">
                <a16:creationId xmlns:a16="http://schemas.microsoft.com/office/drawing/2014/main" id="{26A6EDB4-B076-DD07-573D-008C9F2B2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60000">
            <a:off x="10364770" y="2304495"/>
            <a:ext cx="1611844" cy="1611844"/>
          </a:xfrm>
          <a:prstGeom prst="rect">
            <a:avLst/>
          </a:prstGeom>
        </p:spPr>
      </p:pic>
      <p:pic>
        <p:nvPicPr>
          <p:cNvPr id="9" name="Picture 13">
            <a:extLst>
              <a:ext uri="{FF2B5EF4-FFF2-40B4-BE49-F238E27FC236}">
                <a16:creationId xmlns:a16="http://schemas.microsoft.com/office/drawing/2014/main" id="{429B4B4B-4519-7C44-9645-8F36AE119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780000">
            <a:off x="9965366" y="1715380"/>
            <a:ext cx="694210" cy="694210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AF5D0B7-7FF6-987E-FE3C-A7FDE05F5ADD}"/>
              </a:ext>
            </a:extLst>
          </p:cNvPr>
          <p:cNvSpPr/>
          <p:nvPr/>
        </p:nvSpPr>
        <p:spPr>
          <a:xfrm>
            <a:off x="524052" y="5499100"/>
            <a:ext cx="11118495" cy="52825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410FA3-32FA-7872-EFFE-E18348B9C13C}"/>
              </a:ext>
            </a:extLst>
          </p:cNvPr>
          <p:cNvSpPr txBox="1"/>
          <p:nvPr/>
        </p:nvSpPr>
        <p:spPr>
          <a:xfrm>
            <a:off x="2859848" y="1199412"/>
            <a:ext cx="59678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+mj-lt"/>
              </a:rPr>
              <a:t>2026</a:t>
            </a:r>
            <a:r>
              <a:rPr lang="ko-KR" altLang="en-US" sz="2000" dirty="0">
                <a:latin typeface="+mj-lt"/>
              </a:rPr>
              <a:t>년 하반기</a:t>
            </a:r>
            <a:endParaRPr lang="en-US" altLang="ko-KR" sz="2000" dirty="0">
              <a:latin typeface="+mj-lt"/>
            </a:endParaRPr>
          </a:p>
          <a:p>
            <a:pPr algn="ctr"/>
            <a:r>
              <a:rPr lang="ko-KR" altLang="en-US" sz="2000" dirty="0">
                <a:solidFill>
                  <a:srgbClr val="4A4AC1"/>
                </a:solidFill>
                <a:latin typeface="+mj-ea"/>
                <a:ea typeface="+mj-ea"/>
              </a:rPr>
              <a:t>미래역량 함양 학교관리자 직무연수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1A7A23-005B-00CC-27D0-14991D4E29EA}"/>
              </a:ext>
            </a:extLst>
          </p:cNvPr>
          <p:cNvSpPr txBox="1"/>
          <p:nvPr/>
        </p:nvSpPr>
        <p:spPr>
          <a:xfrm>
            <a:off x="1394928" y="5601274"/>
            <a:ext cx="2452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>
                <a:solidFill>
                  <a:schemeClr val="bg1"/>
                </a:solidFill>
                <a:latin typeface="+mj-lt"/>
              </a:rPr>
              <a:t>박온순</a:t>
            </a:r>
            <a:endParaRPr lang="ko-KR" alt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4CCD4D-D15F-D7F8-ED60-A8D316B7E0B4}"/>
              </a:ext>
            </a:extLst>
          </p:cNvPr>
          <p:cNvSpPr txBox="1"/>
          <p:nvPr/>
        </p:nvSpPr>
        <p:spPr>
          <a:xfrm>
            <a:off x="4212638" y="5563174"/>
            <a:ext cx="318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+mj-lt"/>
              </a:rPr>
              <a:t>|</a:t>
            </a:r>
            <a:endParaRPr lang="ko-KR" alt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76BE5A-F114-846F-C0D5-15DC98B52419}"/>
              </a:ext>
            </a:extLst>
          </p:cNvPr>
          <p:cNvSpPr txBox="1"/>
          <p:nvPr/>
        </p:nvSpPr>
        <p:spPr>
          <a:xfrm>
            <a:off x="4305552" y="4284818"/>
            <a:ext cx="30764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600" dirty="0">
                <a:latin typeface="+mj-ea"/>
                <a:ea typeface="+mj-ea"/>
              </a:rPr>
              <a:t>교사를 위한 </a:t>
            </a:r>
            <a:r>
              <a:rPr lang="en-US" altLang="ko-KR" sz="3600" dirty="0">
                <a:latin typeface="+mj-ea"/>
                <a:ea typeface="+mj-ea"/>
              </a:rPr>
              <a:t>AX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F1D552-8CF0-14C2-BE90-3F06DF8F792D}"/>
              </a:ext>
            </a:extLst>
          </p:cNvPr>
          <p:cNvSpPr txBox="1"/>
          <p:nvPr/>
        </p:nvSpPr>
        <p:spPr>
          <a:xfrm>
            <a:off x="3791194" y="2478776"/>
            <a:ext cx="399660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solidFill>
                  <a:srgbClr val="4A4AC1"/>
                </a:solidFill>
                <a:latin typeface="+mj-ea"/>
                <a:ea typeface="+mj-ea"/>
              </a:rPr>
              <a:t>교직원 업무 혁신을 위한</a:t>
            </a:r>
            <a:endParaRPr lang="en-US" altLang="ko-KR" sz="3200" dirty="0">
              <a:solidFill>
                <a:srgbClr val="4A4AC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3200" dirty="0">
                <a:solidFill>
                  <a:srgbClr val="4A4AC1"/>
                </a:solidFill>
                <a:latin typeface="+mj-ea"/>
                <a:ea typeface="+mj-ea"/>
              </a:rPr>
              <a:t>AI </a:t>
            </a:r>
            <a:r>
              <a:rPr lang="ko-KR" altLang="en-US" sz="3200" dirty="0">
                <a:solidFill>
                  <a:srgbClr val="4A4AC1"/>
                </a:solidFill>
                <a:latin typeface="+mj-ea"/>
                <a:ea typeface="+mj-ea"/>
              </a:rPr>
              <a:t>에이전트 과정</a:t>
            </a:r>
            <a:endParaRPr lang="en-US" altLang="ko-KR" sz="3200" dirty="0"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9E2139-E6C2-C1D4-9769-9954A103D750}"/>
              </a:ext>
            </a:extLst>
          </p:cNvPr>
          <p:cNvSpPr txBox="1"/>
          <p:nvPr/>
        </p:nvSpPr>
        <p:spPr>
          <a:xfrm>
            <a:off x="6617009" y="5588574"/>
            <a:ext cx="2838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+mj-lt"/>
              </a:rPr>
              <a:t>Gemini GEM</a:t>
            </a:r>
            <a:r>
              <a:rPr lang="ko-KR" altLang="en-US" dirty="0">
                <a:solidFill>
                  <a:schemeClr val="bg1"/>
                </a:solidFill>
                <a:latin typeface="+mj-lt"/>
              </a:rPr>
              <a:t> 활용</a:t>
            </a:r>
          </a:p>
        </p:txBody>
      </p:sp>
      <p:pic>
        <p:nvPicPr>
          <p:cNvPr id="22" name="Picture 15">
            <a:extLst>
              <a:ext uri="{FF2B5EF4-FFF2-40B4-BE49-F238E27FC236}">
                <a16:creationId xmlns:a16="http://schemas.microsoft.com/office/drawing/2014/main" id="{F20E50ED-ED32-48AA-038E-1D44135A81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140000">
            <a:off x="2450321" y="867614"/>
            <a:ext cx="457744" cy="415491"/>
          </a:xfrm>
          <a:prstGeom prst="rect">
            <a:avLst/>
          </a:prstGeom>
        </p:spPr>
      </p:pic>
      <p:pic>
        <p:nvPicPr>
          <p:cNvPr id="23" name="Picture 17">
            <a:extLst>
              <a:ext uri="{FF2B5EF4-FFF2-40B4-BE49-F238E27FC236}">
                <a16:creationId xmlns:a16="http://schemas.microsoft.com/office/drawing/2014/main" id="{1023DB98-CA87-B9E9-AE77-1C2F8E3E33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440000">
            <a:off x="1725771" y="1953803"/>
            <a:ext cx="546100" cy="5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595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강의 안내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150분 운영 흐름</a:t>
            </a:r>
            <a:endParaRPr lang="ko-KR" altLang="en-US" sz="2400" dirty="0"/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548640" y="1737360"/>
          <a:ext cx="11091672" cy="4114800"/>
        </p:xfrm>
        <a:graphic>
          <a:graphicData uri="http://schemas.openxmlformats.org/drawingml/2006/table">
            <a:tbl>
              <a:tblPr firstRow="1" bandRow="1"/>
              <a:tblGrid>
                <a:gridCol w="1680556"/>
                <a:gridCol w="1120371"/>
                <a:gridCol w="6274077"/>
                <a:gridCol w="2016668"/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시간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구분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주제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산출물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00:00–00:10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도입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오프닝 · 사전 진단 · 접속 환경 점검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로그인 완료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00:10–00:40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1부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AI 에이전트란 무엇인가 — AI 비서, GEM 개념 이해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업무 발굴 시트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00:40–01:20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2부 ①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실습 1 ‘공문서 초안 및 기획안 생성’ Gem 제작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Gem #1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01:20–01:30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휴식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—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—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01:30–02:00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2부 ②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실습 2 ‘가정통신문 자동 빌더’ Gem 제작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Gem #2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02:00–02:25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3부 ①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Gem 공유·배포 + 부서별 표준 프롬프트 라이브러리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라이브러리 시트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02:25–02:45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3부 ②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AI 업무 윤리 · 교내 AI 활용 가이드라인 토의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가이드라인 초안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02:45–02:50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마무리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정리 · 성찰 · 학교 적용 계획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실행 계획서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강의 목표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오늘 우리가 도달할 곳</a:t>
            </a:r>
            <a:endParaRPr lang="ko-KR" altLang="en-US" sz="2400" dirty="0"/>
          </a:p>
        </p:txBody>
      </p:sp>
      <p:sp>
        <p:nvSpPr>
          <p:cNvPr id="13" name="Goal 13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320040" tIns="91440" rIns="320040" bIns="91440" rtlCol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ko-KR" altLang="en-US" sz="16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 xml:space="preserve">AI 에이전트의 개념과 교육 현장 적용 가능성을 이해하고, 교직원의 반복 행정 업무를 AI로 혁신하는 </a:t>
            </a:r>
            <a:r>
              <a:rPr lang="ko-KR" altLang="en-US" sz="16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GEM(AI 비서)을 관리자 관점에서 설계 및 배포</a:t>
            </a:r>
            <a:r>
              <a:rPr lang="ko-KR" altLang="en-US" sz="16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 xml:space="preserve">할 수 있다.</a:t>
            </a:r>
            <a:endParaRPr lang="ko-KR" altLang="en-US" sz="1400" dirty="0"/>
          </a:p>
        </p:txBody>
      </p:sp>
      <p:sp>
        <p:nvSpPr>
          <p:cNvPr id="14" name="Outcome 14"/>
          <p:cNvSpPr/>
          <p:nvPr/>
        </p:nvSpPr>
        <p:spPr>
          <a:xfrm>
            <a:off x="548640" y="2971800"/>
            <a:ext cx="2086661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228600" rIns="182880" bIns="137160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ko-KR" altLang="en-US" sz="3000" b="0" dirty="0">
                <a:solidFill>
                  <a:srgbClr val="5653C5"/>
                </a:solidFill>
                <a:latin typeface="Pretendard ExtraBold"/>
                <a:ea typeface="Pretendard ExtraBold"/>
                <a:cs typeface="Pretendard ExtraBold"/>
              </a:rPr>
              <a:t xml:space="preserve">01</a:t>
            </a:r>
            <a:endParaRPr lang="ko-KR" altLang="en-US" sz="3000" dirty="0"/>
          </a:p>
          <a:p>
            <a:pPr algn="l">
              <a:spcAft>
                <a:spcPts val="1000"/>
              </a:spcAft>
              <a:buNone/>
            </a:pPr>
            <a:r>
              <a:rPr lang="ko-KR" altLang="en-US" sz="20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이해</a:t>
            </a:r>
            <a:endParaRPr lang="ko-KR" altLang="en-US" sz="2000" dirty="0"/>
          </a:p>
          <a:p>
            <a:pPr algn="l">
              <a:lnSpc>
                <a:spcPct val="120000"/>
              </a:lnSpc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에이전트와 챗봇의 차이를 4요소로 설명</a:t>
            </a:r>
            <a:endParaRPr lang="ko-KR" altLang="en-US" sz="1400" dirty="0"/>
          </a:p>
        </p:txBody>
      </p:sp>
      <p:sp>
        <p:nvSpPr>
          <p:cNvPr id="15" name="Outcome 15"/>
          <p:cNvSpPr/>
          <p:nvPr/>
        </p:nvSpPr>
        <p:spPr>
          <a:xfrm>
            <a:off x="2799893" y="2971800"/>
            <a:ext cx="2086661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228600" rIns="182880" bIns="137160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ko-KR" altLang="en-US" sz="3000" b="0" dirty="0">
                <a:solidFill>
                  <a:srgbClr val="5653C5"/>
                </a:solidFill>
                <a:latin typeface="Pretendard ExtraBold"/>
                <a:ea typeface="Pretendard ExtraBold"/>
                <a:cs typeface="Pretendard ExtraBold"/>
              </a:rPr>
              <a:t xml:space="preserve">02</a:t>
            </a:r>
            <a:endParaRPr lang="ko-KR" altLang="en-US" sz="3000" dirty="0"/>
          </a:p>
          <a:p>
            <a:pPr algn="l">
              <a:spcAft>
                <a:spcPts val="1000"/>
              </a:spcAft>
              <a:buNone/>
            </a:pPr>
            <a:r>
              <a:rPr lang="ko-KR" altLang="en-US" sz="20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분석</a:t>
            </a:r>
            <a:endParaRPr lang="ko-KR" altLang="en-US" sz="2000" dirty="0"/>
          </a:p>
          <a:p>
            <a:pPr algn="l">
              <a:lnSpc>
                <a:spcPct val="120000"/>
              </a:lnSpc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우리 학교 AI 전환 업무 3개 이상 도출</a:t>
            </a:r>
            <a:endParaRPr lang="ko-KR" altLang="en-US" sz="1400" dirty="0"/>
          </a:p>
        </p:txBody>
      </p:sp>
      <p:sp>
        <p:nvSpPr>
          <p:cNvPr id="16" name="Outcome 16"/>
          <p:cNvSpPr/>
          <p:nvPr/>
        </p:nvSpPr>
        <p:spPr>
          <a:xfrm>
            <a:off x="5051146" y="2971800"/>
            <a:ext cx="2086661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228600" rIns="182880" bIns="137160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ko-KR" altLang="en-US" sz="3000" b="0" dirty="0">
                <a:solidFill>
                  <a:srgbClr val="5653C5"/>
                </a:solidFill>
                <a:latin typeface="Pretendard ExtraBold"/>
                <a:ea typeface="Pretendard ExtraBold"/>
                <a:cs typeface="Pretendard ExtraBold"/>
              </a:rPr>
              <a:t xml:space="preserve">03</a:t>
            </a:r>
            <a:endParaRPr lang="ko-KR" altLang="en-US" sz="3000" dirty="0"/>
          </a:p>
          <a:p>
            <a:pPr algn="l">
              <a:spcAft>
                <a:spcPts val="1000"/>
              </a:spcAft>
              <a:buNone/>
            </a:pPr>
            <a:r>
              <a:rPr lang="ko-KR" altLang="en-US" sz="20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제작</a:t>
            </a:r>
            <a:endParaRPr lang="ko-KR" altLang="en-US" sz="2000" dirty="0"/>
          </a:p>
          <a:p>
            <a:pPr algn="l">
              <a:lnSpc>
                <a:spcPct val="120000"/>
              </a:lnSpc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요청사항 + Drive 지식 연동 Gem 2종 제작</a:t>
            </a:r>
            <a:endParaRPr lang="ko-KR" altLang="en-US" sz="1400" dirty="0"/>
          </a:p>
        </p:txBody>
      </p:sp>
      <p:sp>
        <p:nvSpPr>
          <p:cNvPr id="17" name="Outcome 17"/>
          <p:cNvSpPr/>
          <p:nvPr/>
        </p:nvSpPr>
        <p:spPr>
          <a:xfrm>
            <a:off x="7302398" y="2971800"/>
            <a:ext cx="2086661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228600" rIns="182880" bIns="137160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ko-KR" altLang="en-US" sz="3000" b="0" dirty="0">
                <a:solidFill>
                  <a:srgbClr val="5653C5"/>
                </a:solidFill>
                <a:latin typeface="Pretendard ExtraBold"/>
                <a:ea typeface="Pretendard ExtraBold"/>
                <a:cs typeface="Pretendard ExtraBold"/>
              </a:rPr>
              <a:t xml:space="preserve">04</a:t>
            </a:r>
            <a:endParaRPr lang="ko-KR" altLang="en-US" sz="3000" dirty="0"/>
          </a:p>
          <a:p>
            <a:pPr algn="l">
              <a:spcAft>
                <a:spcPts val="1000"/>
              </a:spcAft>
              <a:buNone/>
            </a:pPr>
            <a:r>
              <a:rPr lang="ko-KR" altLang="en-US" sz="20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배포</a:t>
            </a:r>
            <a:endParaRPr lang="ko-KR" altLang="en-US" sz="2000" dirty="0"/>
          </a:p>
          <a:p>
            <a:pPr algn="l">
              <a:lnSpc>
                <a:spcPct val="120000"/>
              </a:lnSpc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Gem 공유 · 부서별 프롬프트 라이브러리 구성</a:t>
            </a:r>
            <a:endParaRPr lang="ko-KR" altLang="en-US" sz="1400" dirty="0"/>
          </a:p>
        </p:txBody>
      </p:sp>
      <p:sp>
        <p:nvSpPr>
          <p:cNvPr id="18" name="Outcome 18"/>
          <p:cNvSpPr/>
          <p:nvPr/>
        </p:nvSpPr>
        <p:spPr>
          <a:xfrm>
            <a:off x="9553651" y="2971800"/>
            <a:ext cx="2086661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228600" rIns="182880" bIns="137160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ko-KR" altLang="en-US" sz="3000" b="0" dirty="0">
                <a:solidFill>
                  <a:srgbClr val="5653C5"/>
                </a:solidFill>
                <a:latin typeface="Pretendard ExtraBold"/>
                <a:ea typeface="Pretendard ExtraBold"/>
                <a:cs typeface="Pretendard ExtraBold"/>
              </a:rPr>
              <a:t xml:space="preserve">05</a:t>
            </a:r>
            <a:endParaRPr lang="ko-KR" altLang="en-US" sz="3000" dirty="0"/>
          </a:p>
          <a:p>
            <a:pPr algn="l">
              <a:spcAft>
                <a:spcPts val="1000"/>
              </a:spcAft>
              <a:buNone/>
            </a:pPr>
            <a:r>
              <a:rPr lang="ko-KR" altLang="en-US" sz="20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정착</a:t>
            </a:r>
            <a:endParaRPr lang="ko-KR" altLang="en-US" sz="2000" dirty="0"/>
          </a:p>
          <a:p>
            <a:pPr algn="l">
              <a:lnSpc>
                <a:spcPct val="120000"/>
              </a:lnSpc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AI 업무 윤리 · 교내 가이드라인 초안 수립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도입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지난 한 주, ‘똑같은 일을 또 했다’고 느낀 업무는?</a:t>
            </a:r>
            <a:endParaRPr lang="ko-KR" altLang="en-US" sz="2400" dirty="0"/>
          </a:p>
        </p:txBody>
      </p:sp>
      <p:sp>
        <p:nvSpPr>
          <p:cNvPr id="13" name="Opening 13"/>
          <p:cNvSpPr/>
          <p:nvPr/>
        </p:nvSpPr>
        <p:spPr>
          <a:xfrm>
            <a:off x="548640" y="1691640"/>
            <a:ext cx="5120640" cy="41605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320040" tIns="274320" rIns="274320" bIns="182880" rtlCol="0" anchor="t">
            <a:no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ko-KR" altLang="en-US" sz="18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포스트잇 1인 1~2장</a:t>
            </a:r>
            <a:endParaRPr lang="ko-KR" altLang="en-US" sz="1800" dirty="0"/>
          </a:p>
          <a:p>
            <a:pPr algn="l" marL="228600" indent="-228600">
              <a:spcAft>
                <a:spcPts val="600"/>
              </a:spcAft>
              <a:buClr>
                <a:srgbClr val="FFFFFF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공문 접수 후 기안문 작성</a:t>
            </a:r>
            <a:endParaRPr lang="ko-KR" altLang="en-US" sz="1500" dirty="0"/>
          </a:p>
          <a:p>
            <a:pPr algn="l" marL="228600" indent="-228600">
              <a:spcAft>
                <a:spcPts val="600"/>
              </a:spcAft>
              <a:buClr>
                <a:srgbClr val="FFFFFF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월간 가정통신문 · 행사 안내문</a:t>
            </a:r>
            <a:endParaRPr lang="ko-KR" altLang="en-US" sz="1500" dirty="0"/>
          </a:p>
          <a:p>
            <a:pPr algn="l" marL="228600" indent="-228600">
              <a:spcAft>
                <a:spcPts val="600"/>
              </a:spcAft>
              <a:buClr>
                <a:srgbClr val="FFFFFF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각종 계획서 · 결과보고서</a:t>
            </a:r>
            <a:endParaRPr lang="ko-KR" altLang="en-US" sz="1500" dirty="0"/>
          </a:p>
          <a:p>
            <a:pPr algn="l" marL="228600" indent="-228600">
              <a:spcAft>
                <a:spcPts val="600"/>
              </a:spcAft>
              <a:buClr>
                <a:srgbClr val="FFFFFF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교직원 협의회 회의록</a:t>
            </a:r>
            <a:endParaRPr lang="ko-KR" altLang="en-US" sz="1500" dirty="0"/>
          </a:p>
          <a:p>
            <a:pPr algn="l" marL="228600" indent="-228600">
              <a:spcAft>
                <a:spcPts val="1400"/>
              </a:spcAft>
              <a:buClr>
                <a:srgbClr val="FFFFFF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학부모 알림 문자 · 출장 복명서</a:t>
            </a:r>
            <a:endParaRPr lang="ko-KR" altLang="en-US" sz="1500" dirty="0"/>
          </a:p>
          <a:p>
            <a:pPr algn="l">
              <a:buNone/>
            </a:pPr>
            <a:r>
              <a:rPr lang="ko-KR" altLang="en-US" sz="1300" b="0" dirty="0">
                <a:solidFill>
                  <a:srgbClr val="DDE0FF"/>
                </a:solidFill>
                <a:latin typeface="Pretendard SemiBold"/>
                <a:ea typeface="Pretendard SemiBold"/>
                <a:cs typeface="Pretendard SemiBold"/>
              </a:rPr>
              <a:t xml:space="preserve">→ 1부 ‘업무 발굴 시트’에서 다시 사용합니다</a:t>
            </a:r>
            <a:endParaRPr lang="ko-KR" altLang="en-US" sz="1300" dirty="0"/>
          </a:p>
        </p:txBody>
      </p: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5943600" y="1691640"/>
          <a:ext cx="5696712" cy="2514600"/>
        </p:xfrm>
        <a:graphic>
          <a:graphicData uri="http://schemas.openxmlformats.org/drawingml/2006/table">
            <a:tbl>
              <a:tblPr firstRow="1" bandRow="1"/>
              <a:tblGrid>
                <a:gridCol w="4297520"/>
                <a:gridCol w="1399192"/>
              </a:tblGrid>
              <a:tr h="502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사전 진단 (손들기)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예 / 아니요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생성형 AI를 업무에 써 본 적이 있다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☐ / ☐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같은 프롬프트를 매번 복사해서 붙여 넣었다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☐ / ☐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Gemini의 ‘Gem’을 만들어 본 적이 있다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☐ / ☐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우리 학교에 AI 활용 지침이 있다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☐ / ☐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</a:tr>
            </a:tbl>
          </a:graphicData>
        </a:graphic>
      </p:graphicFrame>
      <p:sp>
        <p:nvSpPr>
          <p:cNvPr id="15" name="Env check 15"/>
          <p:cNvSpPr/>
          <p:nvPr/>
        </p:nvSpPr>
        <p:spPr>
          <a:xfrm>
            <a:off x="5943600" y="4709160"/>
            <a:ext cx="5696712" cy="1143000"/>
          </a:xfrm>
          <a:prstGeom prst="roundRect">
            <a:avLst>
              <a:gd name="adj" fmla="val 10000"/>
            </a:avLst>
          </a:prstGeom>
          <a:solidFill>
            <a:srgbClr val="E6E8FA"/>
          </a:solidFill>
          <a:ln>
            <a:noFill/>
          </a:ln>
        </p:spPr>
        <p:txBody>
          <a:bodyPr wrap="square" lIns="228600" tIns="137160" rIns="228600" bIns="91440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ko-KR" altLang="en-US" sz="15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환경 점검</a:t>
            </a:r>
            <a:endParaRPr lang="ko-KR" altLang="en-US" sz="1500" dirty="0"/>
          </a:p>
          <a:p>
            <a:pPr algn="l">
              <a:lnSpc>
                <a:spcPct val="120000"/>
              </a:lnSpc>
              <a:buNone/>
            </a:pPr>
            <a:r>
              <a:rPr lang="ko-KR" altLang="en-US" sz="13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① gemini.google.com 로그인   ② 왼쪽 메뉴 ‘Gem 관리자’ 확인   ③ 실습 폴더 QR 접속 → 사본 만들기</a:t>
            </a:r>
            <a:endParaRPr lang="ko-KR" alt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PART 1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/>
            </a:r>
            <a:endParaRPr lang="ko-KR" altLang="en-US" sz="2400" dirty="0"/>
          </a:p>
        </p:txBody>
      </p:sp>
      <p:sp>
        <p:nvSpPr>
          <p:cNvPr id="13" name="Text 13"/>
          <p:cNvSpPr txBox="1"/>
          <p:nvPr/>
        </p:nvSpPr>
        <p:spPr>
          <a:xfrm>
            <a:off x="548640" y="2788920"/>
            <a:ext cx="1109167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38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AI 에이전트란 무엇인가</a:t>
            </a:r>
            <a:endParaRPr lang="ko-KR" altLang="en-US" sz="3800" dirty="0"/>
          </a:p>
        </p:txBody>
      </p:sp>
      <p:sp>
        <p:nvSpPr>
          <p:cNvPr id="14" name="Text 14"/>
          <p:cNvSpPr txBox="1"/>
          <p:nvPr/>
        </p:nvSpPr>
        <p:spPr>
          <a:xfrm>
            <a:off x="548640" y="3794760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AI 비서, GEM 개념 이해 · 30분</a:t>
            </a:r>
            <a:endParaRPr lang="ko-KR" alt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1부 · AI 에이전트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AI 에이전트란 무엇인가</a:t>
            </a:r>
            <a:endParaRPr lang="ko-KR" altLang="en-US" sz="2400" dirty="0"/>
          </a:p>
        </p:txBody>
      </p:sp>
      <p:sp>
        <p:nvSpPr>
          <p:cNvPr id="13" name="Definition 13"/>
          <p:cNvSpPr/>
          <p:nvPr/>
        </p:nvSpPr>
        <p:spPr>
          <a:xfrm>
            <a:off x="548640" y="1691640"/>
            <a:ext cx="11091672" cy="137160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ko-KR" altLang="en-US" sz="20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AI 에이전트(AI Agent)</a:t>
            </a:r>
            <a:r>
              <a:rPr lang="ko-KR" altLang="en-US" sz="18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 xml:space="preserve">란, 주어진 </a:t>
            </a:r>
            <a:r>
              <a:rPr lang="ko-KR" altLang="en-US" sz="1800" b="0" dirty="0">
                <a:solidFill>
                  <a:srgbClr val="BFF4FA"/>
                </a:solidFill>
                <a:latin typeface="Pretendard ExtraBold"/>
                <a:ea typeface="Pretendard ExtraBold"/>
                <a:cs typeface="Pretendard ExtraBold"/>
              </a:rPr>
              <a:t xml:space="preserve">목표</a:t>
            </a:r>
            <a:r>
              <a:rPr lang="ko-KR" altLang="en-US" sz="18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 xml:space="preserve">를 이해하고 필요한 </a:t>
            </a:r>
            <a:r>
              <a:rPr lang="ko-KR" altLang="en-US" sz="1800" b="0" dirty="0">
                <a:solidFill>
                  <a:srgbClr val="BFF4FA"/>
                </a:solidFill>
                <a:latin typeface="Pretendard ExtraBold"/>
                <a:ea typeface="Pretendard ExtraBold"/>
                <a:cs typeface="Pretendard ExtraBold"/>
              </a:rPr>
              <a:t xml:space="preserve">지식과 도구</a:t>
            </a:r>
            <a:r>
              <a:rPr lang="ko-KR" altLang="en-US" sz="18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 xml:space="preserve">를 활용하여,</a:t>
            </a:r>
            <a:endParaRPr lang="ko-KR" altLang="en-US" sz="1400" dirty="0"/>
          </a:p>
          <a:p>
            <a:pPr algn="ctr">
              <a:buNone/>
            </a:pPr>
            <a:r>
              <a:rPr lang="ko-KR" altLang="en-US" sz="18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 xml:space="preserve">사람을 대신해 </a:t>
            </a:r>
            <a:r>
              <a:rPr lang="ko-KR" altLang="en-US" sz="1800" b="0" dirty="0">
                <a:solidFill>
                  <a:srgbClr val="BFF4FA"/>
                </a:solidFill>
                <a:latin typeface="Pretendard ExtraBold"/>
                <a:ea typeface="Pretendard ExtraBold"/>
                <a:cs typeface="Pretendard ExtraBold"/>
              </a:rPr>
              <a:t xml:space="preserve">일련의 작업을 수행</a:t>
            </a:r>
            <a:r>
              <a:rPr lang="ko-KR" altLang="en-US" sz="18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 xml:space="preserve">하는 AI 시스템</a:t>
            </a:r>
            <a:endParaRPr lang="ko-KR" altLang="en-US" sz="1400" dirty="0"/>
          </a:p>
        </p:txBody>
      </p:sp>
      <p:sp>
        <p:nvSpPr>
          <p:cNvPr id="14" name="Text 14"/>
          <p:cNvSpPr txBox="1"/>
          <p:nvPr/>
        </p:nvSpPr>
        <p:spPr>
          <a:xfrm>
            <a:off x="548640" y="3291840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50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학교 언어로 바꾸면 …</a:t>
            </a:r>
            <a:endParaRPr lang="ko-KR" altLang="en-US" sz="1500" dirty="0"/>
          </a:p>
        </p:txBody>
      </p:sp>
      <p:sp>
        <p:nvSpPr>
          <p:cNvPr id="15" name="Quote 15"/>
          <p:cNvSpPr/>
          <p:nvPr/>
        </p:nvSpPr>
        <p:spPr>
          <a:xfrm>
            <a:off x="2011680" y="3840480"/>
            <a:ext cx="8165592" cy="1280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22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“업무 분장표를 읽고, 우리 학교 서식대로,</a:t>
            </a:r>
            <a:endParaRPr lang="ko-KR" altLang="en-US" sz="2200" dirty="0"/>
          </a:p>
          <a:p>
            <a:pPr algn="ctr">
              <a:buNone/>
            </a:pPr>
            <a:r>
              <a:rPr lang="ko-KR" altLang="en-US" sz="22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알아서 초안을 만들어 주는 전담 실무 비서”</a:t>
            </a:r>
            <a:endParaRPr lang="ko-KR" altLang="en-US" sz="2200" dirty="0"/>
          </a:p>
        </p:txBody>
      </p:sp>
      <p:sp>
        <p:nvSpPr>
          <p:cNvPr id="16" name="Callout 16"/>
          <p:cNvSpPr/>
          <p:nvPr/>
        </p:nvSpPr>
        <p:spPr>
          <a:xfrm>
            <a:off x="548640" y="5440680"/>
            <a:ext cx="11091672" cy="411480"/>
          </a:xfrm>
          <a:prstGeom prst="roundRect">
            <a:avLst>
              <a:gd name="adj" fmla="val 30000"/>
            </a:avLst>
          </a:prstGeom>
          <a:solidFill>
            <a:srgbClr val="E6E8FA"/>
          </a:solidFill>
          <a:ln>
            <a:noFill/>
          </a:ln>
        </p:spPr>
        <p:txBody>
          <a:bodyPr wrap="square" lIns="274320" tIns="0" rIns="274320" bIns="0" rtlCol="0" anchor="ctr">
            <a:noAutofit/>
          </a:bodyPr>
          <a:lstStyle/>
          <a:p>
            <a:pPr algn="l">
              <a:buNone/>
            </a:pPr>
            <a:r>
              <a:rPr lang="ko-KR" altLang="en-US" sz="1300" b="0" dirty="0">
                <a:solidFill>
                  <a:srgbClr val="1720AF"/>
                </a:solidFill>
                <a:latin typeface="Pretendard SemiBold"/>
                <a:ea typeface="Pretendard SemiBold"/>
                <a:cs typeface="Pretendard SemiBold"/>
              </a:rPr>
              <a:t xml:space="preserve">관리자 관점 — ‘누가 AI를 잘 쓰느냐’가 아니라 ‘잘 만든 AI 비서 하나를 전 교직원이 함께 쓰게 하는 것’이 AX입니다.</a:t>
            </a:r>
            <a:endParaRPr lang="ko-KR" alt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1부 · AI 에이전트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단순 챗봇 vs AI 에이전트</a:t>
            </a:r>
            <a:endParaRPr lang="ko-KR" altLang="en-US" sz="2400" dirty="0"/>
          </a:p>
        </p:txBody>
      </p:sp>
      <p:sp>
        <p:nvSpPr>
          <p:cNvPr id="13" name="Left card 13"/>
          <p:cNvSpPr/>
          <p:nvPr/>
        </p:nvSpPr>
        <p:spPr>
          <a:xfrm>
            <a:off x="1463040" y="1691640"/>
            <a:ext cx="4983480" cy="43434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ko-KR" altLang="en-US"/>
          </a:p>
        </p:txBody>
      </p:sp>
      <p:sp>
        <p:nvSpPr>
          <p:cNvPr id="14" name="Right card 14"/>
          <p:cNvSpPr/>
          <p:nvPr/>
        </p:nvSpPr>
        <p:spPr>
          <a:xfrm>
            <a:off x="6611112" y="1691640"/>
            <a:ext cx="4983480" cy="434340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109728" tIns="73152" rIns="109728" bIns="73152" rtlCol="0" anchor="t">
            <a:noAutofit/>
          </a:bodyPr>
          <a:lstStyle/>
          <a:p>
            <a:endParaRPr lang="ko-KR" altLang="en-US"/>
          </a:p>
        </p:txBody>
      </p:sp>
      <p:sp>
        <p:nvSpPr>
          <p:cNvPr id="15" name="Text 15"/>
          <p:cNvSpPr txBox="1"/>
          <p:nvPr/>
        </p:nvSpPr>
        <p:spPr>
          <a:xfrm>
            <a:off x="1463040" y="1828800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800" b="0" dirty="0">
                <a:solidFill>
                  <a:srgbClr val="5F6475"/>
                </a:solidFill>
                <a:latin typeface="Pretendard ExtraBold"/>
                <a:ea typeface="Pretendard ExtraBold"/>
                <a:cs typeface="Pretendard ExtraBold"/>
              </a:rPr>
              <a:t xml:space="preserve">단순 챗봇 (일반 대화형 AI)</a:t>
            </a:r>
            <a:endParaRPr lang="ko-KR" altLang="en-US" sz="1800" dirty="0"/>
          </a:p>
        </p:txBody>
      </p:sp>
      <p:sp>
        <p:nvSpPr>
          <p:cNvPr id="16" name="Text 16"/>
          <p:cNvSpPr txBox="1"/>
          <p:nvPr/>
        </p:nvSpPr>
        <p:spPr>
          <a:xfrm>
            <a:off x="6611112" y="1828800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8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AI 에이전트 (AI 비서 · Gem)</a:t>
            </a:r>
            <a:endParaRPr lang="ko-KR" altLang="en-US" sz="1800" dirty="0"/>
          </a:p>
        </p:txBody>
      </p:sp>
      <p:sp>
        <p:nvSpPr>
          <p:cNvPr id="17" name="Text 17"/>
          <p:cNvSpPr txBox="1"/>
          <p:nvPr/>
        </p:nvSpPr>
        <p:spPr>
          <a:xfrm>
            <a:off x="457200" y="242316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4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정체성</a:t>
            </a:r>
            <a:endParaRPr lang="ko-KR" altLang="en-US" sz="1400" dirty="0"/>
          </a:p>
        </p:txBody>
      </p:sp>
      <p:sp>
        <p:nvSpPr>
          <p:cNvPr id="18" name="Text 18"/>
          <p:cNvSpPr txBox="1"/>
          <p:nvPr/>
        </p:nvSpPr>
        <p:spPr>
          <a:xfrm>
            <a:off x="1737360" y="242316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5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매번 백지에서 시작하는 ‘일반인’</a:t>
            </a:r>
            <a:endParaRPr lang="ko-KR" altLang="en-US" sz="1500" dirty="0"/>
          </a:p>
        </p:txBody>
      </p:sp>
      <p:sp>
        <p:nvSpPr>
          <p:cNvPr id="19" name="Text 19"/>
          <p:cNvSpPr txBox="1"/>
          <p:nvPr/>
        </p:nvSpPr>
        <p:spPr>
          <a:xfrm>
            <a:off x="6885432" y="242316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5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 xml:space="preserve">역할이 정해진 ‘전담 직원’</a:t>
            </a:r>
            <a:endParaRPr lang="ko-KR" altLang="en-US" sz="1500" dirty="0"/>
          </a:p>
        </p:txBody>
      </p:sp>
      <p:sp>
        <p:nvSpPr>
          <p:cNvPr id="20" name="Text 20"/>
          <p:cNvSpPr txBox="1"/>
          <p:nvPr/>
        </p:nvSpPr>
        <p:spPr>
          <a:xfrm>
            <a:off x="457200" y="3008376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4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맥락</a:t>
            </a:r>
            <a:endParaRPr lang="ko-KR" altLang="en-US" sz="1400" dirty="0"/>
          </a:p>
        </p:txBody>
      </p:sp>
      <p:sp>
        <p:nvSpPr>
          <p:cNvPr id="21" name="Text 21"/>
          <p:cNvSpPr txBox="1"/>
          <p:nvPr/>
        </p:nvSpPr>
        <p:spPr>
          <a:xfrm>
            <a:off x="1737360" y="3008376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5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매번 배경을 다시 설명</a:t>
            </a:r>
            <a:endParaRPr lang="ko-KR" altLang="en-US" sz="1500" dirty="0"/>
          </a:p>
        </p:txBody>
      </p:sp>
      <p:sp>
        <p:nvSpPr>
          <p:cNvPr id="22" name="Text 22"/>
          <p:cNvSpPr txBox="1"/>
          <p:nvPr/>
        </p:nvSpPr>
        <p:spPr>
          <a:xfrm>
            <a:off x="6885432" y="3008376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5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 xml:space="preserve">학교 서식·규정·일정을 미리 앎</a:t>
            </a:r>
            <a:endParaRPr lang="ko-KR" altLang="en-US" sz="1500" dirty="0"/>
          </a:p>
        </p:txBody>
      </p:sp>
      <p:sp>
        <p:nvSpPr>
          <p:cNvPr id="23" name="Text 23"/>
          <p:cNvSpPr txBox="1"/>
          <p:nvPr/>
        </p:nvSpPr>
        <p:spPr>
          <a:xfrm>
            <a:off x="457200" y="3593592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4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지시</a:t>
            </a:r>
            <a:endParaRPr lang="ko-KR" altLang="en-US" sz="1400" dirty="0"/>
          </a:p>
        </p:txBody>
      </p:sp>
      <p:sp>
        <p:nvSpPr>
          <p:cNvPr id="24" name="Text 24"/>
          <p:cNvSpPr txBox="1"/>
          <p:nvPr/>
        </p:nvSpPr>
        <p:spPr>
          <a:xfrm>
            <a:off x="1737360" y="3593592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5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매번 긴 프롬프트 입력</a:t>
            </a:r>
            <a:endParaRPr lang="ko-KR" altLang="en-US" sz="1500" dirty="0"/>
          </a:p>
        </p:txBody>
      </p:sp>
      <p:sp>
        <p:nvSpPr>
          <p:cNvPr id="25" name="Text 25"/>
          <p:cNvSpPr txBox="1"/>
          <p:nvPr/>
        </p:nvSpPr>
        <p:spPr>
          <a:xfrm>
            <a:off x="6885432" y="3593592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5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 xml:space="preserve">핵심 정보만 입력</a:t>
            </a:r>
            <a:endParaRPr lang="ko-KR" altLang="en-US" sz="1500" dirty="0"/>
          </a:p>
        </p:txBody>
      </p:sp>
      <p:sp>
        <p:nvSpPr>
          <p:cNvPr id="26" name="Text 26"/>
          <p:cNvSpPr txBox="1"/>
          <p:nvPr/>
        </p:nvSpPr>
        <p:spPr>
          <a:xfrm>
            <a:off x="457200" y="4178808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4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결과</a:t>
            </a:r>
            <a:endParaRPr lang="ko-KR" altLang="en-US" sz="1400" dirty="0"/>
          </a:p>
        </p:txBody>
      </p:sp>
      <p:sp>
        <p:nvSpPr>
          <p:cNvPr id="27" name="Text 27"/>
          <p:cNvSpPr txBox="1"/>
          <p:nvPr/>
        </p:nvSpPr>
        <p:spPr>
          <a:xfrm>
            <a:off x="1737360" y="4178808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5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사람마다·매번 들쭉날쭉</a:t>
            </a:r>
            <a:endParaRPr lang="ko-KR" altLang="en-US" sz="1500" dirty="0"/>
          </a:p>
        </p:txBody>
      </p:sp>
      <p:sp>
        <p:nvSpPr>
          <p:cNvPr id="28" name="Text 28"/>
          <p:cNvSpPr txBox="1"/>
          <p:nvPr/>
        </p:nvSpPr>
        <p:spPr>
          <a:xfrm>
            <a:off x="6885432" y="4178808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5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 xml:space="preserve">표준화된 일관된 결과</a:t>
            </a:r>
            <a:endParaRPr lang="ko-KR" altLang="en-US" sz="1500" dirty="0"/>
          </a:p>
        </p:txBody>
      </p:sp>
      <p:sp>
        <p:nvSpPr>
          <p:cNvPr id="29" name="Text 29"/>
          <p:cNvSpPr txBox="1"/>
          <p:nvPr/>
        </p:nvSpPr>
        <p:spPr>
          <a:xfrm>
            <a:off x="457200" y="4764024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4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도구</a:t>
            </a:r>
            <a:endParaRPr lang="ko-KR" altLang="en-US" sz="1400" dirty="0"/>
          </a:p>
        </p:txBody>
      </p:sp>
      <p:sp>
        <p:nvSpPr>
          <p:cNvPr id="30" name="Text 30"/>
          <p:cNvSpPr txBox="1"/>
          <p:nvPr/>
        </p:nvSpPr>
        <p:spPr>
          <a:xfrm>
            <a:off x="1737360" y="4764024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5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대화 텍스트 위주</a:t>
            </a:r>
            <a:endParaRPr lang="ko-KR" altLang="en-US" sz="1500" dirty="0"/>
          </a:p>
        </p:txBody>
      </p:sp>
      <p:sp>
        <p:nvSpPr>
          <p:cNvPr id="31" name="Text 31"/>
          <p:cNvSpPr txBox="1"/>
          <p:nvPr/>
        </p:nvSpPr>
        <p:spPr>
          <a:xfrm>
            <a:off x="6885432" y="4764024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5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 xml:space="preserve">Drive·Docs·Sheets 연동</a:t>
            </a:r>
            <a:endParaRPr lang="ko-KR" altLang="en-US" sz="1500" dirty="0"/>
          </a:p>
        </p:txBody>
      </p:sp>
      <p:sp>
        <p:nvSpPr>
          <p:cNvPr id="32" name="Text 32"/>
          <p:cNvSpPr txBox="1"/>
          <p:nvPr/>
        </p:nvSpPr>
        <p:spPr>
          <a:xfrm>
            <a:off x="457200" y="534924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4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확산</a:t>
            </a:r>
            <a:endParaRPr lang="ko-KR" altLang="en-US" sz="1400" dirty="0"/>
          </a:p>
        </p:txBody>
      </p:sp>
      <p:sp>
        <p:nvSpPr>
          <p:cNvPr id="33" name="Text 33"/>
          <p:cNvSpPr txBox="1"/>
          <p:nvPr/>
        </p:nvSpPr>
        <p:spPr>
          <a:xfrm>
            <a:off x="1737360" y="534924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5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개인 노하우로 머묾</a:t>
            </a:r>
            <a:endParaRPr lang="ko-KR" altLang="en-US" sz="1500" dirty="0"/>
          </a:p>
        </p:txBody>
      </p:sp>
      <p:sp>
        <p:nvSpPr>
          <p:cNvPr id="34" name="Text 34"/>
          <p:cNvSpPr txBox="1"/>
          <p:nvPr/>
        </p:nvSpPr>
        <p:spPr>
          <a:xfrm>
            <a:off x="6885432" y="534924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5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 xml:space="preserve">공유·배포로 조직의 자산</a:t>
            </a:r>
            <a:endParaRPr lang="ko-KR" alt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1부 · AI 에이전트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에이전트의 4요소 — ‘역 · 지 · 도 · 반’</a:t>
            </a:r>
            <a:endParaRPr lang="ko-KR" altLang="en-US" sz="2400" dirty="0"/>
          </a:p>
        </p:txBody>
      </p:sp>
      <p:sp>
        <p:nvSpPr>
          <p:cNvPr id="13" name="Badge 13"/>
          <p:cNvSpPr/>
          <p:nvPr/>
        </p:nvSpPr>
        <p:spPr>
          <a:xfrm>
            <a:off x="1346454" y="1737360"/>
            <a:ext cx="1005840" cy="1005840"/>
          </a:xfrm>
          <a:prstGeom prst="ellipse">
            <a:avLst/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36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역</a:t>
            </a:r>
            <a:endParaRPr lang="ko-KR" altLang="en-US" sz="3600" dirty="0"/>
          </a:p>
        </p:txBody>
      </p:sp>
      <p:sp>
        <p:nvSpPr>
          <p:cNvPr id="14" name="Element 14"/>
          <p:cNvSpPr/>
          <p:nvPr/>
        </p:nvSpPr>
        <p:spPr>
          <a:xfrm>
            <a:off x="548640" y="2926080"/>
            <a:ext cx="2601468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182880" tIns="274320" rIns="182880" bIns="182880" rtlCol="0" anchor="t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ko-KR" altLang="en-US" sz="18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역할 Role</a:t>
            </a:r>
            <a:endParaRPr lang="ko-KR" altLang="en-US" sz="1800" dirty="0"/>
          </a:p>
          <a:p>
            <a:pPr algn="ctr">
              <a:spcAft>
                <a:spcPts val="1400"/>
              </a:spcAft>
              <a:buNone/>
            </a:pPr>
            <a:r>
              <a:rPr lang="ko-KR" altLang="en-US" sz="1500" b="0" dirty="0">
                <a:solidFill>
                  <a:srgbClr val="1F2340"/>
                </a:solidFill>
                <a:latin typeface="Pretendard SemiBold"/>
                <a:ea typeface="Pretendard SemiBold"/>
                <a:cs typeface="Pretendard SemiBold"/>
              </a:rPr>
              <a:t xml:space="preserve">누구로서 일하는가</a:t>
            </a:r>
            <a:endParaRPr lang="ko-KR" altLang="en-US" sz="1500" dirty="0"/>
          </a:p>
          <a:p>
            <a:pPr algn="ctr">
              <a:lnSpc>
                <a:spcPct val="120000"/>
              </a:lnSpc>
              <a:buNone/>
            </a:pPr>
            <a:r>
              <a:rPr lang="ko-KR" altLang="en-US" sz="1400" b="0" dirty="0">
                <a:solidFill>
                  <a:srgbClr val="5F6475"/>
                </a:solidFill>
                <a:latin typeface="Pretendard Medium"/>
                <a:ea typeface="Pretendard Medium"/>
                <a:cs typeface="Pretendard Medium"/>
              </a:rPr>
              <a:t xml:space="preserve">“너는 정보중학교 교무기획부 업무 비서다”</a:t>
            </a:r>
            <a:endParaRPr lang="ko-KR" altLang="en-US" sz="1400" dirty="0"/>
          </a:p>
        </p:txBody>
      </p:sp>
      <p:sp>
        <p:nvSpPr>
          <p:cNvPr id="15" name="Badge 15"/>
          <p:cNvSpPr/>
          <p:nvPr/>
        </p:nvSpPr>
        <p:spPr>
          <a:xfrm>
            <a:off x="4176522" y="1737360"/>
            <a:ext cx="1005840" cy="1005840"/>
          </a:xfrm>
          <a:prstGeom prst="ellipse">
            <a:avLst/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36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지</a:t>
            </a:r>
            <a:endParaRPr lang="ko-KR" altLang="en-US" sz="3600" dirty="0"/>
          </a:p>
        </p:txBody>
      </p:sp>
      <p:sp>
        <p:nvSpPr>
          <p:cNvPr id="16" name="Element 16"/>
          <p:cNvSpPr/>
          <p:nvPr/>
        </p:nvSpPr>
        <p:spPr>
          <a:xfrm>
            <a:off x="3378708" y="2926080"/>
            <a:ext cx="2601468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182880" tIns="274320" rIns="182880" bIns="182880" rtlCol="0" anchor="t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ko-KR" altLang="en-US" sz="18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지식 Knowledge</a:t>
            </a:r>
            <a:endParaRPr lang="ko-KR" altLang="en-US" sz="1800" dirty="0"/>
          </a:p>
          <a:p>
            <a:pPr algn="ctr">
              <a:spcAft>
                <a:spcPts val="1400"/>
              </a:spcAft>
              <a:buNone/>
            </a:pPr>
            <a:r>
              <a:rPr lang="ko-KR" altLang="en-US" sz="1500" b="0" dirty="0">
                <a:solidFill>
                  <a:srgbClr val="1F2340"/>
                </a:solidFill>
                <a:latin typeface="Pretendard SemiBold"/>
                <a:ea typeface="Pretendard SemiBold"/>
                <a:cs typeface="Pretendard SemiBold"/>
              </a:rPr>
              <a:t xml:space="preserve">무엇을 참고하는가</a:t>
            </a:r>
            <a:endParaRPr lang="ko-KR" altLang="en-US" sz="1500" dirty="0"/>
          </a:p>
          <a:p>
            <a:pPr algn="ctr">
              <a:lnSpc>
                <a:spcPct val="120000"/>
              </a:lnSpc>
              <a:buNone/>
            </a:pPr>
            <a:r>
              <a:rPr lang="ko-KR" altLang="en-US" sz="1400" b="0" dirty="0">
                <a:solidFill>
                  <a:srgbClr val="5F6475"/>
                </a:solidFill>
                <a:latin typeface="Pretendard Medium"/>
                <a:ea typeface="Pretendard Medium"/>
                <a:cs typeface="Pretendard Medium"/>
              </a:rPr>
              <a:t xml:space="preserve">공문 서식, 학사일정, 교육과정 운영 계획</a:t>
            </a:r>
            <a:endParaRPr lang="ko-KR" altLang="en-US" sz="1400" dirty="0"/>
          </a:p>
        </p:txBody>
      </p:sp>
      <p:sp>
        <p:nvSpPr>
          <p:cNvPr id="17" name="Badge 17"/>
          <p:cNvSpPr/>
          <p:nvPr/>
        </p:nvSpPr>
        <p:spPr>
          <a:xfrm>
            <a:off x="7006590" y="1737360"/>
            <a:ext cx="1005840" cy="1005840"/>
          </a:xfrm>
          <a:prstGeom prst="ellipse">
            <a:avLst/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36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도</a:t>
            </a:r>
            <a:endParaRPr lang="ko-KR" altLang="en-US" sz="3600" dirty="0"/>
          </a:p>
        </p:txBody>
      </p:sp>
      <p:sp>
        <p:nvSpPr>
          <p:cNvPr id="18" name="Element 18"/>
          <p:cNvSpPr/>
          <p:nvPr/>
        </p:nvSpPr>
        <p:spPr>
          <a:xfrm>
            <a:off x="6208776" y="2926080"/>
            <a:ext cx="2601468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182880" tIns="274320" rIns="182880" bIns="182880" rtlCol="0" anchor="t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ko-KR" altLang="en-US" sz="18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도구 Tools</a:t>
            </a:r>
            <a:endParaRPr lang="ko-KR" altLang="en-US" sz="1800" dirty="0"/>
          </a:p>
          <a:p>
            <a:pPr algn="ctr">
              <a:spcAft>
                <a:spcPts val="1400"/>
              </a:spcAft>
              <a:buNone/>
            </a:pPr>
            <a:r>
              <a:rPr lang="ko-KR" altLang="en-US" sz="1500" b="0" dirty="0">
                <a:solidFill>
                  <a:srgbClr val="1F2340"/>
                </a:solidFill>
                <a:latin typeface="Pretendard SemiBold"/>
                <a:ea typeface="Pretendard SemiBold"/>
                <a:cs typeface="Pretendard SemiBold"/>
              </a:rPr>
              <a:t xml:space="preserve">무엇을 사용하는가</a:t>
            </a:r>
            <a:endParaRPr lang="ko-KR" altLang="en-US" sz="1500" dirty="0"/>
          </a:p>
          <a:p>
            <a:pPr algn="ctr">
              <a:lnSpc>
                <a:spcPct val="120000"/>
              </a:lnSpc>
              <a:buNone/>
            </a:pPr>
            <a:r>
              <a:rPr lang="ko-KR" altLang="en-US" sz="1400" b="0" dirty="0">
                <a:solidFill>
                  <a:srgbClr val="5F6475"/>
                </a:solidFill>
                <a:latin typeface="Pretendard Medium"/>
                <a:ea typeface="Pretendard Medium"/>
                <a:cs typeface="Pretendard Medium"/>
              </a:rPr>
              <a:t xml:space="preserve">Google Drive · Docs · Sheets · Calendar</a:t>
            </a:r>
            <a:endParaRPr lang="ko-KR" altLang="en-US" sz="1400" dirty="0"/>
          </a:p>
        </p:txBody>
      </p:sp>
      <p:sp>
        <p:nvSpPr>
          <p:cNvPr id="19" name="Badge 19"/>
          <p:cNvSpPr/>
          <p:nvPr/>
        </p:nvSpPr>
        <p:spPr>
          <a:xfrm>
            <a:off x="9836658" y="1737360"/>
            <a:ext cx="1005840" cy="1005840"/>
          </a:xfrm>
          <a:prstGeom prst="ellipse">
            <a:avLst/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36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반</a:t>
            </a:r>
            <a:endParaRPr lang="ko-KR" altLang="en-US" sz="3600" dirty="0"/>
          </a:p>
        </p:txBody>
      </p:sp>
      <p:sp>
        <p:nvSpPr>
          <p:cNvPr id="20" name="Element 20"/>
          <p:cNvSpPr/>
          <p:nvPr/>
        </p:nvSpPr>
        <p:spPr>
          <a:xfrm>
            <a:off x="9038844" y="2926080"/>
            <a:ext cx="2601468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182880" tIns="274320" rIns="182880" bIns="182880" rtlCol="0" anchor="t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ko-KR" altLang="en-US" sz="18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반복 Routine</a:t>
            </a:r>
            <a:endParaRPr lang="ko-KR" altLang="en-US" sz="1800" dirty="0"/>
          </a:p>
          <a:p>
            <a:pPr algn="ctr">
              <a:spcAft>
                <a:spcPts val="1400"/>
              </a:spcAft>
              <a:buNone/>
            </a:pPr>
            <a:r>
              <a:rPr lang="ko-KR" altLang="en-US" sz="1500" b="0" dirty="0">
                <a:solidFill>
                  <a:srgbClr val="1F2340"/>
                </a:solidFill>
                <a:latin typeface="Pretendard SemiBold"/>
                <a:ea typeface="Pretendard SemiBold"/>
                <a:cs typeface="Pretendard SemiBold"/>
              </a:rPr>
              <a:t xml:space="preserve">어떤 일을 반복 처리하는가</a:t>
            </a:r>
            <a:endParaRPr lang="ko-KR" altLang="en-US" sz="1500" dirty="0"/>
          </a:p>
          <a:p>
            <a:pPr algn="ctr">
              <a:lnSpc>
                <a:spcPct val="120000"/>
              </a:lnSpc>
              <a:buNone/>
            </a:pPr>
            <a:r>
              <a:rPr lang="ko-KR" altLang="en-US" sz="1400" b="0" dirty="0">
                <a:solidFill>
                  <a:srgbClr val="5F6475"/>
                </a:solidFill>
                <a:latin typeface="Pretendard Medium"/>
                <a:ea typeface="Pretendard Medium"/>
                <a:cs typeface="Pretendard Medium"/>
              </a:rPr>
              <a:t xml:space="preserve">매주·매월·매학기 반복되는 정형 업무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1부 · AI 에이전트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전산화 → DX → AX</a:t>
            </a:r>
            <a:endParaRPr lang="ko-KR" altLang="en-US" sz="2400" dirty="0"/>
          </a:p>
        </p:txBody>
      </p:sp>
      <p:sp>
        <p:nvSpPr>
          <p:cNvPr id="13" name="Card 13"/>
          <p:cNvSpPr/>
          <p:nvPr/>
        </p:nvSpPr>
        <p:spPr>
          <a:xfrm>
            <a:off x="548640" y="2057400"/>
            <a:ext cx="32461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164592" rIns="182880" bIns="109728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ko-KR" altLang="en-US" sz="21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전산화</a:t>
            </a:r>
            <a:endParaRPr lang="ko-KR" altLang="en-US" sz="21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종이 → 전자</a:t>
            </a:r>
            <a:endParaRPr lang="ko-KR" altLang="en-US" sz="15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예) 종이 공문 → K-에듀파인</a:t>
            </a:r>
            <a:endParaRPr lang="ko-KR" altLang="en-US" sz="1500" dirty="0"/>
          </a:p>
        </p:txBody>
      </p:sp>
      <p:sp>
        <p:nvSpPr>
          <p:cNvPr id="14" name="Arrow 14"/>
          <p:cNvSpPr/>
          <p:nvPr/>
        </p:nvSpPr>
        <p:spPr>
          <a:xfrm>
            <a:off x="3922776" y="2880360"/>
            <a:ext cx="420624" cy="457200"/>
          </a:xfrm>
          <a:prstGeom prst="rightArrow">
            <a:avLst/>
          </a:prstGeom>
          <a:solidFill>
            <a:srgbClr val="4A4AC1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ko-KR" altLang="en-US"/>
          </a:p>
        </p:txBody>
      </p:sp>
      <p:sp>
        <p:nvSpPr>
          <p:cNvPr id="15" name="Card 15"/>
          <p:cNvSpPr/>
          <p:nvPr/>
        </p:nvSpPr>
        <p:spPr>
          <a:xfrm>
            <a:off x="4471416" y="2057400"/>
            <a:ext cx="32461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164592" rIns="182880" bIns="109728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ko-KR" altLang="en-US" sz="21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DX  디지털 전환</a:t>
            </a:r>
            <a:endParaRPr lang="ko-KR" altLang="en-US" sz="21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업무 방식의 디지털화</a:t>
            </a:r>
            <a:endParaRPr lang="ko-KR" altLang="en-US" sz="15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예) 구글 설문 수요 조사, 공유 드라이브</a:t>
            </a:r>
            <a:endParaRPr lang="ko-KR" altLang="en-US" sz="1500" dirty="0"/>
          </a:p>
        </p:txBody>
      </p:sp>
      <p:sp>
        <p:nvSpPr>
          <p:cNvPr id="16" name="Arrow 16"/>
          <p:cNvSpPr/>
          <p:nvPr/>
        </p:nvSpPr>
        <p:spPr>
          <a:xfrm>
            <a:off x="7845552" y="2880360"/>
            <a:ext cx="420624" cy="457200"/>
          </a:xfrm>
          <a:prstGeom prst="rightArrow">
            <a:avLst/>
          </a:prstGeom>
          <a:solidFill>
            <a:srgbClr val="4A4AC1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ko-KR" altLang="en-US"/>
          </a:p>
        </p:txBody>
      </p:sp>
      <p:sp>
        <p:nvSpPr>
          <p:cNvPr id="17" name="Card 17"/>
          <p:cNvSpPr/>
          <p:nvPr/>
        </p:nvSpPr>
        <p:spPr>
          <a:xfrm>
            <a:off x="8394192" y="2057400"/>
            <a:ext cx="3246120" cy="2103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164592" rIns="182880" bIns="109728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ko-KR" altLang="en-US" sz="21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AX  AI 전환</a:t>
            </a:r>
            <a:endParaRPr lang="ko-KR" altLang="en-US" sz="2100" dirty="0"/>
          </a:p>
          <a:p>
            <a:pPr algn="l" marL="228600" indent="-228600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AI가 업무 과정의 일부를 수행</a:t>
            </a:r>
            <a:endParaRPr lang="ko-KR" altLang="en-US" sz="1500" dirty="0"/>
          </a:p>
          <a:p>
            <a:pPr algn="l" marL="228600" indent="-228600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예) Gem이 기안문·가정통신문·계획서 초안 작성</a:t>
            </a:r>
            <a:endParaRPr lang="ko-KR" altLang="en-US" sz="1500" dirty="0"/>
          </a:p>
        </p:txBody>
      </p:sp>
      <p:sp>
        <p:nvSpPr>
          <p:cNvPr id="18" name="Callout 18"/>
          <p:cNvSpPr/>
          <p:nvPr/>
        </p:nvSpPr>
        <p:spPr>
          <a:xfrm>
            <a:off x="548640" y="4572000"/>
            <a:ext cx="11091672" cy="502920"/>
          </a:xfrm>
          <a:prstGeom prst="roundRect">
            <a:avLst>
              <a:gd name="adj" fmla="val 30000"/>
            </a:avLst>
          </a:prstGeom>
          <a:solidFill>
            <a:srgbClr val="E6E8FA"/>
          </a:solidFill>
          <a:ln>
            <a:noFill/>
          </a:ln>
        </p:spPr>
        <p:txBody>
          <a:bodyPr wrap="square" lIns="274320" tIns="0" rIns="274320" bIns="0" rtlCol="0" anchor="ctr">
            <a:noAutofit/>
          </a:bodyPr>
          <a:lstStyle/>
          <a:p>
            <a:pPr algn="l">
              <a:buNone/>
            </a:pPr>
            <a:r>
              <a:rPr lang="ko-KR" altLang="en-US" sz="1300" b="0" dirty="0">
                <a:solidFill>
                  <a:srgbClr val="1720AF"/>
                </a:solidFill>
                <a:latin typeface="Pretendard SemiBold"/>
                <a:ea typeface="Pretendard SemiBold"/>
                <a:cs typeface="Pretendard SemiBold"/>
              </a:rPr>
              <a:t xml:space="preserve">오늘의 목표: 개인의 DX를 넘어, 학교 조직 전체의 AX로</a:t>
            </a:r>
            <a:endParaRPr lang="ko-KR" alt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1부 · 업무 발굴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AI 적용 업무 고르기 — ‘반 · 정 · 문 · 검’</a:t>
            </a:r>
            <a:endParaRPr lang="ko-KR" altLang="en-US" sz="2400" dirty="0"/>
          </a:p>
        </p:txBody>
      </p:sp>
      <p:sp>
        <p:nvSpPr>
          <p:cNvPr id="13" name="Criterion 13"/>
          <p:cNvSpPr/>
          <p:nvPr/>
        </p:nvSpPr>
        <p:spPr>
          <a:xfrm>
            <a:off x="548640" y="1691640"/>
            <a:ext cx="2601468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182880" rIns="182880" bIns="137160" rtlCol="0" anchor="t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ko-KR" altLang="en-US" sz="3000" b="0" dirty="0">
                <a:solidFill>
                  <a:srgbClr val="5653C5"/>
                </a:solidFill>
                <a:latin typeface="Pretendard ExtraBold"/>
                <a:ea typeface="Pretendard ExtraBold"/>
                <a:cs typeface="Pretendard ExtraBold"/>
              </a:rPr>
              <a:t xml:space="preserve">반  </a:t>
            </a:r>
            <a:r>
              <a:rPr lang="ko-KR" altLang="en-US" sz="19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반복성</a:t>
            </a:r>
            <a:endParaRPr lang="ko-KR" altLang="en-US" sz="1400" dirty="0"/>
          </a:p>
          <a:p>
            <a:pPr algn="l">
              <a:lnSpc>
                <a:spcPct val="115000"/>
              </a:lnSpc>
              <a:spcAft>
                <a:spcPts val="1400"/>
              </a:spcAft>
              <a:buNone/>
            </a:pPr>
            <a:r>
              <a:rPr lang="ko-KR" altLang="en-US" sz="1500" b="0" dirty="0">
                <a:solidFill>
                  <a:srgbClr val="1F2340"/>
                </a:solidFill>
                <a:latin typeface="Pretendard SemiBold"/>
                <a:ea typeface="Pretendard SemiBold"/>
                <a:cs typeface="Pretendard SemiBold"/>
              </a:rPr>
              <a:t xml:space="preserve">주기적으로 반복되는가?</a:t>
            </a:r>
            <a:endParaRPr lang="ko-KR" altLang="en-US" sz="1500" dirty="0"/>
          </a:p>
          <a:p>
            <a:pPr algn="l">
              <a:spcAft>
                <a:spcPts val="600"/>
              </a:spcAft>
              <a:buNone/>
            </a:pPr>
            <a:r>
              <a:rPr lang="ko-KR" altLang="en-US" sz="1300" b="0" dirty="0">
                <a:solidFill>
                  <a:srgbClr val="1E9E5A"/>
                </a:solidFill>
                <a:latin typeface="Pretendard ExtraBold"/>
                <a:ea typeface="Pretendard ExtraBold"/>
                <a:cs typeface="Pretendard ExtraBold"/>
              </a:rPr>
              <a:t xml:space="preserve">적합  </a:t>
            </a: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월별 가정통신문</a:t>
            </a:r>
            <a:endParaRPr lang="ko-KR" altLang="en-US" sz="1400" dirty="0"/>
          </a:p>
          <a:p>
            <a:pPr algn="l">
              <a:buNone/>
            </a:pPr>
            <a:r>
              <a:rPr lang="ko-KR" altLang="en-US" sz="1300" b="0" dirty="0">
                <a:solidFill>
                  <a:srgbClr val="D64545"/>
                </a:solidFill>
                <a:latin typeface="Pretendard ExtraBold"/>
                <a:ea typeface="Pretendard ExtraBold"/>
                <a:cs typeface="Pretendard ExtraBold"/>
              </a:rPr>
              <a:t xml:space="preserve">부적합  </a:t>
            </a: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일회성 특수 민원</a:t>
            </a:r>
            <a:endParaRPr lang="ko-KR" altLang="en-US" sz="1400" dirty="0"/>
          </a:p>
        </p:txBody>
      </p:sp>
      <p:sp>
        <p:nvSpPr>
          <p:cNvPr id="14" name="Criterion 14"/>
          <p:cNvSpPr/>
          <p:nvPr/>
        </p:nvSpPr>
        <p:spPr>
          <a:xfrm>
            <a:off x="3378708" y="1691640"/>
            <a:ext cx="2601468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182880" rIns="182880" bIns="137160" rtlCol="0" anchor="t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ko-KR" altLang="en-US" sz="3000" b="0" dirty="0">
                <a:solidFill>
                  <a:srgbClr val="5653C5"/>
                </a:solidFill>
                <a:latin typeface="Pretendard ExtraBold"/>
                <a:ea typeface="Pretendard ExtraBold"/>
                <a:cs typeface="Pretendard ExtraBold"/>
              </a:rPr>
              <a:t xml:space="preserve">정  </a:t>
            </a:r>
            <a:r>
              <a:rPr lang="ko-KR" altLang="en-US" sz="19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정형성</a:t>
            </a:r>
            <a:endParaRPr lang="ko-KR" altLang="en-US" sz="1400" dirty="0"/>
          </a:p>
          <a:p>
            <a:pPr algn="l">
              <a:lnSpc>
                <a:spcPct val="115000"/>
              </a:lnSpc>
              <a:spcAft>
                <a:spcPts val="1400"/>
              </a:spcAft>
              <a:buNone/>
            </a:pPr>
            <a:r>
              <a:rPr lang="ko-KR" altLang="en-US" sz="1500" b="0" dirty="0">
                <a:solidFill>
                  <a:srgbClr val="1F2340"/>
                </a:solidFill>
                <a:latin typeface="Pretendard SemiBold"/>
                <a:ea typeface="Pretendard SemiBold"/>
                <a:cs typeface="Pretendard SemiBold"/>
              </a:rPr>
              <a:t xml:space="preserve">정해진 양식·규칙이 있는가?</a:t>
            </a:r>
            <a:endParaRPr lang="ko-KR" altLang="en-US" sz="1500" dirty="0"/>
          </a:p>
          <a:p>
            <a:pPr algn="l">
              <a:spcAft>
                <a:spcPts val="600"/>
              </a:spcAft>
              <a:buNone/>
            </a:pPr>
            <a:r>
              <a:rPr lang="ko-KR" altLang="en-US" sz="1300" b="0" dirty="0">
                <a:solidFill>
                  <a:srgbClr val="1E9E5A"/>
                </a:solidFill>
                <a:latin typeface="Pretendard ExtraBold"/>
                <a:ea typeface="Pretendard ExtraBold"/>
                <a:cs typeface="Pretendard ExtraBold"/>
              </a:rPr>
              <a:t xml:space="preserve">적합  </a:t>
            </a: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기안문, 계획서</a:t>
            </a:r>
            <a:endParaRPr lang="ko-KR" altLang="en-US" sz="1400" dirty="0"/>
          </a:p>
          <a:p>
            <a:pPr algn="l">
              <a:buNone/>
            </a:pPr>
            <a:r>
              <a:rPr lang="ko-KR" altLang="en-US" sz="1300" b="0" dirty="0">
                <a:solidFill>
                  <a:srgbClr val="D64545"/>
                </a:solidFill>
                <a:latin typeface="Pretendard ExtraBold"/>
                <a:ea typeface="Pretendard ExtraBold"/>
                <a:cs typeface="Pretendard ExtraBold"/>
              </a:rPr>
              <a:t xml:space="preserve">부적합  </a:t>
            </a: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정답 없는 갈등 조정</a:t>
            </a:r>
            <a:endParaRPr lang="ko-KR" altLang="en-US" sz="1400" dirty="0"/>
          </a:p>
        </p:txBody>
      </p:sp>
      <p:sp>
        <p:nvSpPr>
          <p:cNvPr id="15" name="Criterion 15"/>
          <p:cNvSpPr/>
          <p:nvPr/>
        </p:nvSpPr>
        <p:spPr>
          <a:xfrm>
            <a:off x="6208776" y="1691640"/>
            <a:ext cx="2601468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182880" rIns="182880" bIns="137160" rtlCol="0" anchor="t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ko-KR" altLang="en-US" sz="3000" b="0" dirty="0">
                <a:solidFill>
                  <a:srgbClr val="5653C5"/>
                </a:solidFill>
                <a:latin typeface="Pretendard ExtraBold"/>
                <a:ea typeface="Pretendard ExtraBold"/>
                <a:cs typeface="Pretendard ExtraBold"/>
              </a:rPr>
              <a:t xml:space="preserve">문  </a:t>
            </a:r>
            <a:r>
              <a:rPr lang="ko-KR" altLang="en-US" sz="19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문서성</a:t>
            </a:r>
            <a:endParaRPr lang="ko-KR" altLang="en-US" sz="1400" dirty="0"/>
          </a:p>
          <a:p>
            <a:pPr algn="l">
              <a:lnSpc>
                <a:spcPct val="115000"/>
              </a:lnSpc>
              <a:spcAft>
                <a:spcPts val="1400"/>
              </a:spcAft>
              <a:buNone/>
            </a:pPr>
            <a:r>
              <a:rPr lang="ko-KR" altLang="en-US" sz="1500" b="0" dirty="0">
                <a:solidFill>
                  <a:srgbClr val="1F2340"/>
                </a:solidFill>
                <a:latin typeface="Pretendard SemiBold"/>
                <a:ea typeface="Pretendard SemiBold"/>
                <a:cs typeface="Pretendard SemiBold"/>
              </a:rPr>
              <a:t xml:space="preserve">결과물이 텍스트·문서인가?</a:t>
            </a:r>
            <a:endParaRPr lang="ko-KR" altLang="en-US" sz="1500" dirty="0"/>
          </a:p>
          <a:p>
            <a:pPr algn="l">
              <a:spcAft>
                <a:spcPts val="600"/>
              </a:spcAft>
              <a:buNone/>
            </a:pPr>
            <a:r>
              <a:rPr lang="ko-KR" altLang="en-US" sz="1300" b="0" dirty="0">
                <a:solidFill>
                  <a:srgbClr val="1E9E5A"/>
                </a:solidFill>
                <a:latin typeface="Pretendard ExtraBold"/>
                <a:ea typeface="Pretendard ExtraBold"/>
                <a:cs typeface="Pretendard ExtraBold"/>
              </a:rPr>
              <a:t xml:space="preserve">적합  </a:t>
            </a: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안내문, 회의록</a:t>
            </a:r>
            <a:endParaRPr lang="ko-KR" altLang="en-US" sz="1400" dirty="0"/>
          </a:p>
          <a:p>
            <a:pPr algn="l">
              <a:buNone/>
            </a:pPr>
            <a:r>
              <a:rPr lang="ko-KR" altLang="en-US" sz="1300" b="0" dirty="0">
                <a:solidFill>
                  <a:srgbClr val="D64545"/>
                </a:solidFill>
                <a:latin typeface="Pretendard ExtraBold"/>
                <a:ea typeface="Pretendard ExtraBold"/>
                <a:cs typeface="Pretendard ExtraBold"/>
              </a:rPr>
              <a:t xml:space="preserve">부적합  </a:t>
            </a: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대면 상담</a:t>
            </a:r>
            <a:endParaRPr lang="ko-KR" altLang="en-US" sz="1400" dirty="0"/>
          </a:p>
        </p:txBody>
      </p:sp>
      <p:sp>
        <p:nvSpPr>
          <p:cNvPr id="16" name="Criterion 16"/>
          <p:cNvSpPr/>
          <p:nvPr/>
        </p:nvSpPr>
        <p:spPr>
          <a:xfrm>
            <a:off x="9038844" y="1691640"/>
            <a:ext cx="2601468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182880" rIns="182880" bIns="137160" rtlCol="0" anchor="t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ko-KR" altLang="en-US" sz="3000" b="0" dirty="0">
                <a:solidFill>
                  <a:srgbClr val="5653C5"/>
                </a:solidFill>
                <a:latin typeface="Pretendard ExtraBold"/>
                <a:ea typeface="Pretendard ExtraBold"/>
                <a:cs typeface="Pretendard ExtraBold"/>
              </a:rPr>
              <a:t xml:space="preserve">검  </a:t>
            </a:r>
            <a:r>
              <a:rPr lang="ko-KR" altLang="en-US" sz="19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검증성</a:t>
            </a:r>
            <a:endParaRPr lang="ko-KR" altLang="en-US" sz="1400" dirty="0"/>
          </a:p>
          <a:p>
            <a:pPr algn="l">
              <a:lnSpc>
                <a:spcPct val="115000"/>
              </a:lnSpc>
              <a:spcAft>
                <a:spcPts val="1400"/>
              </a:spcAft>
              <a:buNone/>
            </a:pPr>
            <a:r>
              <a:rPr lang="ko-KR" altLang="en-US" sz="1500" b="0" dirty="0">
                <a:solidFill>
                  <a:srgbClr val="1F2340"/>
                </a:solidFill>
                <a:latin typeface="Pretendard SemiBold"/>
                <a:ea typeface="Pretendard SemiBold"/>
                <a:cs typeface="Pretendard SemiBold"/>
              </a:rPr>
              <a:t xml:space="preserve">사람이 쉽게 검토·수정할 수 있는가?</a:t>
            </a:r>
            <a:endParaRPr lang="ko-KR" altLang="en-US" sz="1500" dirty="0"/>
          </a:p>
          <a:p>
            <a:pPr algn="l">
              <a:spcAft>
                <a:spcPts val="600"/>
              </a:spcAft>
              <a:buNone/>
            </a:pPr>
            <a:r>
              <a:rPr lang="ko-KR" altLang="en-US" sz="1300" b="0" dirty="0">
                <a:solidFill>
                  <a:srgbClr val="1E9E5A"/>
                </a:solidFill>
                <a:latin typeface="Pretendard ExtraBold"/>
                <a:ea typeface="Pretendard ExtraBold"/>
                <a:cs typeface="Pretendard ExtraBold"/>
              </a:rPr>
              <a:t xml:space="preserve">적합  </a:t>
            </a: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초안 작성</a:t>
            </a:r>
            <a:endParaRPr lang="ko-KR" altLang="en-US" sz="1400" dirty="0"/>
          </a:p>
          <a:p>
            <a:pPr algn="l">
              <a:buNone/>
            </a:pPr>
            <a:r>
              <a:rPr lang="ko-KR" altLang="en-US" sz="1300" b="0" dirty="0">
                <a:solidFill>
                  <a:srgbClr val="D64545"/>
                </a:solidFill>
                <a:latin typeface="Pretendard ExtraBold"/>
                <a:ea typeface="Pretendard ExtraBold"/>
                <a:cs typeface="Pretendard ExtraBold"/>
              </a:rPr>
              <a:t xml:space="preserve">부적합  </a:t>
            </a: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최종 결재·판단</a:t>
            </a:r>
            <a:endParaRPr lang="ko-KR" altLang="en-US" sz="1400" dirty="0"/>
          </a:p>
        </p:txBody>
      </p:sp>
      <p:sp>
        <p:nvSpPr>
          <p:cNvPr id="17" name="Callout 17"/>
          <p:cNvSpPr/>
          <p:nvPr/>
        </p:nvSpPr>
        <p:spPr>
          <a:xfrm>
            <a:off x="548640" y="4572000"/>
            <a:ext cx="11091672" cy="502920"/>
          </a:xfrm>
          <a:prstGeom prst="roundRect">
            <a:avLst>
              <a:gd name="adj" fmla="val 30000"/>
            </a:avLst>
          </a:prstGeom>
          <a:solidFill>
            <a:srgbClr val="E6E8FA"/>
          </a:solidFill>
          <a:ln>
            <a:noFill/>
          </a:ln>
        </p:spPr>
        <p:txBody>
          <a:bodyPr wrap="square" lIns="274320" tIns="0" rIns="274320" bIns="0" rtlCol="0" anchor="ctr">
            <a:noAutofit/>
          </a:bodyPr>
          <a:lstStyle/>
          <a:p>
            <a:pPr algn="l">
              <a:buNone/>
            </a:pPr>
            <a:r>
              <a:rPr lang="ko-KR" altLang="en-US" sz="1300" b="0" dirty="0">
                <a:solidFill>
                  <a:srgbClr val="1720AF"/>
                </a:solidFill>
                <a:latin typeface="Pretendard SemiBold"/>
                <a:ea typeface="Pretendard SemiBold"/>
                <a:cs typeface="Pretendard SemiBold"/>
              </a:rPr>
              <a:t xml:space="preserve">4개 중 3개 이상 ‘예’ → AI 비서 전환 우선 후보!  도입부 포스트잇 업무를 시트에 옮겨 판정해 봅니다.</a:t>
            </a:r>
            <a:endParaRPr lang="ko-KR" alt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1부 · 업무 발굴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부서별 AI 적용 업무 맵</a:t>
            </a:r>
            <a:endParaRPr lang="ko-KR" altLang="en-US" sz="2400" dirty="0"/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548640" y="1737360"/>
          <a:ext cx="11091672" cy="3950208"/>
        </p:xfrm>
        <a:graphic>
          <a:graphicData uri="http://schemas.openxmlformats.org/drawingml/2006/table">
            <a:tbl>
              <a:tblPr firstRow="1" bandRow="1"/>
              <a:tblGrid>
                <a:gridCol w="1027007"/>
                <a:gridCol w="4313428"/>
                <a:gridCol w="3286421"/>
                <a:gridCol w="2464816"/>
              </a:tblGrid>
              <a:tr h="6583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부서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반복 업무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AI 비서 역할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기대 효과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교무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E6E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학사일정 안내, 기안문, 각종 계획서, 회의 자료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공문 초안 생성, 회의록 정리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초안 작성 시간 단축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연구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E6E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공개수업 계획, 수업 나눔 안내, 연수 결과 보고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기획안 초안, 결과보고서 구조화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보고서 품질 표준화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생활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E6E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생활교육 안내, 예방교육 안내, 상벌점 안내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가정통신문·안내 문자 초안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학부모 소통 품질 향상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행정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E6E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물품 구입 기안, 시설 공사 안내, 예산 집행 계획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기안문·안내문 초안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규정 준수 오류 감소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관리자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E6E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교직원 협의회 안건, 학교운영위원회 자료, 인사말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회의 자료 요약, 인사말 초안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의사결정 준비 시간 단축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1부 · Gem 원리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Custom Gem은 어떻게 작동하나</a:t>
            </a:r>
            <a:endParaRPr lang="ko-KR" altLang="en-US" sz="2400" dirty="0"/>
          </a:p>
        </p:txBody>
      </p:sp>
      <p:sp>
        <p:nvSpPr>
          <p:cNvPr id="13" name="Input 13"/>
          <p:cNvSpPr/>
          <p:nvPr/>
        </p:nvSpPr>
        <p:spPr>
          <a:xfrm>
            <a:off x="548640" y="2651760"/>
            <a:ext cx="27432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Aft>
                <a:spcPts val="800"/>
              </a:spcAft>
              <a:buNone/>
            </a:pPr>
            <a:r>
              <a:rPr lang="ko-KR" altLang="en-US" sz="150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사용자 입력</a:t>
            </a:r>
            <a:endParaRPr lang="ko-KR" altLang="en-US" sz="1500" dirty="0"/>
          </a:p>
          <a:p>
            <a:pPr algn="ctr">
              <a:buNone/>
            </a:pPr>
            <a:r>
              <a:rPr lang="ko-KR" altLang="en-US" sz="17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“11월 가정통신문</a:t>
            </a:r>
            <a:endParaRPr lang="ko-KR" altLang="en-US" sz="1700" dirty="0"/>
          </a:p>
          <a:p>
            <a:pPr algn="ctr">
              <a:buNone/>
            </a:pPr>
            <a:r>
              <a:rPr lang="ko-KR" altLang="en-US" sz="17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만들어줘”</a:t>
            </a:r>
            <a:endParaRPr lang="ko-KR" altLang="en-US" sz="1700" dirty="0"/>
          </a:p>
        </p:txBody>
      </p:sp>
      <p:sp>
        <p:nvSpPr>
          <p:cNvPr id="14" name="Arrow 14"/>
          <p:cNvSpPr/>
          <p:nvPr/>
        </p:nvSpPr>
        <p:spPr>
          <a:xfrm>
            <a:off x="3429000" y="3337560"/>
            <a:ext cx="457200" cy="457200"/>
          </a:xfrm>
          <a:prstGeom prst="rightArrow">
            <a:avLst/>
          </a:prstGeom>
          <a:solidFill>
            <a:srgbClr val="4A4AC1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ko-KR" altLang="en-US"/>
          </a:p>
        </p:txBody>
      </p:sp>
      <p:sp>
        <p:nvSpPr>
          <p:cNvPr id="15" name="Gem 15"/>
          <p:cNvSpPr/>
          <p:nvPr/>
        </p:nvSpPr>
        <p:spPr>
          <a:xfrm>
            <a:off x="4023360" y="1691640"/>
            <a:ext cx="4160520" cy="379476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109728" tIns="73152" rIns="109728" bIns="73152" rtlCol="0" anchor="t">
            <a:noAutofit/>
          </a:bodyPr>
          <a:lstStyle/>
          <a:p>
            <a:endParaRPr lang="ko-KR" altLang="en-US"/>
          </a:p>
        </p:txBody>
      </p:sp>
      <p:sp>
        <p:nvSpPr>
          <p:cNvPr id="16" name="Text 16"/>
          <p:cNvSpPr txBox="1"/>
          <p:nvPr/>
        </p:nvSpPr>
        <p:spPr>
          <a:xfrm>
            <a:off x="4023360" y="182880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9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Custom Gem</a:t>
            </a:r>
            <a:endParaRPr lang="ko-KR" altLang="en-US" sz="1900" dirty="0"/>
          </a:p>
        </p:txBody>
      </p:sp>
      <p:sp>
        <p:nvSpPr>
          <p:cNvPr id="17" name="Gem part 17"/>
          <p:cNvSpPr/>
          <p:nvPr/>
        </p:nvSpPr>
        <p:spPr>
          <a:xfrm>
            <a:off x="4251960" y="2331720"/>
            <a:ext cx="3703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182880" tIns="45720" rIns="137160" bIns="45720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① 이름</a:t>
            </a:r>
            <a:endParaRPr lang="ko-KR" altLang="en-US" sz="1400" dirty="0"/>
          </a:p>
          <a:p>
            <a:pPr algn="l">
              <a:lnSpc>
                <a:spcPct val="110000"/>
              </a:lnSpc>
              <a:buNone/>
            </a:pPr>
            <a:r>
              <a:rPr lang="ko-KR" altLang="en-US" sz="13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정보중 가정통신문 빌더</a:t>
            </a:r>
            <a:endParaRPr lang="ko-KR" altLang="en-US" sz="1300" dirty="0"/>
          </a:p>
        </p:txBody>
      </p:sp>
      <p:sp>
        <p:nvSpPr>
          <p:cNvPr id="18" name="Gem part 18"/>
          <p:cNvSpPr/>
          <p:nvPr/>
        </p:nvSpPr>
        <p:spPr>
          <a:xfrm>
            <a:off x="4251960" y="3355848"/>
            <a:ext cx="3703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182880" tIns="45720" rIns="137160" bIns="45720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② 요청사항 (System Prompt)</a:t>
            </a:r>
            <a:endParaRPr lang="ko-KR" altLang="en-US" sz="1400" dirty="0"/>
          </a:p>
          <a:p>
            <a:pPr algn="l">
              <a:lnSpc>
                <a:spcPct val="110000"/>
              </a:lnSpc>
              <a:buNone/>
            </a:pPr>
            <a:r>
              <a:rPr lang="ko-KR" altLang="en-US" sz="13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역할 · 목표 · 작업 절차 · 출력 형식 · 금지사항</a:t>
            </a:r>
            <a:endParaRPr lang="ko-KR" altLang="en-US" sz="1300" dirty="0"/>
          </a:p>
        </p:txBody>
      </p:sp>
      <p:sp>
        <p:nvSpPr>
          <p:cNvPr id="19" name="Gem part 19"/>
          <p:cNvSpPr/>
          <p:nvPr/>
        </p:nvSpPr>
        <p:spPr>
          <a:xfrm>
            <a:off x="4251960" y="4379976"/>
            <a:ext cx="3703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182880" tIns="45720" rIns="137160" bIns="45720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③ 지식 (Knowledge · Drive)</a:t>
            </a:r>
            <a:endParaRPr lang="ko-KR" altLang="en-US" sz="1400" dirty="0"/>
          </a:p>
          <a:p>
            <a:pPr algn="l">
              <a:lnSpc>
                <a:spcPct val="110000"/>
              </a:lnSpc>
              <a:buNone/>
            </a:pPr>
            <a:r>
              <a:rPr lang="ko-KR" altLang="en-US" sz="13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가정통신문 양식 · 2026 학사일정 시트 · 학교 기본정보</a:t>
            </a:r>
            <a:endParaRPr lang="ko-KR" altLang="en-US" sz="1300" dirty="0"/>
          </a:p>
        </p:txBody>
      </p:sp>
      <p:sp>
        <p:nvSpPr>
          <p:cNvPr id="20" name="Arrow 20"/>
          <p:cNvSpPr/>
          <p:nvPr/>
        </p:nvSpPr>
        <p:spPr>
          <a:xfrm>
            <a:off x="8321040" y="3337560"/>
            <a:ext cx="457200" cy="457200"/>
          </a:xfrm>
          <a:prstGeom prst="rightArrow">
            <a:avLst/>
          </a:prstGeom>
          <a:solidFill>
            <a:srgbClr val="4A4AC1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ko-KR" altLang="en-US"/>
          </a:p>
        </p:txBody>
      </p:sp>
      <p:sp>
        <p:nvSpPr>
          <p:cNvPr id="21" name="Output 21"/>
          <p:cNvSpPr/>
          <p:nvPr/>
        </p:nvSpPr>
        <p:spPr>
          <a:xfrm>
            <a:off x="8915400" y="2651760"/>
            <a:ext cx="2724912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Aft>
                <a:spcPts val="800"/>
              </a:spcAft>
              <a:buNone/>
            </a:pPr>
            <a:r>
              <a:rPr lang="ko-KR" altLang="en-US" sz="150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출력</a:t>
            </a:r>
            <a:endParaRPr lang="ko-KR" altLang="en-US" sz="1500" dirty="0"/>
          </a:p>
          <a:p>
            <a:pPr algn="ctr">
              <a:buNone/>
            </a:pPr>
            <a:r>
              <a:rPr lang="ko-KR" altLang="en-US" sz="15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학교 양식 + 학사일정이</a:t>
            </a:r>
            <a:endParaRPr lang="ko-KR" altLang="en-US" sz="1500" dirty="0"/>
          </a:p>
          <a:p>
            <a:pPr algn="ctr">
              <a:buNone/>
            </a:pPr>
            <a:r>
              <a:rPr lang="ko-KR" altLang="en-US" sz="15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반영된 통신문 초안</a:t>
            </a:r>
            <a:endParaRPr lang="ko-KR" altLang="en-US" sz="1500" dirty="0"/>
          </a:p>
        </p:txBody>
      </p:sp>
      <p:sp>
        <p:nvSpPr>
          <p:cNvPr id="22" name="Text 22"/>
          <p:cNvSpPr txBox="1"/>
          <p:nvPr/>
        </p:nvSpPr>
        <p:spPr>
          <a:xfrm>
            <a:off x="548640" y="5623560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40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경로: gemini.google.com → 왼쪽 메뉴 ‘Gem 관리자’ → ‘새 Gem’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1부 · Gem 원리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요청사항 설계 공식 — ‘역 · 목 · 절 · 형 · 금’</a:t>
            </a:r>
            <a:endParaRPr lang="ko-KR" altLang="en-US" sz="2400" dirty="0"/>
          </a:p>
        </p:txBody>
      </p:sp>
      <p:sp>
        <p:nvSpPr>
          <p:cNvPr id="13" name="Key 13"/>
          <p:cNvSpPr/>
          <p:nvPr/>
        </p:nvSpPr>
        <p:spPr>
          <a:xfrm>
            <a:off x="548640" y="1691640"/>
            <a:ext cx="1371600" cy="65836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9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역할</a:t>
            </a:r>
            <a:endParaRPr lang="ko-KR" altLang="en-US" sz="1900" dirty="0"/>
          </a:p>
        </p:txBody>
      </p:sp>
      <p:sp>
        <p:nvSpPr>
          <p:cNvPr id="14" name="Text 14"/>
          <p:cNvSpPr txBox="1"/>
          <p:nvPr/>
        </p:nvSpPr>
        <p:spPr>
          <a:xfrm>
            <a:off x="2103120" y="1691640"/>
            <a:ext cx="21031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500" b="0" dirty="0">
                <a:solidFill>
                  <a:srgbClr val="1720AF"/>
                </a:solidFill>
                <a:latin typeface="Pretendard SemiBold"/>
                <a:ea typeface="Pretendard SemiBold"/>
                <a:cs typeface="Pretendard SemiBold"/>
              </a:rPr>
              <a:t xml:space="preserve">AI의 정체성</a:t>
            </a:r>
            <a:endParaRPr lang="ko-KR" altLang="en-US" sz="1500" dirty="0"/>
          </a:p>
        </p:txBody>
      </p:sp>
      <p:sp>
        <p:nvSpPr>
          <p:cNvPr id="15" name="Example 15"/>
          <p:cNvSpPr/>
          <p:nvPr/>
        </p:nvSpPr>
        <p:spPr>
          <a:xfrm>
            <a:off x="4206240" y="1691640"/>
            <a:ext cx="7434072" cy="658368"/>
          </a:xfrm>
          <a:prstGeom prst="roundRect">
            <a:avLst>
              <a:gd name="adj" fmla="val 20000"/>
            </a:avLst>
          </a:prstGeom>
          <a:solidFill>
            <a:srgbClr val="F1F2FB"/>
          </a:solidFill>
          <a:ln>
            <a:noFill/>
          </a:ln>
        </p:spPr>
        <p:txBody>
          <a:bodyPr wrap="square" lIns="228600" tIns="0" rIns="182880" bIns="0" rtlCol="0" anchor="ctr">
            <a:noAutofit/>
          </a:bodyPr>
          <a:lstStyle/>
          <a:p>
            <a:pPr algn="l"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“너는 정보중학교 교무기획부의 공문서 작성 전문 비서다.”</a:t>
            </a:r>
            <a:endParaRPr lang="ko-KR" altLang="en-US" sz="1400" dirty="0"/>
          </a:p>
        </p:txBody>
      </p:sp>
      <p:sp>
        <p:nvSpPr>
          <p:cNvPr id="16" name="Key 16"/>
          <p:cNvSpPr/>
          <p:nvPr/>
        </p:nvSpPr>
        <p:spPr>
          <a:xfrm>
            <a:off x="548640" y="2478024"/>
            <a:ext cx="1371600" cy="65836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9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목표</a:t>
            </a:r>
            <a:endParaRPr lang="ko-KR" altLang="en-US" sz="1900" dirty="0"/>
          </a:p>
        </p:txBody>
      </p:sp>
      <p:sp>
        <p:nvSpPr>
          <p:cNvPr id="17" name="Text 17"/>
          <p:cNvSpPr txBox="1"/>
          <p:nvPr/>
        </p:nvSpPr>
        <p:spPr>
          <a:xfrm>
            <a:off x="2103120" y="2478024"/>
            <a:ext cx="21031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500" b="0" dirty="0">
                <a:solidFill>
                  <a:srgbClr val="1720AF"/>
                </a:solidFill>
                <a:latin typeface="Pretendard SemiBold"/>
                <a:ea typeface="Pretendard SemiBold"/>
                <a:cs typeface="Pretendard SemiBold"/>
              </a:rPr>
              <a:t xml:space="preserve">무엇을 달성하는가</a:t>
            </a:r>
            <a:endParaRPr lang="ko-KR" altLang="en-US" sz="1500" dirty="0"/>
          </a:p>
        </p:txBody>
      </p:sp>
      <p:sp>
        <p:nvSpPr>
          <p:cNvPr id="18" name="Example 18"/>
          <p:cNvSpPr/>
          <p:nvPr/>
        </p:nvSpPr>
        <p:spPr>
          <a:xfrm>
            <a:off x="4206240" y="2478024"/>
            <a:ext cx="7434072" cy="658368"/>
          </a:xfrm>
          <a:prstGeom prst="roundRect">
            <a:avLst>
              <a:gd name="adj" fmla="val 20000"/>
            </a:avLst>
          </a:prstGeom>
          <a:solidFill>
            <a:srgbClr val="F1F2FB"/>
          </a:solidFill>
          <a:ln>
            <a:noFill/>
          </a:ln>
        </p:spPr>
        <p:txBody>
          <a:bodyPr wrap="square" lIns="228600" tIns="0" rIns="182880" bIns="0" rtlCol="0" anchor="ctr">
            <a:noAutofit/>
          </a:bodyPr>
          <a:lstStyle/>
          <a:p>
            <a:pPr algn="l"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“입력한 핵심 정보로 결재 가능한 수준의 기안문 초안을 만든다.”</a:t>
            </a:r>
            <a:endParaRPr lang="ko-KR" altLang="en-US" sz="1400" dirty="0"/>
          </a:p>
        </p:txBody>
      </p:sp>
      <p:sp>
        <p:nvSpPr>
          <p:cNvPr id="19" name="Key 19"/>
          <p:cNvSpPr/>
          <p:nvPr/>
        </p:nvSpPr>
        <p:spPr>
          <a:xfrm>
            <a:off x="548640" y="3264408"/>
            <a:ext cx="1371600" cy="65836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9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절차</a:t>
            </a:r>
            <a:endParaRPr lang="ko-KR" altLang="en-US" sz="1900" dirty="0"/>
          </a:p>
        </p:txBody>
      </p:sp>
      <p:sp>
        <p:nvSpPr>
          <p:cNvPr id="20" name="Text 20"/>
          <p:cNvSpPr txBox="1"/>
          <p:nvPr/>
        </p:nvSpPr>
        <p:spPr>
          <a:xfrm>
            <a:off x="2103120" y="3264408"/>
            <a:ext cx="21031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500" b="0" dirty="0">
                <a:solidFill>
                  <a:srgbClr val="1720AF"/>
                </a:solidFill>
                <a:latin typeface="Pretendard SemiBold"/>
                <a:ea typeface="Pretendard SemiBold"/>
                <a:cs typeface="Pretendard SemiBold"/>
              </a:rPr>
              <a:t xml:space="preserve">일하는 순서</a:t>
            </a:r>
            <a:endParaRPr lang="ko-KR" altLang="en-US" sz="1500" dirty="0"/>
          </a:p>
        </p:txBody>
      </p:sp>
      <p:sp>
        <p:nvSpPr>
          <p:cNvPr id="21" name="Example 21"/>
          <p:cNvSpPr/>
          <p:nvPr/>
        </p:nvSpPr>
        <p:spPr>
          <a:xfrm>
            <a:off x="4206240" y="3264408"/>
            <a:ext cx="7434072" cy="658368"/>
          </a:xfrm>
          <a:prstGeom prst="roundRect">
            <a:avLst>
              <a:gd name="adj" fmla="val 20000"/>
            </a:avLst>
          </a:prstGeom>
          <a:solidFill>
            <a:srgbClr val="F1F2FB"/>
          </a:solidFill>
          <a:ln>
            <a:noFill/>
          </a:ln>
        </p:spPr>
        <p:txBody>
          <a:bodyPr wrap="square" lIns="228600" tIns="0" rIns="182880" bIns="0" rtlCol="0" anchor="ctr">
            <a:noAutofit/>
          </a:bodyPr>
          <a:lstStyle/>
          <a:p>
            <a:pPr algn="l"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“① 필수 정보 확인 → ② 부족하면 질문 → ③ 초안 작성 → ④ 자체 점검”</a:t>
            </a:r>
            <a:endParaRPr lang="ko-KR" altLang="en-US" sz="1400" dirty="0"/>
          </a:p>
        </p:txBody>
      </p:sp>
      <p:sp>
        <p:nvSpPr>
          <p:cNvPr id="22" name="Key 22"/>
          <p:cNvSpPr/>
          <p:nvPr/>
        </p:nvSpPr>
        <p:spPr>
          <a:xfrm>
            <a:off x="548640" y="4050792"/>
            <a:ext cx="1371600" cy="65836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9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형식</a:t>
            </a:r>
            <a:endParaRPr lang="ko-KR" altLang="en-US" sz="1900" dirty="0"/>
          </a:p>
        </p:txBody>
      </p:sp>
      <p:sp>
        <p:nvSpPr>
          <p:cNvPr id="23" name="Text 23"/>
          <p:cNvSpPr txBox="1"/>
          <p:nvPr/>
        </p:nvSpPr>
        <p:spPr>
          <a:xfrm>
            <a:off x="2103120" y="4050792"/>
            <a:ext cx="21031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500" b="0" dirty="0">
                <a:solidFill>
                  <a:srgbClr val="1720AF"/>
                </a:solidFill>
                <a:latin typeface="Pretendard SemiBold"/>
                <a:ea typeface="Pretendard SemiBold"/>
                <a:cs typeface="Pretendard SemiBold"/>
              </a:rPr>
              <a:t xml:space="preserve">출력 모양</a:t>
            </a:r>
            <a:endParaRPr lang="ko-KR" altLang="en-US" sz="1500" dirty="0"/>
          </a:p>
        </p:txBody>
      </p:sp>
      <p:sp>
        <p:nvSpPr>
          <p:cNvPr id="24" name="Example 24"/>
          <p:cNvSpPr/>
          <p:nvPr/>
        </p:nvSpPr>
        <p:spPr>
          <a:xfrm>
            <a:off x="4206240" y="4050792"/>
            <a:ext cx="7434072" cy="658368"/>
          </a:xfrm>
          <a:prstGeom prst="roundRect">
            <a:avLst>
              <a:gd name="adj" fmla="val 20000"/>
            </a:avLst>
          </a:prstGeom>
          <a:solidFill>
            <a:srgbClr val="F1F2FB"/>
          </a:solidFill>
          <a:ln>
            <a:noFill/>
          </a:ln>
        </p:spPr>
        <p:txBody>
          <a:bodyPr wrap="square" lIns="228600" tIns="0" rIns="182880" bIns="0" rtlCol="0" anchor="ctr">
            <a:noAutofit/>
          </a:bodyPr>
          <a:lstStyle/>
          <a:p>
            <a:pPr algn="l"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“항목 기호(1. 가. 1) 가))를 사용하고 ‘끝.’으로 마친다.”</a:t>
            </a:r>
            <a:endParaRPr lang="ko-KR" altLang="en-US" sz="1400" dirty="0"/>
          </a:p>
        </p:txBody>
      </p:sp>
      <p:sp>
        <p:nvSpPr>
          <p:cNvPr id="25" name="Key 25"/>
          <p:cNvSpPr/>
          <p:nvPr/>
        </p:nvSpPr>
        <p:spPr>
          <a:xfrm>
            <a:off x="548640" y="4837176"/>
            <a:ext cx="1371600" cy="65836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9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금지</a:t>
            </a:r>
            <a:endParaRPr lang="ko-KR" altLang="en-US" sz="1900" dirty="0"/>
          </a:p>
        </p:txBody>
      </p:sp>
      <p:sp>
        <p:nvSpPr>
          <p:cNvPr id="26" name="Text 26"/>
          <p:cNvSpPr txBox="1"/>
          <p:nvPr/>
        </p:nvSpPr>
        <p:spPr>
          <a:xfrm>
            <a:off x="2103120" y="4837176"/>
            <a:ext cx="21031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500" b="0" dirty="0">
                <a:solidFill>
                  <a:srgbClr val="1720AF"/>
                </a:solidFill>
                <a:latin typeface="Pretendard SemiBold"/>
                <a:ea typeface="Pretendard SemiBold"/>
                <a:cs typeface="Pretendard SemiBold"/>
              </a:rPr>
              <a:t xml:space="preserve">하지 말아야 할 것</a:t>
            </a:r>
            <a:endParaRPr lang="ko-KR" altLang="en-US" sz="1500" dirty="0"/>
          </a:p>
        </p:txBody>
      </p:sp>
      <p:sp>
        <p:nvSpPr>
          <p:cNvPr id="27" name="Example 27"/>
          <p:cNvSpPr/>
          <p:nvPr/>
        </p:nvSpPr>
        <p:spPr>
          <a:xfrm>
            <a:off x="4206240" y="4837176"/>
            <a:ext cx="7434072" cy="658368"/>
          </a:xfrm>
          <a:prstGeom prst="roundRect">
            <a:avLst>
              <a:gd name="adj" fmla="val 20000"/>
            </a:avLst>
          </a:prstGeom>
          <a:solidFill>
            <a:srgbClr val="F1F2FB"/>
          </a:solidFill>
          <a:ln>
            <a:noFill/>
          </a:ln>
        </p:spPr>
        <p:txBody>
          <a:bodyPr wrap="square" lIns="228600" tIns="0" rIns="182880" bIns="0" rtlCol="0" anchor="ctr">
            <a:noAutofit/>
          </a:bodyPr>
          <a:lstStyle/>
          <a:p>
            <a:pPr algn="l"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“근거 없는 법령·수치를 지어내지 않는다. 개인정보를 요구하지 않는다.”</a:t>
            </a:r>
            <a:endParaRPr lang="ko-KR" altLang="en-US" sz="1400" dirty="0"/>
          </a:p>
        </p:txBody>
      </p:sp>
      <p:sp>
        <p:nvSpPr>
          <p:cNvPr id="28" name="Callout 28"/>
          <p:cNvSpPr/>
          <p:nvPr/>
        </p:nvSpPr>
        <p:spPr>
          <a:xfrm>
            <a:off x="548640" y="5669280"/>
            <a:ext cx="11091672" cy="411480"/>
          </a:xfrm>
          <a:prstGeom prst="roundRect">
            <a:avLst>
              <a:gd name="adj" fmla="val 30000"/>
            </a:avLst>
          </a:prstGeom>
          <a:solidFill>
            <a:srgbClr val="E6E8FA"/>
          </a:solidFill>
          <a:ln>
            <a:noFill/>
          </a:ln>
        </p:spPr>
        <p:txBody>
          <a:bodyPr wrap="square" lIns="274320" tIns="0" rIns="274320" bIns="0" rtlCol="0" anchor="ctr">
            <a:noAutofit/>
          </a:bodyPr>
          <a:lstStyle/>
          <a:p>
            <a:pPr algn="l">
              <a:buNone/>
            </a:pPr>
            <a:r>
              <a:rPr lang="ko-KR" altLang="en-US" sz="1300" b="0" dirty="0">
                <a:solidFill>
                  <a:srgbClr val="1720AF"/>
                </a:solidFill>
                <a:latin typeface="Pretendard SemiBold"/>
                <a:ea typeface="Pretendard SemiBold"/>
                <a:cs typeface="Pretendard SemiBold"/>
              </a:rPr>
              <a:t xml:space="preserve">꿀팁 — 요청사항 입력란의 ‘마법봉(Gemini로 다시 작성)’으로 초안을 확장하고, 관리자는 학교 규칙을 덧붙이는 데 집중하세요.</a:t>
            </a:r>
            <a:endParaRPr lang="ko-KR" alt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1부 · Gem 원리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지식(Knowledge) 연동의 원리</a:t>
            </a:r>
            <a:endParaRPr lang="ko-KR" altLang="en-US" sz="2400" dirty="0"/>
          </a:p>
        </p:txBody>
      </p:sp>
      <p:sp>
        <p:nvSpPr>
          <p:cNvPr id="13" name="Principle 13"/>
          <p:cNvSpPr/>
          <p:nvPr/>
        </p:nvSpPr>
        <p:spPr>
          <a:xfrm>
            <a:off x="548640" y="1691640"/>
            <a:ext cx="11091672" cy="11430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320040" tIns="91440" rIns="274320" bIns="91440" rtlCol="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ko-KR" altLang="en-US" sz="16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Gem 편집 화면 ‘지식’ 영역 → 파일 업로드 또는 Google Drive에서 추가</a:t>
            </a:r>
            <a:endParaRPr lang="ko-KR" altLang="en-US" sz="1600" dirty="0"/>
          </a:p>
          <a:p>
            <a:pPr algn="l">
              <a:buNone/>
            </a:pPr>
            <a:r>
              <a:rPr lang="ko-KR" altLang="en-US" sz="1500" b="0" dirty="0">
                <a:solidFill>
                  <a:srgbClr val="DDE0FF"/>
                </a:solidFill>
                <a:latin typeface="Pretendard SemiBold"/>
                <a:ea typeface="Pretendard SemiBold"/>
                <a:cs typeface="Pretendard SemiBold"/>
              </a:rPr>
              <a:t xml:space="preserve">Drive의 Docs·Sheets는 원본을 고치면 Gem도 최신 내용을 참고 → 학사일정은 시트에서만 고치면 끝!</a:t>
            </a:r>
            <a:endParaRPr lang="ko-KR" altLang="en-US" sz="1500" dirty="0"/>
          </a:p>
        </p:txBody>
      </p:sp>
      <p:sp>
        <p:nvSpPr>
          <p:cNvPr id="14" name="Card 14"/>
          <p:cNvSpPr/>
          <p:nvPr/>
        </p:nvSpPr>
        <p:spPr>
          <a:xfrm>
            <a:off x="548640" y="3063240"/>
            <a:ext cx="5408676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164592" rIns="182880" bIns="109728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ko-KR" altLang="en-US" sz="17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○  </a:t>
            </a:r>
            <a:r>
              <a:rPr lang="ko-KR" altLang="en-US" sz="17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좋은 지식 파일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한 문서 = 한 주제 (예: 공문 작성 규칙)</a:t>
            </a:r>
            <a:endParaRPr lang="ko-KR" altLang="en-US" sz="15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표·목록으로 정리된 구조화 문서</a:t>
            </a:r>
            <a:endParaRPr lang="ko-KR" altLang="en-US" sz="15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최신 연도 자료</a:t>
            </a:r>
            <a:endParaRPr lang="ko-KR" altLang="en-US" sz="15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개인정보가 제거된 자료</a:t>
            </a:r>
            <a:endParaRPr lang="ko-KR" altLang="en-US" sz="1500" dirty="0"/>
          </a:p>
        </p:txBody>
      </p:sp>
      <p:sp>
        <p:nvSpPr>
          <p:cNvPr id="15" name="Card 15"/>
          <p:cNvSpPr/>
          <p:nvPr/>
        </p:nvSpPr>
        <p:spPr>
          <a:xfrm>
            <a:off x="6231636" y="3063240"/>
            <a:ext cx="5408676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164592" rIns="182880" bIns="109728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ko-KR" altLang="en-US" sz="17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✕  </a:t>
            </a:r>
            <a:r>
              <a:rPr lang="ko-KR" altLang="en-US" sz="17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피해야 할 지식 파일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수백 쪽 업무편람 통째로</a:t>
            </a:r>
            <a:endParaRPr lang="ko-KR" altLang="en-US" sz="15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스캔 이미지 PDF (글자 인식 저하)</a:t>
            </a:r>
            <a:endParaRPr lang="ko-KR" altLang="en-US" sz="15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작년·재작년 자료 혼재</a:t>
            </a:r>
            <a:endParaRPr lang="ko-KR" altLang="en-US" sz="15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5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학생 명렬표 · 연락처 · 상담 기록</a:t>
            </a:r>
            <a:endParaRPr lang="ko-KR" altLang="en-US" sz="1500" dirty="0"/>
          </a:p>
        </p:txBody>
      </p:sp>
      <p:sp>
        <p:nvSpPr>
          <p:cNvPr id="16" name="Text 16"/>
          <p:cNvSpPr txBox="1"/>
          <p:nvPr/>
        </p:nvSpPr>
        <p:spPr>
          <a:xfrm>
            <a:off x="548640" y="53035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200" b="0" dirty="0">
                <a:solidFill>
                  <a:srgbClr val="5F6475"/>
                </a:solidFill>
                <a:latin typeface="Pretendard Medium"/>
                <a:ea typeface="Pretendard Medium"/>
                <a:cs typeface="Pretendard Medium"/>
              </a:rPr>
              <a:t xml:space="preserve">※ 첨부 파일 수·용량에 제한이 있고 기능이 자주 바뀌므로, 연수 당일 ‘원본 수정 → Gem 반영’을 직접 시연해 확인합니다.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PART 2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/>
            </a:r>
            <a:endParaRPr lang="ko-KR" altLang="en-US" sz="2400" dirty="0"/>
          </a:p>
        </p:txBody>
      </p:sp>
      <p:sp>
        <p:nvSpPr>
          <p:cNvPr id="13" name="Text 13"/>
          <p:cNvSpPr txBox="1"/>
          <p:nvPr/>
        </p:nvSpPr>
        <p:spPr>
          <a:xfrm>
            <a:off x="548640" y="2788920"/>
            <a:ext cx="1109167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38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학교 맞춤형 Gem 제작 실습</a:t>
            </a:r>
            <a:endParaRPr lang="ko-KR" altLang="en-US" sz="3800" dirty="0"/>
          </a:p>
        </p:txBody>
      </p:sp>
      <p:sp>
        <p:nvSpPr>
          <p:cNvPr id="14" name="Text 14"/>
          <p:cNvSpPr txBox="1"/>
          <p:nvPr/>
        </p:nvSpPr>
        <p:spPr>
          <a:xfrm>
            <a:off x="548640" y="3794760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공문서·기획안 비서 + 가정통신문 빌더 · 70분</a:t>
            </a:r>
            <a:endParaRPr lang="ko-KR" alt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2부 · 실습 공통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Gem 만들기 6단계</a:t>
            </a:r>
            <a:endParaRPr lang="ko-KR" altLang="en-US" sz="2400" dirty="0"/>
          </a:p>
        </p:txBody>
      </p:sp>
      <p:sp>
        <p:nvSpPr>
          <p:cNvPr id="13" name="Step card 13"/>
          <p:cNvSpPr/>
          <p:nvPr/>
        </p:nvSpPr>
        <p:spPr>
          <a:xfrm>
            <a:off x="548640" y="2057400"/>
            <a:ext cx="1696212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91440" tIns="320040" rIns="91440" bIns="182880" rtlCol="0" anchor="t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ko-KR" altLang="en-US" sz="3400" b="0" dirty="0">
                <a:solidFill>
                  <a:srgbClr val="5653C5"/>
                </a:solidFill>
                <a:latin typeface="Pretendard ExtraBold"/>
                <a:ea typeface="Pretendard ExtraBold"/>
                <a:cs typeface="Pretendard ExtraBold"/>
              </a:rPr>
              <a:t xml:space="preserve">1</a:t>
            </a:r>
            <a:endParaRPr lang="ko-KR" altLang="en-US" sz="3400" dirty="0"/>
          </a:p>
          <a:p>
            <a:pPr algn="ctr">
              <a:spcAft>
                <a:spcPts val="1200"/>
              </a:spcAft>
              <a:buNone/>
            </a:pPr>
            <a:r>
              <a:rPr lang="ko-KR" altLang="en-US" sz="19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새 Gem</a:t>
            </a:r>
            <a:endParaRPr lang="ko-KR" altLang="en-US" sz="1900" dirty="0"/>
          </a:p>
          <a:p>
            <a:pPr algn="ctr"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Gem 관리자 →</a:t>
            </a:r>
            <a:endParaRPr lang="ko-KR" altLang="en-US" sz="1400" dirty="0"/>
          </a:p>
          <a:p>
            <a:pPr algn="ctr"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새 Gem</a:t>
            </a:r>
            <a:endParaRPr lang="ko-KR" altLang="en-US" sz="1400" dirty="0"/>
          </a:p>
        </p:txBody>
      </p:sp>
      <p:sp>
        <p:nvSpPr>
          <p:cNvPr id="14" name="Step card 14"/>
          <p:cNvSpPr/>
          <p:nvPr/>
        </p:nvSpPr>
        <p:spPr>
          <a:xfrm>
            <a:off x="2427732" y="2057400"/>
            <a:ext cx="1696212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91440" tIns="320040" rIns="91440" bIns="182880" rtlCol="0" anchor="t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ko-KR" altLang="en-US" sz="3400" b="0" dirty="0">
                <a:solidFill>
                  <a:srgbClr val="5653C5"/>
                </a:solidFill>
                <a:latin typeface="Pretendard ExtraBold"/>
                <a:ea typeface="Pretendard ExtraBold"/>
                <a:cs typeface="Pretendard ExtraBold"/>
              </a:rPr>
              <a:t xml:space="preserve">2</a:t>
            </a:r>
            <a:endParaRPr lang="ko-KR" altLang="en-US" sz="3400" dirty="0"/>
          </a:p>
          <a:p>
            <a:pPr algn="ctr">
              <a:spcAft>
                <a:spcPts val="1200"/>
              </a:spcAft>
              <a:buNone/>
            </a:pPr>
            <a:r>
              <a:rPr lang="ko-KR" altLang="en-US" sz="19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이름</a:t>
            </a:r>
            <a:endParaRPr lang="ko-KR" altLang="en-US" sz="1900" dirty="0"/>
          </a:p>
          <a:p>
            <a:pPr algn="ctr"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학교명·부서를</a:t>
            </a:r>
            <a:endParaRPr lang="ko-KR" altLang="en-US" sz="1400" dirty="0"/>
          </a:p>
          <a:p>
            <a:pPr algn="ctr"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붙여 구분</a:t>
            </a:r>
            <a:endParaRPr lang="ko-KR" altLang="en-US" sz="1400" dirty="0"/>
          </a:p>
        </p:txBody>
      </p:sp>
      <p:sp>
        <p:nvSpPr>
          <p:cNvPr id="15" name="Step card 15"/>
          <p:cNvSpPr/>
          <p:nvPr/>
        </p:nvSpPr>
        <p:spPr>
          <a:xfrm>
            <a:off x="4306824" y="2057400"/>
            <a:ext cx="1696212" cy="256032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91440" tIns="320040" rIns="91440" bIns="182880" rtlCol="0" anchor="t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ko-KR" altLang="en-US" sz="34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3</a:t>
            </a:r>
            <a:endParaRPr lang="ko-KR" altLang="en-US" sz="3400" dirty="0"/>
          </a:p>
          <a:p>
            <a:pPr algn="ctr">
              <a:spcAft>
                <a:spcPts val="1200"/>
              </a:spcAft>
              <a:buNone/>
            </a:pPr>
            <a:r>
              <a:rPr lang="ko-KR" altLang="en-US" sz="19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요청사항</a:t>
            </a:r>
            <a:endParaRPr lang="ko-KR" altLang="en-US" sz="1900" dirty="0"/>
          </a:p>
          <a:p>
            <a:pPr algn="ctr">
              <a:buNone/>
            </a:pPr>
            <a:r>
              <a:rPr lang="ko-KR" altLang="en-US" sz="14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템플릿 붙여넣기</a:t>
            </a:r>
            <a:endParaRPr lang="ko-KR" altLang="en-US" sz="1400" dirty="0"/>
          </a:p>
          <a:p>
            <a:pPr algn="ctr">
              <a:buNone/>
            </a:pPr>
            <a:r>
              <a:rPr lang="ko-KR" altLang="en-US" sz="14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→ 학교 정보 수정</a:t>
            </a:r>
            <a:endParaRPr lang="ko-KR" altLang="en-US" sz="1400" dirty="0"/>
          </a:p>
        </p:txBody>
      </p:sp>
      <p:sp>
        <p:nvSpPr>
          <p:cNvPr id="16" name="Step card 16"/>
          <p:cNvSpPr/>
          <p:nvPr/>
        </p:nvSpPr>
        <p:spPr>
          <a:xfrm>
            <a:off x="6185916" y="2057400"/>
            <a:ext cx="1696212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91440" tIns="320040" rIns="91440" bIns="182880" rtlCol="0" anchor="t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ko-KR" altLang="en-US" sz="3400" b="0" dirty="0">
                <a:solidFill>
                  <a:srgbClr val="5653C5"/>
                </a:solidFill>
                <a:latin typeface="Pretendard ExtraBold"/>
                <a:ea typeface="Pretendard ExtraBold"/>
                <a:cs typeface="Pretendard ExtraBold"/>
              </a:rPr>
              <a:t xml:space="preserve">4</a:t>
            </a:r>
            <a:endParaRPr lang="ko-KR" altLang="en-US" sz="3400" dirty="0"/>
          </a:p>
          <a:p>
            <a:pPr algn="ctr">
              <a:spcAft>
                <a:spcPts val="1200"/>
              </a:spcAft>
              <a:buNone/>
            </a:pPr>
            <a:r>
              <a:rPr lang="ko-KR" altLang="en-US" sz="19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지식</a:t>
            </a:r>
            <a:endParaRPr lang="ko-KR" altLang="en-US" sz="1900" dirty="0"/>
          </a:p>
          <a:p>
            <a:pPr algn="ctr"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Drive 파일</a:t>
            </a:r>
            <a:endParaRPr lang="ko-KR" altLang="en-US" sz="1400" dirty="0"/>
          </a:p>
          <a:p>
            <a:pPr algn="ctr"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추가</a:t>
            </a:r>
            <a:endParaRPr lang="ko-KR" altLang="en-US" sz="1400" dirty="0"/>
          </a:p>
        </p:txBody>
      </p:sp>
      <p:sp>
        <p:nvSpPr>
          <p:cNvPr id="17" name="Step card 17"/>
          <p:cNvSpPr/>
          <p:nvPr/>
        </p:nvSpPr>
        <p:spPr>
          <a:xfrm>
            <a:off x="8065008" y="2057400"/>
            <a:ext cx="1696212" cy="256032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91440" tIns="320040" rIns="91440" bIns="182880" rtlCol="0" anchor="t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ko-KR" altLang="en-US" sz="34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5</a:t>
            </a:r>
            <a:endParaRPr lang="ko-KR" altLang="en-US" sz="3400" dirty="0"/>
          </a:p>
          <a:p>
            <a:pPr algn="ctr">
              <a:spcAft>
                <a:spcPts val="1200"/>
              </a:spcAft>
              <a:buNone/>
            </a:pPr>
            <a:r>
              <a:rPr lang="ko-KR" altLang="en-US" sz="19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테스트</a:t>
            </a:r>
            <a:endParaRPr lang="ko-KR" altLang="en-US" sz="1900" dirty="0"/>
          </a:p>
          <a:p>
            <a:pPr algn="ctr">
              <a:buNone/>
            </a:pPr>
            <a:r>
              <a:rPr lang="ko-KR" altLang="en-US" sz="14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미리보기 창에서</a:t>
            </a:r>
            <a:endParaRPr lang="ko-KR" altLang="en-US" sz="1400" dirty="0"/>
          </a:p>
          <a:p>
            <a:pPr algn="ctr">
              <a:buNone/>
            </a:pPr>
            <a:r>
              <a:rPr lang="ko-KR" altLang="en-US" sz="14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2~3회 반복 보완</a:t>
            </a:r>
            <a:endParaRPr lang="ko-KR" altLang="en-US" sz="1400" dirty="0"/>
          </a:p>
        </p:txBody>
      </p:sp>
      <p:sp>
        <p:nvSpPr>
          <p:cNvPr id="18" name="Step card 18"/>
          <p:cNvSpPr/>
          <p:nvPr/>
        </p:nvSpPr>
        <p:spPr>
          <a:xfrm>
            <a:off x="9944100" y="2057400"/>
            <a:ext cx="1696212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91440" tIns="320040" rIns="91440" bIns="182880" rtlCol="0" anchor="t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ko-KR" altLang="en-US" sz="3400" b="0" dirty="0">
                <a:solidFill>
                  <a:srgbClr val="5653C5"/>
                </a:solidFill>
                <a:latin typeface="Pretendard ExtraBold"/>
                <a:ea typeface="Pretendard ExtraBold"/>
                <a:cs typeface="Pretendard ExtraBold"/>
              </a:rPr>
              <a:t xml:space="preserve">6</a:t>
            </a:r>
            <a:endParaRPr lang="ko-KR" altLang="en-US" sz="3400" dirty="0"/>
          </a:p>
          <a:p>
            <a:pPr algn="ctr">
              <a:spcAft>
                <a:spcPts val="1200"/>
              </a:spcAft>
              <a:buNone/>
            </a:pPr>
            <a:r>
              <a:rPr lang="ko-KR" altLang="en-US" sz="19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저장</a:t>
            </a:r>
            <a:endParaRPr lang="ko-KR" altLang="en-US" sz="1900" dirty="0"/>
          </a:p>
          <a:p>
            <a:pPr algn="ctr"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새 대화에서</a:t>
            </a:r>
            <a:endParaRPr lang="ko-KR" altLang="en-US" sz="1400" dirty="0"/>
          </a:p>
          <a:p>
            <a:pPr algn="ctr"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다시 호출</a:t>
            </a:r>
            <a:endParaRPr lang="ko-KR" altLang="en-US" sz="1400" dirty="0"/>
          </a:p>
        </p:txBody>
      </p:sp>
      <p:sp>
        <p:nvSpPr>
          <p:cNvPr id="19" name="Callout 19"/>
          <p:cNvSpPr/>
          <p:nvPr/>
        </p:nvSpPr>
        <p:spPr>
          <a:xfrm>
            <a:off x="548640" y="4892040"/>
            <a:ext cx="11091672" cy="502920"/>
          </a:xfrm>
          <a:prstGeom prst="roundRect">
            <a:avLst>
              <a:gd name="adj" fmla="val 30000"/>
            </a:avLst>
          </a:prstGeom>
          <a:solidFill>
            <a:srgbClr val="E6E8FA"/>
          </a:solidFill>
          <a:ln>
            <a:noFill/>
          </a:ln>
        </p:spPr>
        <p:txBody>
          <a:bodyPr wrap="square" lIns="274320" tIns="0" rIns="274320" bIns="0" rtlCol="0" anchor="ctr">
            <a:noAutofit/>
          </a:bodyPr>
          <a:lstStyle/>
          <a:p>
            <a:pPr algn="l">
              <a:buNone/>
            </a:pPr>
            <a:r>
              <a:rPr lang="ko-KR" altLang="en-US" sz="1300" b="0" dirty="0">
                <a:solidFill>
                  <a:srgbClr val="1720AF"/>
                </a:solidFill>
                <a:latin typeface="Pretendard SemiBold"/>
                <a:ea typeface="Pretendard SemiBold"/>
                <a:cs typeface="Pretendard SemiBold"/>
              </a:rPr>
              <a:t xml:space="preserve">핵심은 ③ 요청사항과 ⑤ 테스트 — “AI의 실수 = 요청사항의 빈틈”으로 보고 문장을 한 줄씩 보완합니다.</a:t>
            </a:r>
            <a:endParaRPr lang="ko-KR" alt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2부 · 실습 1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‘공문서 초안 및 기획안 생성’ 에이전트</a:t>
            </a:r>
            <a:endParaRPr lang="ko-KR" altLang="en-US" sz="2400" dirty="0"/>
          </a:p>
        </p:txBody>
      </p:sp>
      <p:sp>
        <p:nvSpPr>
          <p:cNvPr id="13" name="Goal 13"/>
          <p:cNvSpPr/>
          <p:nvPr/>
        </p:nvSpPr>
        <p:spPr>
          <a:xfrm>
            <a:off x="548640" y="1691640"/>
            <a:ext cx="11091672" cy="86868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320040" tIns="0" rIns="274320" bIns="0" rtlCol="0" anchor="ctr">
            <a:noAutofit/>
          </a:bodyPr>
          <a:lstStyle/>
          <a:p>
            <a:pPr algn="l">
              <a:buNone/>
            </a:pPr>
            <a:r>
              <a:rPr lang="ko-KR" altLang="en-US" sz="1600" b="0" dirty="0">
                <a:solidFill>
                  <a:srgbClr val="BFF4FA"/>
                </a:solidFill>
                <a:latin typeface="Pretendard ExtraBold"/>
                <a:ea typeface="Pretendard ExtraBold"/>
                <a:cs typeface="Pretendard ExtraBold"/>
              </a:rPr>
              <a:t xml:space="preserve">목표  </a:t>
            </a:r>
            <a:r>
              <a:rPr lang="ko-KR" altLang="en-US" sz="16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 xml:space="preserve">교직원이 핵심 정보만 입력하면 공문서 작성 규칙을 지킨 기안문 · 기획안 초안을 만들어 주는 Gem</a:t>
            </a:r>
            <a:endParaRPr lang="ko-KR" altLang="en-US" sz="1400" dirty="0"/>
          </a:p>
        </p:txBody>
      </p: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548640" y="2788920"/>
          <a:ext cx="11091672" cy="2560320"/>
        </p:xfrm>
        <a:graphic>
          <a:graphicData uri="http://schemas.openxmlformats.org/drawingml/2006/table">
            <a:tbl>
              <a:tblPr firstRow="1" bandRow="1"/>
              <a:tblGrid>
                <a:gridCol w="4159377"/>
                <a:gridCol w="6932295"/>
              </a:tblGrid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지식 파일 (실습 폴더 01_공문서서식/)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내용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공문서_작성규칙_요약.docx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항목 기호, 날짜·시간·금액 표기, 끝 표시, 붙임 표기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기안문_예시_3종.docx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내부결재 · 대외 발송 · 회신 공문 예시 (가상)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학교_기획안_양식.docx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목적 – 방침 – 세부계획 – 추진일정 – 예산 – 기대효과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학교_기본정보.docx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가상 학교(정보중학교) 부서명, 교육 비전, 중점 과제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</a:tr>
            </a:tbl>
          </a:graphicData>
        </a:graphic>
      </p:graphicFrame>
      <p:sp>
        <p:nvSpPr>
          <p:cNvPr id="15" name="Text 15"/>
          <p:cNvSpPr txBox="1"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40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Gem 이름 예:  [정보중] 공문·기획안 비서   ·   소요 40분   ·   다음 슬라이드부터 STEP 1 → 5 순서로 따라 하기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2부 · 실습 1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지식 파일 ① 공문서 작성 규칙 요약</a:t>
            </a:r>
            <a:endParaRPr lang="ko-KR" altLang="en-US" sz="2400" dirty="0"/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548640" y="1691640"/>
          <a:ext cx="11091672" cy="3877056"/>
        </p:xfrm>
        <a:graphic>
          <a:graphicData uri="http://schemas.openxmlformats.org/drawingml/2006/table">
            <a:tbl>
              <a:tblPr firstRow="1" bandRow="1"/>
              <a:tblGrid>
                <a:gridCol w="2178721"/>
                <a:gridCol w="8912951"/>
              </a:tblGrid>
              <a:tr h="4846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항목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규칙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항목 구분 기호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E6E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1. → 가. → 1) → 가) → (1) → (가) → ① → ㉮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날짜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E6E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연·월·일 글자 생략, 마침표로 구분:  2026. 11. 13.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시간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E6E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24시각제, 쌍점 구분:  14:30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금액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E6E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금113,560원(금일십일만삼천오백육십원)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관련 근거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E6E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1. 관련: ○○교육지원청 ○○과-1234(2026. 10. 1.)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붙임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E6E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붙임  1. ○○계획서 1부.  (2개 이상이면 번호 부여)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끝 표시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E6E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본문 또는 붙임 마지막 글자에서 2타 띄우고  끝.</a:t>
                      </a:r>
                      <a:endParaRPr lang="ko-KR" altLang="en-US" sz="14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4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200" b="0" dirty="0">
                <a:solidFill>
                  <a:srgbClr val="5F6475"/>
                </a:solidFill>
                <a:latin typeface="Pretendard Medium"/>
                <a:ea typeface="Pretendard Medium"/>
                <a:cs typeface="Pretendard Medium"/>
              </a:rPr>
              <a:t xml:space="preserve">※ 「행정업무의 운영 및 혁신에 관한 규정」·시행규칙과 소속 교육청 공문서 작성 편람 최신본을 기준으로 확인하세요.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2부 · 실습 1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STEP 1  Gemini에게 요청사항 초안 받기</a:t>
            </a:r>
            <a:endParaRPr lang="ko-KR" altLang="en-US" sz="2400" dirty="0"/>
          </a:p>
        </p:txBody>
      </p:sp>
      <p:sp>
        <p:nvSpPr>
          <p:cNvPr id="13" name="Step 13"/>
          <p:cNvSpPr/>
          <p:nvPr/>
        </p:nvSpPr>
        <p:spPr>
          <a:xfrm>
            <a:off x="548640" y="1691640"/>
            <a:ext cx="2130552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 xml:space="preserve">STEP 1  초안 받기</a:t>
            </a:r>
            <a:endParaRPr lang="ko-KR" altLang="en-US" sz="1250" dirty="0"/>
          </a:p>
        </p:txBody>
      </p:sp>
      <p:sp>
        <p:nvSpPr>
          <p:cNvPr id="14" name="Step 14"/>
          <p:cNvSpPr/>
          <p:nvPr/>
        </p:nvSpPr>
        <p:spPr>
          <a:xfrm>
            <a:off x="278892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2  요청사항 완성</a:t>
            </a:r>
            <a:endParaRPr lang="ko-KR" altLang="en-US" sz="1250" dirty="0"/>
          </a:p>
        </p:txBody>
      </p:sp>
      <p:sp>
        <p:nvSpPr>
          <p:cNvPr id="15" name="Step 15"/>
          <p:cNvSpPr/>
          <p:nvPr/>
        </p:nvSpPr>
        <p:spPr>
          <a:xfrm>
            <a:off x="502920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3  지식 연결</a:t>
            </a:r>
            <a:endParaRPr lang="ko-KR" altLang="en-US" sz="1250" dirty="0"/>
          </a:p>
        </p:txBody>
      </p:sp>
      <p:sp>
        <p:nvSpPr>
          <p:cNvPr id="16" name="Step 16"/>
          <p:cNvSpPr/>
          <p:nvPr/>
        </p:nvSpPr>
        <p:spPr>
          <a:xfrm>
            <a:off x="726948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4  테스트</a:t>
            </a:r>
            <a:endParaRPr lang="ko-KR" altLang="en-US" sz="1250" dirty="0"/>
          </a:p>
        </p:txBody>
      </p:sp>
      <p:sp>
        <p:nvSpPr>
          <p:cNvPr id="17" name="Step 17"/>
          <p:cNvSpPr/>
          <p:nvPr/>
        </p:nvSpPr>
        <p:spPr>
          <a:xfrm>
            <a:off x="950976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5  보완</a:t>
            </a:r>
            <a:endParaRPr lang="ko-KR" altLang="en-US" sz="1250" dirty="0"/>
          </a:p>
        </p:txBody>
      </p:sp>
      <p:sp>
        <p:nvSpPr>
          <p:cNvPr id="18" name="Prompt 18"/>
          <p:cNvSpPr/>
          <p:nvPr/>
        </p:nvSpPr>
        <p:spPr>
          <a:xfrm>
            <a:off x="548640" y="2331720"/>
            <a:ext cx="6766560" cy="3611880"/>
          </a:xfrm>
          <a:prstGeom prst="roundRect">
            <a:avLst>
              <a:gd name="adj" fmla="val 4000"/>
            </a:avLst>
          </a:prstGeom>
          <a:solidFill>
            <a:srgbClr val="1C1F4A"/>
          </a:solidFill>
          <a:ln>
            <a:noFill/>
          </a:ln>
        </p:spPr>
        <p:txBody>
          <a:bodyPr wrap="square" lIns="228600" tIns="457200" rIns="228600" bIns="13716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나는 정보중학교 교감이야. Gemini Gem의 ‘요청사항’을 만들려고 해.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[만들 Gem] 교직원이 핵심 정보만 주면 기안문·기획안 초안을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써 주는 ‘공문·기획안 비서’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아래 5개 제목으로 요청사항 초안을 써 줘.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# 역할  # 목표  # 작업 절차  # 출력 형식  # 금지 사항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조건: 정보가 부족하면 먼저 질문할 것, 공문서 항목 기호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(1. 가. 1) 가))와 날짜 표기(2026. 11. 13.)를 지킬 것,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모르는 법령·번호는 [확인 필요]로 둘 것.</a:t>
            </a:r>
            <a:endParaRPr lang="ko-KR" altLang="en-US" sz="1400" dirty="0"/>
          </a:p>
        </p:txBody>
      </p:sp>
      <p:sp>
        <p:nvSpPr>
          <p:cNvPr id="19" name="Chip 19"/>
          <p:cNvSpPr/>
          <p:nvPr/>
        </p:nvSpPr>
        <p:spPr>
          <a:xfrm>
            <a:off x="731520" y="245059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9B5C8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100" b="0" dirty="0">
                <a:solidFill>
                  <a:srgbClr val="1C1F4A"/>
                </a:solidFill>
                <a:latin typeface="Pretendard ExtraBold"/>
                <a:ea typeface="Pretendard ExtraBold"/>
                <a:cs typeface="Pretendard ExtraBold"/>
              </a:rPr>
              <a:t xml:space="preserve">메타 프롬프트</a:t>
            </a:r>
            <a:endParaRPr lang="ko-KR" altLang="en-US" sz="1100" dirty="0"/>
          </a:p>
        </p:txBody>
      </p:sp>
      <p:sp>
        <p:nvSpPr>
          <p:cNvPr id="20" name="Copy hint 20"/>
          <p:cNvSpPr txBox="1"/>
          <p:nvPr/>
        </p:nvSpPr>
        <p:spPr>
          <a:xfrm>
            <a:off x="4389120" y="24414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ko-KR" altLang="en-US" sz="1050" b="0" dirty="0">
                <a:solidFill>
                  <a:srgbClr val="9CA3D9"/>
                </a:solidFill>
                <a:latin typeface="Pretendard Medium"/>
                <a:ea typeface="Pretendard Medium"/>
                <a:cs typeface="Pretendard Medium"/>
              </a:rPr>
              <a:t xml:space="preserve">▶ Gemini에 그대로 복사</a:t>
            </a:r>
            <a:endParaRPr lang="ko-KR" altLang="en-US" sz="1050" dirty="0"/>
          </a:p>
        </p:txBody>
      </p:sp>
      <p:sp>
        <p:nvSpPr>
          <p:cNvPr id="21" name="Card 21"/>
          <p:cNvSpPr/>
          <p:nvPr/>
        </p:nvSpPr>
        <p:spPr>
          <a:xfrm>
            <a:off x="7543800" y="2331720"/>
            <a:ext cx="4096512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164592" rIns="182880" bIns="109728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ko-KR" altLang="en-US" sz="17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이렇게 진행해요</a:t>
            </a:r>
            <a:endParaRPr lang="ko-KR" altLang="en-US" sz="17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일반 Gemini 대화창에 메타 프롬프트를 붙여 넣기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나온 초안을 복사해 두기 (다음 STEP에서 사용)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Gem 편집 화면의 ‘마법봉’ 기능을 써도 OK — 단, 원문은 먼저 백업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2부 · 실습 1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STEP 2  요청사항 완성하기 ① 역할 · 목표 · 절차</a:t>
            </a:r>
            <a:endParaRPr lang="ko-KR" altLang="en-US" sz="2400" dirty="0"/>
          </a:p>
        </p:txBody>
      </p:sp>
      <p:sp>
        <p:nvSpPr>
          <p:cNvPr id="13" name="Step 13"/>
          <p:cNvSpPr/>
          <p:nvPr/>
        </p:nvSpPr>
        <p:spPr>
          <a:xfrm>
            <a:off x="54864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1  초안 받기</a:t>
            </a:r>
            <a:endParaRPr lang="ko-KR" altLang="en-US" sz="1250" dirty="0"/>
          </a:p>
        </p:txBody>
      </p:sp>
      <p:sp>
        <p:nvSpPr>
          <p:cNvPr id="14" name="Step 14"/>
          <p:cNvSpPr/>
          <p:nvPr/>
        </p:nvSpPr>
        <p:spPr>
          <a:xfrm>
            <a:off x="2788920" y="1691640"/>
            <a:ext cx="2130552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 xml:space="preserve">STEP 2  요청사항 완성</a:t>
            </a:r>
            <a:endParaRPr lang="ko-KR" altLang="en-US" sz="1250" dirty="0"/>
          </a:p>
        </p:txBody>
      </p:sp>
      <p:sp>
        <p:nvSpPr>
          <p:cNvPr id="15" name="Step 15"/>
          <p:cNvSpPr/>
          <p:nvPr/>
        </p:nvSpPr>
        <p:spPr>
          <a:xfrm>
            <a:off x="502920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3  지식 연결</a:t>
            </a:r>
            <a:endParaRPr lang="ko-KR" altLang="en-US" sz="1250" dirty="0"/>
          </a:p>
        </p:txBody>
      </p:sp>
      <p:sp>
        <p:nvSpPr>
          <p:cNvPr id="16" name="Step 16"/>
          <p:cNvSpPr/>
          <p:nvPr/>
        </p:nvSpPr>
        <p:spPr>
          <a:xfrm>
            <a:off x="726948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4  테스트</a:t>
            </a:r>
            <a:endParaRPr lang="ko-KR" altLang="en-US" sz="1250" dirty="0"/>
          </a:p>
        </p:txBody>
      </p:sp>
      <p:sp>
        <p:nvSpPr>
          <p:cNvPr id="17" name="Step 17"/>
          <p:cNvSpPr/>
          <p:nvPr/>
        </p:nvSpPr>
        <p:spPr>
          <a:xfrm>
            <a:off x="950976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5  보완</a:t>
            </a:r>
            <a:endParaRPr lang="ko-KR" altLang="en-US" sz="1250" dirty="0"/>
          </a:p>
        </p:txBody>
      </p:sp>
      <p:sp>
        <p:nvSpPr>
          <p:cNvPr id="18" name="Prompt 18"/>
          <p:cNvSpPr/>
          <p:nvPr/>
        </p:nvSpPr>
        <p:spPr>
          <a:xfrm>
            <a:off x="548640" y="2331720"/>
            <a:ext cx="11091672" cy="3657600"/>
          </a:xfrm>
          <a:prstGeom prst="roundRect">
            <a:avLst>
              <a:gd name="adj" fmla="val 4000"/>
            </a:avLst>
          </a:prstGeom>
          <a:solidFill>
            <a:srgbClr val="1C1F4A"/>
          </a:solidFill>
          <a:ln>
            <a:noFill/>
          </a:ln>
        </p:spPr>
        <p:txBody>
          <a:bodyPr wrap="square" lIns="228600" tIns="457200" rIns="228600" bIns="13716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# 역할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너는 정보중학교 교무기획부의 공문서·기획안 작성 전문 AI 비서다. 관리자와 교직원이 결재 가능한 수준의 초안을 빠르게 만들도록 돕는다.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# 목표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사용자가 입력한 핵심 정보를 바탕으로, 지식 파일 「공문서_작성규칙_요약」과 「학교_기획안_양식」을 정확히 따르는 문서 초안을 작성한다.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# 작업 절차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1. 문서 유형을 판단한다. [A] 기안문(내부결재/대외발송/회신)  [B] 기획안. 불분명하면 먼저 질문한다.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2. 필수 정보가 빠졌으면 작성 전에 한 번에 모아서 질문한다.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  - 기안문: 제목, 관련 근거, 목적, 일시, 장소, 대상, 주요 내용, 붙임 여부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  - 기획안: 사업명, 목적, 운영 기간, 대상, 주요 활동, 예산, 담당 부서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  사용자가 “알아서”라고 하면 [   ] 빈칸으로 두고 작성한다.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3. 「기안문_예시_3종」의 문체와 구조를 따라 초안을 작성한다.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4. 작성 후 [자체 점검표]로 확인하고 결과를 문서 아래에 표로 보여 준다.</a:t>
            </a:r>
            <a:endParaRPr lang="ko-KR" altLang="en-US" sz="1300" dirty="0"/>
          </a:p>
        </p:txBody>
      </p:sp>
      <p:sp>
        <p:nvSpPr>
          <p:cNvPr id="19" name="Chip 19"/>
          <p:cNvSpPr/>
          <p:nvPr/>
        </p:nvSpPr>
        <p:spPr>
          <a:xfrm>
            <a:off x="731520" y="245059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9B5C8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100" b="0" dirty="0">
                <a:solidFill>
                  <a:srgbClr val="1C1F4A"/>
                </a:solidFill>
                <a:latin typeface="Pretendard ExtraBold"/>
                <a:ea typeface="Pretendard ExtraBold"/>
                <a:cs typeface="Pretendard ExtraBold"/>
              </a:rPr>
              <a:t xml:space="preserve">요청사항 ①</a:t>
            </a:r>
            <a:endParaRPr lang="ko-KR" altLang="en-US" sz="1100" dirty="0"/>
          </a:p>
        </p:txBody>
      </p:sp>
      <p:sp>
        <p:nvSpPr>
          <p:cNvPr id="20" name="Copy hint 20"/>
          <p:cNvSpPr txBox="1"/>
          <p:nvPr/>
        </p:nvSpPr>
        <p:spPr>
          <a:xfrm>
            <a:off x="8714232" y="24414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ko-KR" altLang="en-US" sz="1050" b="0" dirty="0">
                <a:solidFill>
                  <a:srgbClr val="9CA3D9"/>
                </a:solidFill>
                <a:latin typeface="Pretendard Medium"/>
                <a:ea typeface="Pretendard Medium"/>
                <a:cs typeface="Pretendard Medium"/>
              </a:rPr>
              <a:t xml:space="preserve">▶ Gemini에 그대로 복사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2부 · 실습 1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STEP 2  요청사항 완성하기 ② 형식 · 점검 · 금지</a:t>
            </a:r>
            <a:endParaRPr lang="ko-KR" altLang="en-US" sz="2400" dirty="0"/>
          </a:p>
        </p:txBody>
      </p:sp>
      <p:sp>
        <p:nvSpPr>
          <p:cNvPr id="13" name="Step 13"/>
          <p:cNvSpPr/>
          <p:nvPr/>
        </p:nvSpPr>
        <p:spPr>
          <a:xfrm>
            <a:off x="54864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1  초안 받기</a:t>
            </a:r>
            <a:endParaRPr lang="ko-KR" altLang="en-US" sz="1250" dirty="0"/>
          </a:p>
        </p:txBody>
      </p:sp>
      <p:sp>
        <p:nvSpPr>
          <p:cNvPr id="14" name="Step 14"/>
          <p:cNvSpPr/>
          <p:nvPr/>
        </p:nvSpPr>
        <p:spPr>
          <a:xfrm>
            <a:off x="2788920" y="1691640"/>
            <a:ext cx="2130552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 xml:space="preserve">STEP 2  요청사항 완성</a:t>
            </a:r>
            <a:endParaRPr lang="ko-KR" altLang="en-US" sz="1250" dirty="0"/>
          </a:p>
        </p:txBody>
      </p:sp>
      <p:sp>
        <p:nvSpPr>
          <p:cNvPr id="15" name="Step 15"/>
          <p:cNvSpPr/>
          <p:nvPr/>
        </p:nvSpPr>
        <p:spPr>
          <a:xfrm>
            <a:off x="502920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3  지식 연결</a:t>
            </a:r>
            <a:endParaRPr lang="ko-KR" altLang="en-US" sz="1250" dirty="0"/>
          </a:p>
        </p:txBody>
      </p:sp>
      <p:sp>
        <p:nvSpPr>
          <p:cNvPr id="16" name="Step 16"/>
          <p:cNvSpPr/>
          <p:nvPr/>
        </p:nvSpPr>
        <p:spPr>
          <a:xfrm>
            <a:off x="726948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4  테스트</a:t>
            </a:r>
            <a:endParaRPr lang="ko-KR" altLang="en-US" sz="1250" dirty="0"/>
          </a:p>
        </p:txBody>
      </p:sp>
      <p:sp>
        <p:nvSpPr>
          <p:cNvPr id="17" name="Step 17"/>
          <p:cNvSpPr/>
          <p:nvPr/>
        </p:nvSpPr>
        <p:spPr>
          <a:xfrm>
            <a:off x="950976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5  보완</a:t>
            </a:r>
            <a:endParaRPr lang="ko-KR" altLang="en-US" sz="1250" dirty="0"/>
          </a:p>
        </p:txBody>
      </p:sp>
      <p:sp>
        <p:nvSpPr>
          <p:cNvPr id="18" name="Prompt 18"/>
          <p:cNvSpPr/>
          <p:nvPr/>
        </p:nvSpPr>
        <p:spPr>
          <a:xfrm>
            <a:off x="548640" y="2331720"/>
            <a:ext cx="6035040" cy="3657600"/>
          </a:xfrm>
          <a:prstGeom prst="roundRect">
            <a:avLst>
              <a:gd name="adj" fmla="val 4000"/>
            </a:avLst>
          </a:prstGeom>
          <a:solidFill>
            <a:srgbClr val="1C1F4A"/>
          </a:solidFill>
          <a:ln>
            <a:noFill/>
          </a:ln>
        </p:spPr>
        <p:txBody>
          <a:bodyPr wrap="square" lIns="228600" tIns="457200" rIns="228600" bIns="13716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# 출력 형식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[A] 기안문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제목: ○○○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1. 관련: (근거가 있을 때만)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2. 본문 (목적 → 세부 내용 → 협조 사항)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 가. 일시: 2026. 11. 13.(금) 14:00~16:00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 나. 장소:    다. 대상: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붙임  1. ○○○ 1부.  끝.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[B] 기획안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Ⅰ.목적 Ⅱ.방침 Ⅲ.세부 추진 계획 Ⅳ.추진 일정(표)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Ⅴ.소요 예산(표) Ⅵ.기대 효과 Ⅶ.행정 사항</a:t>
            </a:r>
            <a:endParaRPr lang="ko-KR" altLang="en-US" sz="1350" dirty="0"/>
          </a:p>
        </p:txBody>
      </p:sp>
      <p:sp>
        <p:nvSpPr>
          <p:cNvPr id="19" name="Chip 19"/>
          <p:cNvSpPr/>
          <p:nvPr/>
        </p:nvSpPr>
        <p:spPr>
          <a:xfrm>
            <a:off x="731520" y="245059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9B5C8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100" b="0" dirty="0">
                <a:solidFill>
                  <a:srgbClr val="1C1F4A"/>
                </a:solidFill>
                <a:latin typeface="Pretendard ExtraBold"/>
                <a:ea typeface="Pretendard ExtraBold"/>
                <a:cs typeface="Pretendard ExtraBold"/>
              </a:rPr>
              <a:t xml:space="preserve">요청사항 ②</a:t>
            </a:r>
            <a:endParaRPr lang="ko-KR" altLang="en-US" sz="1100" dirty="0"/>
          </a:p>
        </p:txBody>
      </p:sp>
      <p:sp>
        <p:nvSpPr>
          <p:cNvPr id="20" name="Copy hint 20"/>
          <p:cNvSpPr txBox="1"/>
          <p:nvPr/>
        </p:nvSpPr>
        <p:spPr>
          <a:xfrm>
            <a:off x="3657600" y="24414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ko-KR" altLang="en-US" sz="1050" b="0" dirty="0">
                <a:solidFill>
                  <a:srgbClr val="9CA3D9"/>
                </a:solidFill>
                <a:latin typeface="Pretendard Medium"/>
                <a:ea typeface="Pretendard Medium"/>
                <a:cs typeface="Pretendard Medium"/>
              </a:rPr>
              <a:t xml:space="preserve">▶ Gemini에 그대로 복사</a:t>
            </a:r>
            <a:endParaRPr lang="ko-KR" altLang="en-US" sz="1050" dirty="0"/>
          </a:p>
        </p:txBody>
      </p:sp>
      <p:sp>
        <p:nvSpPr>
          <p:cNvPr id="21" name="Prompt 21"/>
          <p:cNvSpPr/>
          <p:nvPr/>
        </p:nvSpPr>
        <p:spPr>
          <a:xfrm>
            <a:off x="6766560" y="2331720"/>
            <a:ext cx="4873752" cy="3657600"/>
          </a:xfrm>
          <a:prstGeom prst="roundRect">
            <a:avLst>
              <a:gd name="adj" fmla="val 4000"/>
            </a:avLst>
          </a:prstGeom>
          <a:solidFill>
            <a:srgbClr val="1C1F4A"/>
          </a:solidFill>
          <a:ln>
            <a:noFill/>
          </a:ln>
        </p:spPr>
        <p:txBody>
          <a:bodyPr wrap="square" lIns="228600" tIns="457200" rIns="228600" bIns="13716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# 자체 점검표 (O/X 표로 출력)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항목 기호 순서 · 날짜 표기 · 시간 표기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금액 표기 · ‘끝.’ 위치 · 확인 필요 빈칸 목록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# 금지 사항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- 지식 파일에 없는 법령 조항, 공문 번호,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 예산 수치를 지어내지 않는다.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 → [확인 필요]로 표시한다.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- 개인정보를 요구하거나 생성하지 않는다.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- 항상 ‘초안’임을 명시한다.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# 어조: 공문은 개조식, 대화는 존댓말</a:t>
            </a:r>
            <a:endParaRPr lang="ko-KR" altLang="en-US" sz="1350" dirty="0"/>
          </a:p>
        </p:txBody>
      </p:sp>
      <p:sp>
        <p:nvSpPr>
          <p:cNvPr id="22" name="Chip 22"/>
          <p:cNvSpPr/>
          <p:nvPr/>
        </p:nvSpPr>
        <p:spPr>
          <a:xfrm>
            <a:off x="6949440" y="245059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9B5C8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100" b="0" dirty="0">
                <a:solidFill>
                  <a:srgbClr val="1C1F4A"/>
                </a:solidFill>
                <a:latin typeface="Pretendard ExtraBold"/>
                <a:ea typeface="Pretendard ExtraBold"/>
                <a:cs typeface="Pretendard ExtraBold"/>
              </a:rPr>
              <a:t xml:space="preserve">요청사항 ③</a:t>
            </a:r>
            <a:endParaRPr lang="ko-KR" altLang="en-US" sz="1100" dirty="0"/>
          </a:p>
        </p:txBody>
      </p:sp>
      <p:sp>
        <p:nvSpPr>
          <p:cNvPr id="23" name="Copy hint 23"/>
          <p:cNvSpPr txBox="1"/>
          <p:nvPr/>
        </p:nvSpPr>
        <p:spPr>
          <a:xfrm>
            <a:off x="8714232" y="24414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ko-KR" altLang="en-US" sz="1050" b="0" dirty="0">
                <a:solidFill>
                  <a:srgbClr val="9CA3D9"/>
                </a:solidFill>
                <a:latin typeface="Pretendard Medium"/>
                <a:ea typeface="Pretendard Medium"/>
                <a:cs typeface="Pretendard Medium"/>
              </a:rPr>
              <a:t xml:space="preserve">▶ ①②③ 이어 붙이기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2부 · 실습 1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STEP 3  지식 연결 · 저장</a:t>
            </a:r>
            <a:endParaRPr lang="ko-KR" altLang="en-US" sz="2400" dirty="0"/>
          </a:p>
        </p:txBody>
      </p:sp>
      <p:sp>
        <p:nvSpPr>
          <p:cNvPr id="13" name="Step 13"/>
          <p:cNvSpPr/>
          <p:nvPr/>
        </p:nvSpPr>
        <p:spPr>
          <a:xfrm>
            <a:off x="54864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1  초안 받기</a:t>
            </a:r>
            <a:endParaRPr lang="ko-KR" altLang="en-US" sz="1250" dirty="0"/>
          </a:p>
        </p:txBody>
      </p:sp>
      <p:sp>
        <p:nvSpPr>
          <p:cNvPr id="14" name="Step 14"/>
          <p:cNvSpPr/>
          <p:nvPr/>
        </p:nvSpPr>
        <p:spPr>
          <a:xfrm>
            <a:off x="278892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2  요청사항 완성</a:t>
            </a:r>
            <a:endParaRPr lang="ko-KR" altLang="en-US" sz="1250" dirty="0"/>
          </a:p>
        </p:txBody>
      </p:sp>
      <p:sp>
        <p:nvSpPr>
          <p:cNvPr id="15" name="Step 15"/>
          <p:cNvSpPr/>
          <p:nvPr/>
        </p:nvSpPr>
        <p:spPr>
          <a:xfrm>
            <a:off x="5029200" y="1691640"/>
            <a:ext cx="2130552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 xml:space="preserve">STEP 3  지식 연결</a:t>
            </a:r>
            <a:endParaRPr lang="ko-KR" altLang="en-US" sz="1250" dirty="0"/>
          </a:p>
        </p:txBody>
      </p:sp>
      <p:sp>
        <p:nvSpPr>
          <p:cNvPr id="16" name="Step 16"/>
          <p:cNvSpPr/>
          <p:nvPr/>
        </p:nvSpPr>
        <p:spPr>
          <a:xfrm>
            <a:off x="726948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4  테스트</a:t>
            </a:r>
            <a:endParaRPr lang="ko-KR" altLang="en-US" sz="1250" dirty="0"/>
          </a:p>
        </p:txBody>
      </p:sp>
      <p:sp>
        <p:nvSpPr>
          <p:cNvPr id="17" name="Step 17"/>
          <p:cNvSpPr/>
          <p:nvPr/>
        </p:nvSpPr>
        <p:spPr>
          <a:xfrm>
            <a:off x="950976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5  보완</a:t>
            </a:r>
            <a:endParaRPr lang="ko-KR" altLang="en-US" sz="1250" dirty="0"/>
          </a:p>
        </p:txBody>
      </p:sp>
      <p:sp>
        <p:nvSpPr>
          <p:cNvPr id="18" name="Num 18"/>
          <p:cNvSpPr/>
          <p:nvPr/>
        </p:nvSpPr>
        <p:spPr>
          <a:xfrm>
            <a:off x="548640" y="2377440"/>
            <a:ext cx="548640" cy="548640"/>
          </a:xfrm>
          <a:prstGeom prst="ellipse">
            <a:avLst/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8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1</a:t>
            </a:r>
            <a:endParaRPr lang="ko-KR" altLang="en-US" sz="1800" dirty="0"/>
          </a:p>
        </p:txBody>
      </p:sp>
      <p:sp>
        <p:nvSpPr>
          <p:cNvPr id="19" name="Text 19"/>
          <p:cNvSpPr txBox="1"/>
          <p:nvPr/>
        </p:nvSpPr>
        <p:spPr>
          <a:xfrm>
            <a:off x="1280160" y="237744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6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Gem 이름 입력</a:t>
            </a:r>
            <a:endParaRPr lang="ko-KR" altLang="en-US" sz="1600" dirty="0"/>
          </a:p>
        </p:txBody>
      </p:sp>
      <p:sp>
        <p:nvSpPr>
          <p:cNvPr id="20" name="Text 20"/>
          <p:cNvSpPr txBox="1"/>
          <p:nvPr/>
        </p:nvSpPr>
        <p:spPr>
          <a:xfrm>
            <a:off x="4297680" y="237744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[정보중] 공문·기획안 비서</a:t>
            </a:r>
            <a:endParaRPr lang="ko-KR" altLang="en-US" sz="1400" dirty="0"/>
          </a:p>
        </p:txBody>
      </p:sp>
      <p:sp>
        <p:nvSpPr>
          <p:cNvPr id="21" name="Num 21"/>
          <p:cNvSpPr/>
          <p:nvPr/>
        </p:nvSpPr>
        <p:spPr>
          <a:xfrm>
            <a:off x="548640" y="3063240"/>
            <a:ext cx="548640" cy="548640"/>
          </a:xfrm>
          <a:prstGeom prst="ellipse">
            <a:avLst/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8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2</a:t>
            </a:r>
            <a:endParaRPr lang="ko-KR" altLang="en-US" sz="1800" dirty="0"/>
          </a:p>
        </p:txBody>
      </p:sp>
      <p:sp>
        <p:nvSpPr>
          <p:cNvPr id="22" name="Text 22"/>
          <p:cNvSpPr txBox="1"/>
          <p:nvPr/>
        </p:nvSpPr>
        <p:spPr>
          <a:xfrm>
            <a:off x="1280160" y="306324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6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요청사항 붙여넣기</a:t>
            </a:r>
            <a:endParaRPr lang="ko-KR" altLang="en-US" sz="1600" dirty="0"/>
          </a:p>
        </p:txBody>
      </p:sp>
      <p:sp>
        <p:nvSpPr>
          <p:cNvPr id="23" name="Text 23"/>
          <p:cNvSpPr txBox="1"/>
          <p:nvPr/>
        </p:nvSpPr>
        <p:spPr>
          <a:xfrm>
            <a:off x="4297680" y="306324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STEP 2의 ①②③을 순서대로</a:t>
            </a:r>
            <a:endParaRPr lang="ko-KR" altLang="en-US" sz="1400" dirty="0"/>
          </a:p>
        </p:txBody>
      </p:sp>
      <p:sp>
        <p:nvSpPr>
          <p:cNvPr id="24" name="Num 24"/>
          <p:cNvSpPr/>
          <p:nvPr/>
        </p:nvSpPr>
        <p:spPr>
          <a:xfrm>
            <a:off x="548640" y="3749040"/>
            <a:ext cx="548640" cy="548640"/>
          </a:xfrm>
          <a:prstGeom prst="ellipse">
            <a:avLst/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8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3</a:t>
            </a:r>
            <a:endParaRPr lang="ko-KR" altLang="en-US" sz="1800" dirty="0"/>
          </a:p>
        </p:txBody>
      </p:sp>
      <p:sp>
        <p:nvSpPr>
          <p:cNvPr id="25" name="Text 25"/>
          <p:cNvSpPr txBox="1"/>
          <p:nvPr/>
        </p:nvSpPr>
        <p:spPr>
          <a:xfrm>
            <a:off x="1280160" y="374904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6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지식 → Drive에서 추가</a:t>
            </a:r>
            <a:endParaRPr lang="ko-KR" altLang="en-US" sz="1600" dirty="0"/>
          </a:p>
        </p:txBody>
      </p:sp>
      <p:sp>
        <p:nvSpPr>
          <p:cNvPr id="26" name="Text 26"/>
          <p:cNvSpPr txBox="1"/>
          <p:nvPr/>
        </p:nvSpPr>
        <p:spPr>
          <a:xfrm>
            <a:off x="4297680" y="374904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01_공문서서식/ 파일 4종 선택</a:t>
            </a:r>
            <a:endParaRPr lang="ko-KR" altLang="en-US" sz="1400" dirty="0"/>
          </a:p>
        </p:txBody>
      </p:sp>
      <p:sp>
        <p:nvSpPr>
          <p:cNvPr id="27" name="Num 27"/>
          <p:cNvSpPr/>
          <p:nvPr/>
        </p:nvSpPr>
        <p:spPr>
          <a:xfrm>
            <a:off x="548640" y="4434840"/>
            <a:ext cx="548640" cy="548640"/>
          </a:xfrm>
          <a:prstGeom prst="ellipse">
            <a:avLst/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8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4</a:t>
            </a:r>
            <a:endParaRPr lang="ko-KR" altLang="en-US" sz="1800" dirty="0"/>
          </a:p>
        </p:txBody>
      </p:sp>
      <p:sp>
        <p:nvSpPr>
          <p:cNvPr id="28" name="Text 28"/>
          <p:cNvSpPr txBox="1"/>
          <p:nvPr/>
        </p:nvSpPr>
        <p:spPr>
          <a:xfrm>
            <a:off x="1280160" y="443484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6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목록 확인</a:t>
            </a:r>
            <a:endParaRPr lang="ko-KR" altLang="en-US" sz="1600" dirty="0"/>
          </a:p>
        </p:txBody>
      </p:sp>
      <p:sp>
        <p:nvSpPr>
          <p:cNvPr id="29" name="Text 29"/>
          <p:cNvSpPr txBox="1"/>
          <p:nvPr/>
        </p:nvSpPr>
        <p:spPr>
          <a:xfrm>
            <a:off x="4297680" y="443484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지식 영역에 4개가 모두 보이는지</a:t>
            </a:r>
            <a:endParaRPr lang="ko-KR" altLang="en-US" sz="1400" dirty="0"/>
          </a:p>
        </p:txBody>
      </p:sp>
      <p:sp>
        <p:nvSpPr>
          <p:cNvPr id="30" name="Num 30"/>
          <p:cNvSpPr/>
          <p:nvPr/>
        </p:nvSpPr>
        <p:spPr>
          <a:xfrm>
            <a:off x="548640" y="5120640"/>
            <a:ext cx="548640" cy="548640"/>
          </a:xfrm>
          <a:prstGeom prst="ellipse">
            <a:avLst/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8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5</a:t>
            </a:r>
            <a:endParaRPr lang="ko-KR" altLang="en-US" sz="1800" dirty="0"/>
          </a:p>
        </p:txBody>
      </p:sp>
      <p:sp>
        <p:nvSpPr>
          <p:cNvPr id="31" name="Text 31"/>
          <p:cNvSpPr txBox="1"/>
          <p:nvPr/>
        </p:nvSpPr>
        <p:spPr>
          <a:xfrm>
            <a:off x="1280160" y="512064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6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저장</a:t>
            </a:r>
            <a:endParaRPr lang="ko-KR" altLang="en-US" sz="1600" dirty="0"/>
          </a:p>
        </p:txBody>
      </p:sp>
      <p:sp>
        <p:nvSpPr>
          <p:cNvPr id="32" name="Text 32"/>
          <p:cNvSpPr txBox="1"/>
          <p:nvPr/>
        </p:nvSpPr>
        <p:spPr>
          <a:xfrm>
            <a:off x="4297680" y="512064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오른쪽 미리보기 창에서 바로 테스트</a:t>
            </a:r>
            <a:endParaRPr lang="ko-KR" altLang="en-US" sz="1400" dirty="0"/>
          </a:p>
        </p:txBody>
      </p:sp>
      <p:sp>
        <p:nvSpPr>
          <p:cNvPr id="33" name="Card 33"/>
          <p:cNvSpPr/>
          <p:nvPr/>
        </p:nvSpPr>
        <p:spPr>
          <a:xfrm>
            <a:off x="7680960" y="2377440"/>
            <a:ext cx="3959352" cy="32918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164592" rIns="182880" bIns="109728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체크 포인트</a:t>
            </a:r>
            <a:endParaRPr lang="ko-KR" altLang="en-US" sz="1700" dirty="0"/>
          </a:p>
          <a:p>
            <a:pPr algn="l" marL="228600" indent="-228600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Drive 파일은 ‘내 드라이브’ 사본으로 연결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스캔 PDF는 텍스트 문서로 변환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요청사항에 지식 파일명을 「 」로 정확히 적기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실제 업무 자료는 개인정보 제거본만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2부 · 실습 1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STEP 4  테스트 프롬프트 3종</a:t>
            </a:r>
            <a:endParaRPr lang="ko-KR" altLang="en-US" sz="2400" dirty="0"/>
          </a:p>
        </p:txBody>
      </p:sp>
      <p:sp>
        <p:nvSpPr>
          <p:cNvPr id="13" name="Step 13"/>
          <p:cNvSpPr/>
          <p:nvPr/>
        </p:nvSpPr>
        <p:spPr>
          <a:xfrm>
            <a:off x="54864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1  초안 받기</a:t>
            </a:r>
            <a:endParaRPr lang="ko-KR" altLang="en-US" sz="1250" dirty="0"/>
          </a:p>
        </p:txBody>
      </p:sp>
      <p:sp>
        <p:nvSpPr>
          <p:cNvPr id="14" name="Step 14"/>
          <p:cNvSpPr/>
          <p:nvPr/>
        </p:nvSpPr>
        <p:spPr>
          <a:xfrm>
            <a:off x="278892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2  요청사항 완성</a:t>
            </a:r>
            <a:endParaRPr lang="ko-KR" altLang="en-US" sz="1250" dirty="0"/>
          </a:p>
        </p:txBody>
      </p:sp>
      <p:sp>
        <p:nvSpPr>
          <p:cNvPr id="15" name="Step 15"/>
          <p:cNvSpPr/>
          <p:nvPr/>
        </p:nvSpPr>
        <p:spPr>
          <a:xfrm>
            <a:off x="502920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3  지식 연결</a:t>
            </a:r>
            <a:endParaRPr lang="ko-KR" altLang="en-US" sz="1250" dirty="0"/>
          </a:p>
        </p:txBody>
      </p:sp>
      <p:sp>
        <p:nvSpPr>
          <p:cNvPr id="16" name="Step 16"/>
          <p:cNvSpPr/>
          <p:nvPr/>
        </p:nvSpPr>
        <p:spPr>
          <a:xfrm>
            <a:off x="7269480" y="1691640"/>
            <a:ext cx="2130552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 xml:space="preserve">STEP 4  테스트</a:t>
            </a:r>
            <a:endParaRPr lang="ko-KR" altLang="en-US" sz="1250" dirty="0"/>
          </a:p>
        </p:txBody>
      </p:sp>
      <p:sp>
        <p:nvSpPr>
          <p:cNvPr id="17" name="Step 17"/>
          <p:cNvSpPr/>
          <p:nvPr/>
        </p:nvSpPr>
        <p:spPr>
          <a:xfrm>
            <a:off x="950976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5  보완</a:t>
            </a:r>
            <a:endParaRPr lang="ko-KR" altLang="en-US" sz="1250" dirty="0"/>
          </a:p>
        </p:txBody>
      </p:sp>
      <p:sp>
        <p:nvSpPr>
          <p:cNvPr id="18" name="Prompt 18"/>
          <p:cNvSpPr/>
          <p:nvPr/>
        </p:nvSpPr>
        <p:spPr>
          <a:xfrm>
            <a:off x="548640" y="2331720"/>
            <a:ext cx="3575304" cy="2743200"/>
          </a:xfrm>
          <a:prstGeom prst="roundRect">
            <a:avLst>
              <a:gd name="adj" fmla="val 4000"/>
            </a:avLst>
          </a:prstGeom>
          <a:solidFill>
            <a:srgbClr val="1C1F4A"/>
          </a:solidFill>
          <a:ln>
            <a:noFill/>
          </a:ln>
        </p:spPr>
        <p:txBody>
          <a:bodyPr wrap="square" lIns="228600" tIns="457200" rIns="228600" bIns="13716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기안문 써줘.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제목: 2026학년도 2학기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학부모 공개수업 운영 계획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일시: 2026. 11. 13.(금) 2~3교시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장소: 각 학급 교실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대상: 전교 학부모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내용: 공개수업 후 담임 상담,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주차 불가 안내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붙임: 운영 계획서 1부,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가정통신문 1부</a:t>
            </a:r>
            <a:endParaRPr lang="ko-KR" altLang="en-US" sz="1300" dirty="0"/>
          </a:p>
        </p:txBody>
      </p:sp>
      <p:sp>
        <p:nvSpPr>
          <p:cNvPr id="19" name="Chip 19"/>
          <p:cNvSpPr/>
          <p:nvPr/>
        </p:nvSpPr>
        <p:spPr>
          <a:xfrm>
            <a:off x="731520" y="245059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9B5C8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100" b="0" dirty="0">
                <a:solidFill>
                  <a:srgbClr val="1C1F4A"/>
                </a:solidFill>
                <a:latin typeface="Pretendard ExtraBold"/>
                <a:ea typeface="Pretendard ExtraBold"/>
                <a:cs typeface="Pretendard ExtraBold"/>
              </a:rPr>
              <a:t xml:space="preserve">① 정보 충분</a:t>
            </a:r>
            <a:endParaRPr lang="ko-KR" altLang="en-US" sz="1100" dirty="0"/>
          </a:p>
        </p:txBody>
      </p:sp>
      <p:sp>
        <p:nvSpPr>
          <p:cNvPr id="20" name="Copy hint 20"/>
          <p:cNvSpPr txBox="1"/>
          <p:nvPr/>
        </p:nvSpPr>
        <p:spPr>
          <a:xfrm>
            <a:off x="1197864" y="24414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ko-KR" altLang="en-US" sz="1050" b="0" dirty="0">
                <a:solidFill>
                  <a:srgbClr val="9CA3D9"/>
                </a:solidFill>
                <a:latin typeface="Pretendard Medium"/>
                <a:ea typeface="Pretendard Medium"/>
                <a:cs typeface="Pretendard Medium"/>
              </a:rPr>
              <a:t xml:space="preserve"> </a:t>
            </a:r>
            <a:endParaRPr lang="ko-KR" altLang="en-US" sz="1050" dirty="0"/>
          </a:p>
        </p:txBody>
      </p:sp>
      <p:sp>
        <p:nvSpPr>
          <p:cNvPr id="21" name="Prompt 21"/>
          <p:cNvSpPr/>
          <p:nvPr/>
        </p:nvSpPr>
        <p:spPr>
          <a:xfrm>
            <a:off x="4306824" y="2331720"/>
            <a:ext cx="3575304" cy="2743200"/>
          </a:xfrm>
          <a:prstGeom prst="roundRect">
            <a:avLst>
              <a:gd name="adj" fmla="val 4000"/>
            </a:avLst>
          </a:prstGeom>
          <a:solidFill>
            <a:srgbClr val="1C1F4A"/>
          </a:solidFill>
          <a:ln>
            <a:noFill/>
          </a:ln>
        </p:spPr>
        <p:txBody>
          <a:bodyPr wrap="square" lIns="228600" tIns="457200" rIns="228600" bIns="13716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방과후학교 강사 채용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공고 기안문 만들어줘.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→ 바로 쓰지 않고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  필수 정보를 한 번에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  묻는지 확인!</a:t>
            </a:r>
            <a:endParaRPr lang="ko-KR" altLang="en-US" sz="1300" dirty="0"/>
          </a:p>
        </p:txBody>
      </p:sp>
      <p:sp>
        <p:nvSpPr>
          <p:cNvPr id="22" name="Chip 22"/>
          <p:cNvSpPr/>
          <p:nvPr/>
        </p:nvSpPr>
        <p:spPr>
          <a:xfrm>
            <a:off x="4489704" y="245059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9B5C8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100" b="0" dirty="0">
                <a:solidFill>
                  <a:srgbClr val="1C1F4A"/>
                </a:solidFill>
                <a:latin typeface="Pretendard ExtraBold"/>
                <a:ea typeface="Pretendard ExtraBold"/>
                <a:cs typeface="Pretendard ExtraBold"/>
              </a:rPr>
              <a:t xml:space="preserve">② 정보 부족</a:t>
            </a:r>
            <a:endParaRPr lang="ko-KR" altLang="en-US" sz="1100" dirty="0"/>
          </a:p>
        </p:txBody>
      </p:sp>
      <p:sp>
        <p:nvSpPr>
          <p:cNvPr id="23" name="Copy hint 23"/>
          <p:cNvSpPr txBox="1"/>
          <p:nvPr/>
        </p:nvSpPr>
        <p:spPr>
          <a:xfrm>
            <a:off x="4956048" y="24414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ko-KR" altLang="en-US" sz="1050" b="0" dirty="0">
                <a:solidFill>
                  <a:srgbClr val="9CA3D9"/>
                </a:solidFill>
                <a:latin typeface="Pretendard Medium"/>
                <a:ea typeface="Pretendard Medium"/>
                <a:cs typeface="Pretendard Medium"/>
              </a:rPr>
              <a:t xml:space="preserve"> </a:t>
            </a:r>
            <a:endParaRPr lang="ko-KR" altLang="en-US" sz="1050" dirty="0"/>
          </a:p>
        </p:txBody>
      </p:sp>
      <p:sp>
        <p:nvSpPr>
          <p:cNvPr id="24" name="Prompt 24"/>
          <p:cNvSpPr/>
          <p:nvPr/>
        </p:nvSpPr>
        <p:spPr>
          <a:xfrm>
            <a:off x="8065008" y="2331720"/>
            <a:ext cx="3575304" cy="2743200"/>
          </a:xfrm>
          <a:prstGeom prst="roundRect">
            <a:avLst>
              <a:gd name="adj" fmla="val 4000"/>
            </a:avLst>
          </a:prstGeom>
          <a:solidFill>
            <a:srgbClr val="1C1F4A"/>
          </a:solidFill>
          <a:ln>
            <a:noFill/>
          </a:ln>
        </p:spPr>
        <p:txBody>
          <a:bodyPr wrap="square" lIns="228600" tIns="457200" rIns="228600" bIns="13716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교직원 대상 ‘AI 업무 활용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역량 강화 연수’ 기획안 써줘.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기간: 2026. 11.~12., 월 2회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대상: 전 교직원 45명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예산: 강사비 1,200,000원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→ Ⅰ~Ⅶ 구조, 일정·예산 표,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  금액 표기 확인</a:t>
            </a:r>
            <a:endParaRPr lang="ko-KR" altLang="en-US" sz="1300" dirty="0"/>
          </a:p>
        </p:txBody>
      </p:sp>
      <p:sp>
        <p:nvSpPr>
          <p:cNvPr id="25" name="Chip 25"/>
          <p:cNvSpPr/>
          <p:nvPr/>
        </p:nvSpPr>
        <p:spPr>
          <a:xfrm>
            <a:off x="8247888" y="245059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9B5C8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100" b="0" dirty="0">
                <a:solidFill>
                  <a:srgbClr val="1C1F4A"/>
                </a:solidFill>
                <a:latin typeface="Pretendard ExtraBold"/>
                <a:ea typeface="Pretendard ExtraBold"/>
                <a:cs typeface="Pretendard ExtraBold"/>
              </a:rPr>
              <a:t xml:space="preserve">③ 기획안</a:t>
            </a:r>
            <a:endParaRPr lang="ko-KR" altLang="en-US" sz="1100" dirty="0"/>
          </a:p>
        </p:txBody>
      </p:sp>
      <p:sp>
        <p:nvSpPr>
          <p:cNvPr id="26" name="Copy hint 26"/>
          <p:cNvSpPr txBox="1"/>
          <p:nvPr/>
        </p:nvSpPr>
        <p:spPr>
          <a:xfrm>
            <a:off x="8714232" y="24414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ko-KR" altLang="en-US" sz="1050" b="0" dirty="0">
                <a:solidFill>
                  <a:srgbClr val="9CA3D9"/>
                </a:solidFill>
                <a:latin typeface="Pretendard Medium"/>
                <a:ea typeface="Pretendard Medium"/>
                <a:cs typeface="Pretendard Medium"/>
              </a:rPr>
              <a:t xml:space="preserve"> </a:t>
            </a:r>
            <a:endParaRPr lang="ko-KR" altLang="en-US" sz="1050" dirty="0"/>
          </a:p>
        </p:txBody>
      </p:sp>
      <p:sp>
        <p:nvSpPr>
          <p:cNvPr id="27" name="Callout 27"/>
          <p:cNvSpPr/>
          <p:nvPr/>
        </p:nvSpPr>
        <p:spPr>
          <a:xfrm>
            <a:off x="548640" y="5303520"/>
            <a:ext cx="11091672" cy="548640"/>
          </a:xfrm>
          <a:prstGeom prst="roundRect">
            <a:avLst>
              <a:gd name="adj" fmla="val 30000"/>
            </a:avLst>
          </a:prstGeom>
          <a:solidFill>
            <a:srgbClr val="E6E8FA"/>
          </a:solidFill>
          <a:ln>
            <a:noFill/>
          </a:ln>
        </p:spPr>
        <p:txBody>
          <a:bodyPr wrap="square" lIns="274320" tIns="0" rIns="274320" bIns="0" rtlCol="0" anchor="ctr">
            <a:noAutofit/>
          </a:bodyPr>
          <a:lstStyle/>
          <a:p>
            <a:pPr algn="l">
              <a:buNone/>
            </a:pPr>
            <a:r>
              <a:rPr lang="ko-KR" altLang="en-US" sz="1300" b="0" dirty="0">
                <a:solidFill>
                  <a:srgbClr val="1720AF"/>
                </a:solidFill>
                <a:latin typeface="Pretendard SemiBold"/>
                <a:ea typeface="Pretendard SemiBold"/>
                <a:cs typeface="Pretendard SemiBold"/>
              </a:rPr>
              <a:t xml:space="preserve">확인: 항목 기호 · 날짜/시간 표기 · 붙임 번호 · ‘끝.’ 위치 · 자체 점검표 출력 여부</a:t>
            </a:r>
            <a:endParaRPr lang="ko-KR" alt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2부 · 실습 1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STEP 5  결과 보완 — 요청사항에 한 줄 추가</a:t>
            </a:r>
            <a:endParaRPr lang="ko-KR" altLang="en-US" sz="2400" dirty="0"/>
          </a:p>
        </p:txBody>
      </p:sp>
      <p:sp>
        <p:nvSpPr>
          <p:cNvPr id="13" name="Step 13"/>
          <p:cNvSpPr/>
          <p:nvPr/>
        </p:nvSpPr>
        <p:spPr>
          <a:xfrm>
            <a:off x="54864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1  초안 받기</a:t>
            </a:r>
            <a:endParaRPr lang="ko-KR" altLang="en-US" sz="1250" dirty="0"/>
          </a:p>
        </p:txBody>
      </p:sp>
      <p:sp>
        <p:nvSpPr>
          <p:cNvPr id="14" name="Step 14"/>
          <p:cNvSpPr/>
          <p:nvPr/>
        </p:nvSpPr>
        <p:spPr>
          <a:xfrm>
            <a:off x="278892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2  요청사항 완성</a:t>
            </a:r>
            <a:endParaRPr lang="ko-KR" altLang="en-US" sz="1250" dirty="0"/>
          </a:p>
        </p:txBody>
      </p:sp>
      <p:sp>
        <p:nvSpPr>
          <p:cNvPr id="15" name="Step 15"/>
          <p:cNvSpPr/>
          <p:nvPr/>
        </p:nvSpPr>
        <p:spPr>
          <a:xfrm>
            <a:off x="502920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3  지식 연결</a:t>
            </a:r>
            <a:endParaRPr lang="ko-KR" altLang="en-US" sz="1250" dirty="0"/>
          </a:p>
        </p:txBody>
      </p:sp>
      <p:sp>
        <p:nvSpPr>
          <p:cNvPr id="16" name="Step 16"/>
          <p:cNvSpPr/>
          <p:nvPr/>
        </p:nvSpPr>
        <p:spPr>
          <a:xfrm>
            <a:off x="726948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4  테스트</a:t>
            </a:r>
            <a:endParaRPr lang="ko-KR" altLang="en-US" sz="1250" dirty="0"/>
          </a:p>
        </p:txBody>
      </p:sp>
      <p:sp>
        <p:nvSpPr>
          <p:cNvPr id="17" name="Step 17"/>
          <p:cNvSpPr/>
          <p:nvPr/>
        </p:nvSpPr>
        <p:spPr>
          <a:xfrm>
            <a:off x="9509760" y="1691640"/>
            <a:ext cx="2130552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 xml:space="preserve">STEP 5  보완</a:t>
            </a:r>
            <a:endParaRPr lang="ko-KR" altLang="en-US" sz="1250" dirty="0"/>
          </a:p>
        </p:txBody>
      </p:sp>
      <p:graphicFrame>
        <p:nvGraphicFramePr>
          <p:cNvPr id="18" name="Table 18"/>
          <p:cNvGraphicFramePr>
            <a:graphicFrameLocks noGrp="1"/>
          </p:cNvGraphicFramePr>
          <p:nvPr/>
        </p:nvGraphicFramePr>
        <p:xfrm>
          <a:off x="548640" y="2331720"/>
          <a:ext cx="11091672" cy="3017520"/>
        </p:xfrm>
        <a:graphic>
          <a:graphicData uri="http://schemas.openxmlformats.org/drawingml/2006/table">
            <a:tbl>
              <a:tblPr firstRow="1" bandRow="1"/>
              <a:tblGrid>
                <a:gridCol w="2970984"/>
                <a:gridCol w="1980656"/>
                <a:gridCol w="6140033"/>
              </a:tblGrid>
              <a:tr h="502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35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증상</a:t>
                      </a:r>
                      <a:endParaRPr lang="ko-KR" altLang="en-US" sz="13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35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원인</a:t>
                      </a:r>
                      <a:endParaRPr lang="ko-KR" altLang="en-US" sz="13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35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요청사항에 추가할 문장</a:t>
                      </a:r>
                      <a:endParaRPr lang="ko-KR" altLang="en-US" sz="13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35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항목 기호가 1. 2. 3.만 반복</a:t>
                      </a:r>
                      <a:endParaRPr lang="ko-KR" altLang="en-US" sz="13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3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위계 규칙 미인식</a:t>
                      </a:r>
                      <a:endParaRPr lang="ko-KR" altLang="en-US" sz="13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3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하위 항목은 반드시 1. → 가. → 1) → 가) 순서로 내려간다.</a:t>
                      </a:r>
                      <a:endParaRPr lang="ko-KR" altLang="en-US" sz="13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35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날짜가 ‘2026년 11월 13일’</a:t>
                      </a:r>
                      <a:endParaRPr lang="ko-KR" altLang="en-US" sz="13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3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일반 문체로 회귀</a:t>
                      </a:r>
                      <a:endParaRPr lang="ko-KR" altLang="en-US" sz="13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3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날짜는 예외 없이 2026. 11. 13. 형식으로 쓴다.</a:t>
                      </a:r>
                      <a:endParaRPr lang="ko-KR" altLang="en-US" sz="13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35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공문 번호를 지어냄</a:t>
                      </a:r>
                      <a:endParaRPr lang="ko-KR" altLang="en-US" sz="13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3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환각</a:t>
                      </a:r>
                      <a:endParaRPr lang="ko-KR" altLang="en-US" sz="13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3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모르는 번호·조항은 [확인 필요]로 둔다.</a:t>
                      </a:r>
                      <a:endParaRPr lang="ko-KR" altLang="en-US" sz="13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35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너무 길고 장황함</a:t>
                      </a:r>
                      <a:endParaRPr lang="ko-KR" altLang="en-US" sz="13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3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분량 지시 없음</a:t>
                      </a:r>
                      <a:endParaRPr lang="ko-KR" altLang="en-US" sz="13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3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기안문 본문은 A4 1쪽 이내, 개조식으로 쓴다.</a:t>
                      </a:r>
                      <a:endParaRPr lang="ko-KR" altLang="en-US" sz="13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35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지식 파일을 안 따름</a:t>
                      </a:r>
                      <a:endParaRPr lang="ko-KR" altLang="en-US" sz="13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3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참조 지시 약함</a:t>
                      </a:r>
                      <a:endParaRPr lang="ko-KR" altLang="en-US" sz="13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3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반드시 「기안문_예시_3종」의 문체를 우선 따른다.</a:t>
                      </a:r>
                      <a:endParaRPr lang="ko-KR" altLang="en-US" sz="13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Callout 19"/>
          <p:cNvSpPr/>
          <p:nvPr/>
        </p:nvSpPr>
        <p:spPr>
          <a:xfrm>
            <a:off x="548640" y="5532120"/>
            <a:ext cx="11091672" cy="457200"/>
          </a:xfrm>
          <a:prstGeom prst="roundRect">
            <a:avLst>
              <a:gd name="adj" fmla="val 30000"/>
            </a:avLst>
          </a:prstGeom>
          <a:solidFill>
            <a:srgbClr val="E6E8FA"/>
          </a:solidFill>
          <a:ln>
            <a:noFill/>
          </a:ln>
        </p:spPr>
        <p:txBody>
          <a:bodyPr wrap="square" lIns="274320" tIns="0" rIns="274320" bIns="0" rtlCol="0" anchor="ctr">
            <a:noAutofit/>
          </a:bodyPr>
          <a:lstStyle/>
          <a:p>
            <a:pPr algn="l">
              <a:buNone/>
            </a:pPr>
            <a:r>
              <a:rPr lang="ko-KR" altLang="en-US" sz="1300" b="0" dirty="0">
                <a:solidFill>
                  <a:srgbClr val="1720AF"/>
                </a:solidFill>
                <a:latin typeface="Pretendard SemiBold"/>
                <a:ea typeface="Pretendard SemiBold"/>
                <a:cs typeface="Pretendard SemiBold"/>
              </a:rPr>
              <a:t xml:space="preserve">관리자 포인트 — 가치는 ‘잘 쓴 공문 1건’이 아니라 전 교직원의 공문 품질이 같은 기준으로 맞춰지는 것</a:t>
            </a:r>
            <a:endParaRPr lang="ko-KR" alt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BREAK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/>
            </a:r>
            <a:endParaRPr lang="ko-KR" altLang="en-US" sz="2400" dirty="0"/>
          </a:p>
        </p:txBody>
      </p:sp>
      <p:sp>
        <p:nvSpPr>
          <p:cNvPr id="13" name="Text 13"/>
          <p:cNvSpPr txBox="1"/>
          <p:nvPr/>
        </p:nvSpPr>
        <p:spPr>
          <a:xfrm>
            <a:off x="548640" y="2788920"/>
            <a:ext cx="1109167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38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휴식 10분</a:t>
            </a:r>
            <a:endParaRPr lang="ko-KR" altLang="en-US" sz="3800" dirty="0"/>
          </a:p>
        </p:txBody>
      </p:sp>
      <p:sp>
        <p:nvSpPr>
          <p:cNvPr id="14" name="Text 14"/>
          <p:cNvSpPr txBox="1"/>
          <p:nvPr/>
        </p:nvSpPr>
        <p:spPr>
          <a:xfrm>
            <a:off x="548640" y="3794760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다음: 실습 2 · 가정통신문 자동 빌더</a:t>
            </a:r>
            <a:endParaRPr lang="ko-KR" alt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2부 · 실습 2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학사일정 연동 ‘가정통신문 자동 빌더’</a:t>
            </a:r>
            <a:endParaRPr lang="ko-KR" altLang="en-US" sz="2400" dirty="0"/>
          </a:p>
        </p:txBody>
      </p:sp>
      <p:sp>
        <p:nvSpPr>
          <p:cNvPr id="13" name="Step 13"/>
          <p:cNvSpPr/>
          <p:nvPr/>
        </p:nvSpPr>
        <p:spPr>
          <a:xfrm>
            <a:off x="548640" y="1691640"/>
            <a:ext cx="2130552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 xml:space="preserve">STEP 1  시트 설계</a:t>
            </a:r>
            <a:endParaRPr lang="ko-KR" altLang="en-US" sz="1250" dirty="0"/>
          </a:p>
        </p:txBody>
      </p:sp>
      <p:sp>
        <p:nvSpPr>
          <p:cNvPr id="14" name="Step 14"/>
          <p:cNvSpPr/>
          <p:nvPr/>
        </p:nvSpPr>
        <p:spPr>
          <a:xfrm>
            <a:off x="278892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2  요청사항</a:t>
            </a:r>
            <a:endParaRPr lang="ko-KR" altLang="en-US" sz="1250" dirty="0"/>
          </a:p>
        </p:txBody>
      </p:sp>
      <p:sp>
        <p:nvSpPr>
          <p:cNvPr id="15" name="Step 15"/>
          <p:cNvSpPr/>
          <p:nvPr/>
        </p:nvSpPr>
        <p:spPr>
          <a:xfrm>
            <a:off x="502920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3  테스트</a:t>
            </a:r>
            <a:endParaRPr lang="ko-KR" altLang="en-US" sz="1250" dirty="0"/>
          </a:p>
        </p:txBody>
      </p:sp>
      <p:sp>
        <p:nvSpPr>
          <p:cNvPr id="16" name="Step 16"/>
          <p:cNvSpPr/>
          <p:nvPr/>
        </p:nvSpPr>
        <p:spPr>
          <a:xfrm>
            <a:off x="726948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4  연동 체험</a:t>
            </a:r>
            <a:endParaRPr lang="ko-KR" altLang="en-US" sz="1250" dirty="0"/>
          </a:p>
        </p:txBody>
      </p:sp>
      <p:sp>
        <p:nvSpPr>
          <p:cNvPr id="17" name="Step 17"/>
          <p:cNvSpPr/>
          <p:nvPr/>
        </p:nvSpPr>
        <p:spPr>
          <a:xfrm>
            <a:off x="950976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5  확장</a:t>
            </a:r>
            <a:endParaRPr lang="ko-KR" altLang="en-US" sz="1250" dirty="0"/>
          </a:p>
        </p:txBody>
      </p:sp>
      <p:sp>
        <p:nvSpPr>
          <p:cNvPr id="18" name="Text 18"/>
          <p:cNvSpPr txBox="1"/>
          <p:nvPr/>
        </p:nvSpPr>
        <p:spPr>
          <a:xfrm>
            <a:off x="548640" y="2286000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6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STEP 1  지식 파일 ① 「2026_학사일정」 Google Sheets 구조</a:t>
            </a:r>
            <a:endParaRPr lang="ko-KR" altLang="en-US" sz="1600" dirty="0"/>
          </a:p>
        </p:txBody>
      </p:sp>
      <p:graphicFrame>
        <p:nvGraphicFramePr>
          <p:cNvPr id="19" name="Table 19"/>
          <p:cNvGraphicFramePr>
            <a:graphicFrameLocks noGrp="1"/>
          </p:cNvGraphicFramePr>
          <p:nvPr/>
        </p:nvGraphicFramePr>
        <p:xfrm>
          <a:off x="548640" y="2743200"/>
          <a:ext cx="11091672" cy="2578608"/>
        </p:xfrm>
        <a:graphic>
          <a:graphicData uri="http://schemas.openxmlformats.org/drawingml/2006/table">
            <a:tbl>
              <a:tblPr firstRow="1" bandRow="1"/>
              <a:tblGrid>
                <a:gridCol w="1552834"/>
                <a:gridCol w="665500"/>
                <a:gridCol w="2329251"/>
                <a:gridCol w="998250"/>
                <a:gridCol w="1109167"/>
                <a:gridCol w="1220084"/>
                <a:gridCol w="1220084"/>
                <a:gridCol w="1996501"/>
              </a:tblGrid>
              <a:tr h="4297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날짜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요일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행사명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대상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시간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장소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학부모 안내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준비물/비고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2026-11-04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수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진로체험의 날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2학년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09:00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외부 기관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Y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체험 동의서 제출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2026-11-13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금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학부모 공개수업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전학년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2~3교시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각 교실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Y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주차 불가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2026-11-19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목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수능일 재량휴업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전교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—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—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Y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등교 없음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2026-11-26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목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학교폭력 예방교육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전교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5교시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강당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N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—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2026-12-08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화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2학기 2차 지필평가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1~3학년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1~3교시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각 교실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Y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평가 범위 안내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Callout 20"/>
          <p:cNvSpPr/>
          <p:nvPr/>
        </p:nvSpPr>
        <p:spPr>
          <a:xfrm>
            <a:off x="548640" y="5486400"/>
            <a:ext cx="11091672" cy="502920"/>
          </a:xfrm>
          <a:prstGeom prst="roundRect">
            <a:avLst>
              <a:gd name="adj" fmla="val 30000"/>
            </a:avLst>
          </a:prstGeom>
          <a:solidFill>
            <a:srgbClr val="E6E8FA"/>
          </a:solidFill>
          <a:ln>
            <a:noFill/>
          </a:ln>
        </p:spPr>
        <p:txBody>
          <a:bodyPr wrap="square" lIns="274320" tIns="0" rIns="274320" bIns="0" rtlCol="0" anchor="ctr">
            <a:noAutofit/>
          </a:bodyPr>
          <a:lstStyle/>
          <a:p>
            <a:pPr algn="l">
              <a:buNone/>
            </a:pPr>
            <a:r>
              <a:rPr lang="ko-KR" altLang="en-US" sz="1300" b="0" dirty="0">
                <a:solidFill>
                  <a:srgbClr val="1720AF"/>
                </a:solidFill>
                <a:latin typeface="Pretendard SemiBold"/>
                <a:ea typeface="Pretendard SemiBold"/>
                <a:cs typeface="Pretendard SemiBold"/>
              </a:rPr>
              <a:t xml:space="preserve">설계 팁 — ‘학부모 안내(Y/N)’ 열 하나로 Gem이 통신문에 넣을 행사만 골라냅니다. AI를 위한 데이터 설계가 곧 AX!</a:t>
            </a:r>
            <a:endParaRPr lang="ko-KR" alt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2부 · 실습 2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STEP 2  요청사항 ① 역할 · 지식 규칙 · 작업 유형</a:t>
            </a:r>
            <a:endParaRPr lang="ko-KR" altLang="en-US" sz="2400" dirty="0"/>
          </a:p>
        </p:txBody>
      </p:sp>
      <p:sp>
        <p:nvSpPr>
          <p:cNvPr id="13" name="Step 13"/>
          <p:cNvSpPr/>
          <p:nvPr/>
        </p:nvSpPr>
        <p:spPr>
          <a:xfrm>
            <a:off x="54864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1  시트 설계</a:t>
            </a:r>
            <a:endParaRPr lang="ko-KR" altLang="en-US" sz="1250" dirty="0"/>
          </a:p>
        </p:txBody>
      </p:sp>
      <p:sp>
        <p:nvSpPr>
          <p:cNvPr id="14" name="Step 14"/>
          <p:cNvSpPr/>
          <p:nvPr/>
        </p:nvSpPr>
        <p:spPr>
          <a:xfrm>
            <a:off x="2788920" y="1691640"/>
            <a:ext cx="2130552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 xml:space="preserve">STEP 2  요청사항</a:t>
            </a:r>
            <a:endParaRPr lang="ko-KR" altLang="en-US" sz="1250" dirty="0"/>
          </a:p>
        </p:txBody>
      </p:sp>
      <p:sp>
        <p:nvSpPr>
          <p:cNvPr id="15" name="Step 15"/>
          <p:cNvSpPr/>
          <p:nvPr/>
        </p:nvSpPr>
        <p:spPr>
          <a:xfrm>
            <a:off x="502920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3  테스트</a:t>
            </a:r>
            <a:endParaRPr lang="ko-KR" altLang="en-US" sz="1250" dirty="0"/>
          </a:p>
        </p:txBody>
      </p:sp>
      <p:sp>
        <p:nvSpPr>
          <p:cNvPr id="16" name="Step 16"/>
          <p:cNvSpPr/>
          <p:nvPr/>
        </p:nvSpPr>
        <p:spPr>
          <a:xfrm>
            <a:off x="726948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4  연동 체험</a:t>
            </a:r>
            <a:endParaRPr lang="ko-KR" altLang="en-US" sz="1250" dirty="0"/>
          </a:p>
        </p:txBody>
      </p:sp>
      <p:sp>
        <p:nvSpPr>
          <p:cNvPr id="17" name="Step 17"/>
          <p:cNvSpPr/>
          <p:nvPr/>
        </p:nvSpPr>
        <p:spPr>
          <a:xfrm>
            <a:off x="950976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5  확장</a:t>
            </a:r>
            <a:endParaRPr lang="ko-KR" altLang="en-US" sz="1250" dirty="0"/>
          </a:p>
        </p:txBody>
      </p:sp>
      <p:sp>
        <p:nvSpPr>
          <p:cNvPr id="18" name="Prompt 18"/>
          <p:cNvSpPr/>
          <p:nvPr/>
        </p:nvSpPr>
        <p:spPr>
          <a:xfrm>
            <a:off x="548640" y="2331720"/>
            <a:ext cx="11091672" cy="3657600"/>
          </a:xfrm>
          <a:prstGeom prst="roundRect">
            <a:avLst>
              <a:gd name="adj" fmla="val 4000"/>
            </a:avLst>
          </a:prstGeom>
          <a:solidFill>
            <a:srgbClr val="1C1F4A"/>
          </a:solidFill>
          <a:ln>
            <a:noFill/>
          </a:ln>
        </p:spPr>
        <p:txBody>
          <a:bodyPr wrap="square" lIns="228600" tIns="457200" rIns="228600" bIns="13716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# 역할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너는 정보중학교의 가정통신문 작성 전문 AI 비서다. 학부모가 한눈에 이해할 수 있는 따뜻하고 명확한 가정통신문을 만든다.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# 지식 활용 규칙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- 일정 정보는 반드시 지식 파일 「2026_학사일정」 시트에서만 가져온다. 시트에 없는 날짜·행사는 만들지 않고 [확인 필요]로 표시한다.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- 형식은 「가정통신문_양식」을, 학교 정보는 「학교_기본정보」를 따른다.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# 작업 유형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[1] “○월 가정통신문” → 해당 월에서 ‘학부모 안내=Y’인 행사를 날짜순으로 모아 [이달의 주요 일정] 표 + 행사별 안내 문단을 작성한다.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[2] “○○ 안내문” → 학사일정에서 해당 행사를 찾아 일시·장소·대상·준비물을 반영한다.</a:t>
            </a:r>
            <a:endParaRPr lang="ko-KR" altLang="en-US" sz="13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[3] 회신서 요청 시 → 절취선(- - - 자르는 선 - - -)과 회신서(학년 반 번호 이름, 동의/미동의, 보호자 서명란)를 넣는다.</a:t>
            </a:r>
            <a:endParaRPr lang="ko-KR" altLang="en-US" sz="1300" dirty="0"/>
          </a:p>
        </p:txBody>
      </p:sp>
      <p:sp>
        <p:nvSpPr>
          <p:cNvPr id="19" name="Chip 19"/>
          <p:cNvSpPr/>
          <p:nvPr/>
        </p:nvSpPr>
        <p:spPr>
          <a:xfrm>
            <a:off x="731520" y="245059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9B5C8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100" b="0" dirty="0">
                <a:solidFill>
                  <a:srgbClr val="1C1F4A"/>
                </a:solidFill>
                <a:latin typeface="Pretendard ExtraBold"/>
                <a:ea typeface="Pretendard ExtraBold"/>
                <a:cs typeface="Pretendard ExtraBold"/>
              </a:rPr>
              <a:t xml:space="preserve">요청사항 ①</a:t>
            </a:r>
            <a:endParaRPr lang="ko-KR" altLang="en-US" sz="1100" dirty="0"/>
          </a:p>
        </p:txBody>
      </p:sp>
      <p:sp>
        <p:nvSpPr>
          <p:cNvPr id="20" name="Copy hint 20"/>
          <p:cNvSpPr txBox="1"/>
          <p:nvPr/>
        </p:nvSpPr>
        <p:spPr>
          <a:xfrm>
            <a:off x="8714232" y="24414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ko-KR" altLang="en-US" sz="1050" b="0" dirty="0">
                <a:solidFill>
                  <a:srgbClr val="9CA3D9"/>
                </a:solidFill>
                <a:latin typeface="Pretendard Medium"/>
                <a:ea typeface="Pretendard Medium"/>
                <a:cs typeface="Pretendard Medium"/>
              </a:rPr>
              <a:t xml:space="preserve">▶ Gemini에 그대로 복사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2부 · 실습 2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STEP 2  요청사항 ② 출력 형식 · 작성 원칙 · 금지</a:t>
            </a:r>
            <a:endParaRPr lang="ko-KR" altLang="en-US" sz="2400" dirty="0"/>
          </a:p>
        </p:txBody>
      </p:sp>
      <p:sp>
        <p:nvSpPr>
          <p:cNvPr id="13" name="Step 13"/>
          <p:cNvSpPr/>
          <p:nvPr/>
        </p:nvSpPr>
        <p:spPr>
          <a:xfrm>
            <a:off x="54864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1  시트 설계</a:t>
            </a:r>
            <a:endParaRPr lang="ko-KR" altLang="en-US" sz="1250" dirty="0"/>
          </a:p>
        </p:txBody>
      </p:sp>
      <p:sp>
        <p:nvSpPr>
          <p:cNvPr id="14" name="Step 14"/>
          <p:cNvSpPr/>
          <p:nvPr/>
        </p:nvSpPr>
        <p:spPr>
          <a:xfrm>
            <a:off x="2788920" y="1691640"/>
            <a:ext cx="2130552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 xml:space="preserve">STEP 2  요청사항</a:t>
            </a:r>
            <a:endParaRPr lang="ko-KR" altLang="en-US" sz="1250" dirty="0"/>
          </a:p>
        </p:txBody>
      </p:sp>
      <p:sp>
        <p:nvSpPr>
          <p:cNvPr id="15" name="Step 15"/>
          <p:cNvSpPr/>
          <p:nvPr/>
        </p:nvSpPr>
        <p:spPr>
          <a:xfrm>
            <a:off x="502920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3  테스트</a:t>
            </a:r>
            <a:endParaRPr lang="ko-KR" altLang="en-US" sz="1250" dirty="0"/>
          </a:p>
        </p:txBody>
      </p:sp>
      <p:sp>
        <p:nvSpPr>
          <p:cNvPr id="16" name="Step 16"/>
          <p:cNvSpPr/>
          <p:nvPr/>
        </p:nvSpPr>
        <p:spPr>
          <a:xfrm>
            <a:off x="726948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4  연동 체험</a:t>
            </a:r>
            <a:endParaRPr lang="ko-KR" altLang="en-US" sz="1250" dirty="0"/>
          </a:p>
        </p:txBody>
      </p:sp>
      <p:sp>
        <p:nvSpPr>
          <p:cNvPr id="17" name="Step 17"/>
          <p:cNvSpPr/>
          <p:nvPr/>
        </p:nvSpPr>
        <p:spPr>
          <a:xfrm>
            <a:off x="950976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5  확장</a:t>
            </a:r>
            <a:endParaRPr lang="ko-KR" altLang="en-US" sz="1250" dirty="0"/>
          </a:p>
        </p:txBody>
      </p:sp>
      <p:sp>
        <p:nvSpPr>
          <p:cNvPr id="18" name="Prompt 18"/>
          <p:cNvSpPr/>
          <p:nvPr/>
        </p:nvSpPr>
        <p:spPr>
          <a:xfrm>
            <a:off x="548640" y="2331720"/>
            <a:ext cx="5486400" cy="3657600"/>
          </a:xfrm>
          <a:prstGeom prst="roundRect">
            <a:avLst>
              <a:gd name="adj" fmla="val 4000"/>
            </a:avLst>
          </a:prstGeom>
          <a:solidFill>
            <a:srgbClr val="1C1F4A"/>
          </a:solidFill>
          <a:ln>
            <a:noFill/>
          </a:ln>
        </p:spPr>
        <p:txBody>
          <a:bodyPr wrap="square" lIns="228600" tIns="457200" rIns="228600" bIns="13716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# 출력 형식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1. 머리말: 학교명 / 가정통신문 제2026-[ ]호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  / 발행일 / 담당부서(전화)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2. 제목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3. 인사말 (계절감 있는 2~3문장)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4. [꼭 확인해 주세요] — 3줄 이내 핵심 요약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5. 본문: 일정 표 + 항목별 안내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6. 맺음말 + [정보중학교장 (직인생략)]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7. (요청 시) 회신서</a:t>
            </a:r>
            <a:endParaRPr lang="ko-KR" altLang="en-US" sz="1350" dirty="0"/>
          </a:p>
        </p:txBody>
      </p:sp>
      <p:sp>
        <p:nvSpPr>
          <p:cNvPr id="19" name="Chip 19"/>
          <p:cNvSpPr/>
          <p:nvPr/>
        </p:nvSpPr>
        <p:spPr>
          <a:xfrm>
            <a:off x="731520" y="245059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9B5C8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100" b="0" dirty="0">
                <a:solidFill>
                  <a:srgbClr val="1C1F4A"/>
                </a:solidFill>
                <a:latin typeface="Pretendard ExtraBold"/>
                <a:ea typeface="Pretendard ExtraBold"/>
                <a:cs typeface="Pretendard ExtraBold"/>
              </a:rPr>
              <a:t xml:space="preserve">요청사항 ②</a:t>
            </a:r>
            <a:endParaRPr lang="ko-KR" altLang="en-US" sz="1100" dirty="0"/>
          </a:p>
        </p:txBody>
      </p:sp>
      <p:sp>
        <p:nvSpPr>
          <p:cNvPr id="20" name="Copy hint 20"/>
          <p:cNvSpPr txBox="1"/>
          <p:nvPr/>
        </p:nvSpPr>
        <p:spPr>
          <a:xfrm>
            <a:off x="3108960" y="24414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ko-KR" altLang="en-US" sz="1050" b="0" dirty="0">
                <a:solidFill>
                  <a:srgbClr val="9CA3D9"/>
                </a:solidFill>
                <a:latin typeface="Pretendard Medium"/>
                <a:ea typeface="Pretendard Medium"/>
                <a:cs typeface="Pretendard Medium"/>
              </a:rPr>
              <a:t xml:space="preserve">▶ Gemini에 그대로 복사</a:t>
            </a:r>
            <a:endParaRPr lang="ko-KR" altLang="en-US" sz="1050" dirty="0"/>
          </a:p>
        </p:txBody>
      </p:sp>
      <p:sp>
        <p:nvSpPr>
          <p:cNvPr id="21" name="Prompt 21"/>
          <p:cNvSpPr/>
          <p:nvPr/>
        </p:nvSpPr>
        <p:spPr>
          <a:xfrm>
            <a:off x="6217920" y="2331720"/>
            <a:ext cx="5422392" cy="3657600"/>
          </a:xfrm>
          <a:prstGeom prst="roundRect">
            <a:avLst>
              <a:gd name="adj" fmla="val 4000"/>
            </a:avLst>
          </a:prstGeom>
          <a:solidFill>
            <a:srgbClr val="1C1F4A"/>
          </a:solidFill>
          <a:ln>
            <a:noFill/>
          </a:ln>
        </p:spPr>
        <p:txBody>
          <a:bodyPr wrap="square" lIns="228600" tIns="457200" rIns="228600" bIns="13716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# 작성 원칙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- 중학교 학부모 기준의 쉬운 말,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 행정용어는 풀어 쓴다.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- 날짜는 “11월 13일(금)”처럼 요일 표기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- 요청 시 핵심 요약을 영어·베트남어·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 중국어 등으로 추가 번역한다.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# 금지 사항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- 학생 이름·연락처 등 개인정보 금지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- “반드시 ~할 것” 대신 “~해 주시기 바랍니다”</a:t>
            </a:r>
            <a:endParaRPr lang="ko-KR" altLang="en-US" sz="135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35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- 확인되지 않은 비용·준비물 추가 금지</a:t>
            </a:r>
            <a:endParaRPr lang="ko-KR" altLang="en-US" sz="1350" dirty="0"/>
          </a:p>
        </p:txBody>
      </p:sp>
      <p:sp>
        <p:nvSpPr>
          <p:cNvPr id="22" name="Chip 22"/>
          <p:cNvSpPr/>
          <p:nvPr/>
        </p:nvSpPr>
        <p:spPr>
          <a:xfrm>
            <a:off x="6400800" y="245059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9B5C8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100" b="0" dirty="0">
                <a:solidFill>
                  <a:srgbClr val="1C1F4A"/>
                </a:solidFill>
                <a:latin typeface="Pretendard ExtraBold"/>
                <a:ea typeface="Pretendard ExtraBold"/>
                <a:cs typeface="Pretendard ExtraBold"/>
              </a:rPr>
              <a:t xml:space="preserve">요청사항 ③</a:t>
            </a:r>
            <a:endParaRPr lang="ko-KR" altLang="en-US" sz="1100" dirty="0"/>
          </a:p>
        </p:txBody>
      </p:sp>
      <p:sp>
        <p:nvSpPr>
          <p:cNvPr id="23" name="Copy hint 23"/>
          <p:cNvSpPr txBox="1"/>
          <p:nvPr/>
        </p:nvSpPr>
        <p:spPr>
          <a:xfrm>
            <a:off x="8714232" y="24414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ko-KR" altLang="en-US" sz="1050" b="0" dirty="0">
                <a:solidFill>
                  <a:srgbClr val="9CA3D9"/>
                </a:solidFill>
                <a:latin typeface="Pretendard Medium"/>
                <a:ea typeface="Pretendard Medium"/>
                <a:cs typeface="Pretendard Medium"/>
              </a:rPr>
              <a:t xml:space="preserve">▶ ①②③ 이어 붙이기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2부 · 실습 2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STEP 3  테스트 프롬프트 3종</a:t>
            </a:r>
            <a:endParaRPr lang="ko-KR" altLang="en-US" sz="2400" dirty="0"/>
          </a:p>
        </p:txBody>
      </p:sp>
      <p:sp>
        <p:nvSpPr>
          <p:cNvPr id="13" name="Step 13"/>
          <p:cNvSpPr/>
          <p:nvPr/>
        </p:nvSpPr>
        <p:spPr>
          <a:xfrm>
            <a:off x="54864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1  시트 설계</a:t>
            </a:r>
            <a:endParaRPr lang="ko-KR" altLang="en-US" sz="1250" dirty="0"/>
          </a:p>
        </p:txBody>
      </p:sp>
      <p:sp>
        <p:nvSpPr>
          <p:cNvPr id="14" name="Step 14"/>
          <p:cNvSpPr/>
          <p:nvPr/>
        </p:nvSpPr>
        <p:spPr>
          <a:xfrm>
            <a:off x="278892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2  요청사항</a:t>
            </a:r>
            <a:endParaRPr lang="ko-KR" altLang="en-US" sz="1250" dirty="0"/>
          </a:p>
        </p:txBody>
      </p:sp>
      <p:sp>
        <p:nvSpPr>
          <p:cNvPr id="15" name="Step 15"/>
          <p:cNvSpPr/>
          <p:nvPr/>
        </p:nvSpPr>
        <p:spPr>
          <a:xfrm>
            <a:off x="5029200" y="1691640"/>
            <a:ext cx="2130552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 xml:space="preserve">STEP 3  테스트</a:t>
            </a:r>
            <a:endParaRPr lang="ko-KR" altLang="en-US" sz="1250" dirty="0"/>
          </a:p>
        </p:txBody>
      </p:sp>
      <p:sp>
        <p:nvSpPr>
          <p:cNvPr id="16" name="Step 16"/>
          <p:cNvSpPr/>
          <p:nvPr/>
        </p:nvSpPr>
        <p:spPr>
          <a:xfrm>
            <a:off x="726948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4  연동 체험</a:t>
            </a:r>
            <a:endParaRPr lang="ko-KR" altLang="en-US" sz="1250" dirty="0"/>
          </a:p>
        </p:txBody>
      </p:sp>
      <p:sp>
        <p:nvSpPr>
          <p:cNvPr id="17" name="Step 17"/>
          <p:cNvSpPr/>
          <p:nvPr/>
        </p:nvSpPr>
        <p:spPr>
          <a:xfrm>
            <a:off x="950976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5  확장</a:t>
            </a:r>
            <a:endParaRPr lang="ko-KR" altLang="en-US" sz="1250" dirty="0"/>
          </a:p>
        </p:txBody>
      </p:sp>
      <p:sp>
        <p:nvSpPr>
          <p:cNvPr id="18" name="Prompt 18"/>
          <p:cNvSpPr/>
          <p:nvPr/>
        </p:nvSpPr>
        <p:spPr>
          <a:xfrm>
            <a:off x="548640" y="2331720"/>
            <a:ext cx="3575304" cy="2377440"/>
          </a:xfrm>
          <a:prstGeom prst="roundRect">
            <a:avLst>
              <a:gd name="adj" fmla="val 4000"/>
            </a:avLst>
          </a:prstGeom>
          <a:solidFill>
            <a:srgbClr val="1C1F4A"/>
          </a:solidFill>
          <a:ln>
            <a:noFill/>
          </a:ln>
        </p:spPr>
        <p:txBody>
          <a:bodyPr wrap="square" lIns="228600" tIns="457200" rIns="228600" bIns="13716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11월 가정통신문 만들어줘.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→ 학부모 안내=Y 행사만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  추렸는지 확인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  (학교폭력 예방교육은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  빠져야 정답)</a:t>
            </a:r>
            <a:endParaRPr lang="ko-KR" altLang="en-US" sz="1400" dirty="0"/>
          </a:p>
        </p:txBody>
      </p:sp>
      <p:sp>
        <p:nvSpPr>
          <p:cNvPr id="19" name="Chip 19"/>
          <p:cNvSpPr/>
          <p:nvPr/>
        </p:nvSpPr>
        <p:spPr>
          <a:xfrm>
            <a:off x="731520" y="245059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9B5C8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100" b="0" dirty="0">
                <a:solidFill>
                  <a:srgbClr val="1C1F4A"/>
                </a:solidFill>
                <a:latin typeface="Pretendard ExtraBold"/>
                <a:ea typeface="Pretendard ExtraBold"/>
                <a:cs typeface="Pretendard ExtraBold"/>
              </a:rPr>
              <a:t xml:space="preserve">① 월간 통신문</a:t>
            </a:r>
            <a:endParaRPr lang="ko-KR" altLang="en-US" sz="1100" dirty="0"/>
          </a:p>
        </p:txBody>
      </p:sp>
      <p:sp>
        <p:nvSpPr>
          <p:cNvPr id="20" name="Copy hint 20"/>
          <p:cNvSpPr txBox="1"/>
          <p:nvPr/>
        </p:nvSpPr>
        <p:spPr>
          <a:xfrm>
            <a:off x="1197864" y="24414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ko-KR" altLang="en-US" sz="1050" b="0" dirty="0">
                <a:solidFill>
                  <a:srgbClr val="9CA3D9"/>
                </a:solidFill>
                <a:latin typeface="Pretendard Medium"/>
                <a:ea typeface="Pretendard Medium"/>
                <a:cs typeface="Pretendard Medium"/>
              </a:rPr>
              <a:t xml:space="preserve"> </a:t>
            </a:r>
            <a:endParaRPr lang="ko-KR" altLang="en-US" sz="1050" dirty="0"/>
          </a:p>
        </p:txBody>
      </p:sp>
      <p:sp>
        <p:nvSpPr>
          <p:cNvPr id="21" name="Prompt 21"/>
          <p:cNvSpPr/>
          <p:nvPr/>
        </p:nvSpPr>
        <p:spPr>
          <a:xfrm>
            <a:off x="4306824" y="2331720"/>
            <a:ext cx="3575304" cy="2377440"/>
          </a:xfrm>
          <a:prstGeom prst="roundRect">
            <a:avLst>
              <a:gd name="adj" fmla="val 4000"/>
            </a:avLst>
          </a:prstGeom>
          <a:solidFill>
            <a:srgbClr val="1C1F4A"/>
          </a:solidFill>
          <a:ln>
            <a:noFill/>
          </a:ln>
        </p:spPr>
        <p:txBody>
          <a:bodyPr wrap="square" lIns="228600" tIns="457200" rIns="228600" bIns="13716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2학년 진로체험의 날 안내문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만들어줘. 체험 동의서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회신서도 넣어줘.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→ 절취선·회신서·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  서명란 확인</a:t>
            </a:r>
            <a:endParaRPr lang="ko-KR" altLang="en-US" sz="1400" dirty="0"/>
          </a:p>
        </p:txBody>
      </p:sp>
      <p:sp>
        <p:nvSpPr>
          <p:cNvPr id="22" name="Chip 22"/>
          <p:cNvSpPr/>
          <p:nvPr/>
        </p:nvSpPr>
        <p:spPr>
          <a:xfrm>
            <a:off x="4489704" y="2450592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9B5C8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100" b="0" dirty="0">
                <a:solidFill>
                  <a:srgbClr val="1C1F4A"/>
                </a:solidFill>
                <a:latin typeface="Pretendard ExtraBold"/>
                <a:ea typeface="Pretendard ExtraBold"/>
                <a:cs typeface="Pretendard ExtraBold"/>
              </a:rPr>
              <a:t xml:space="preserve">② 행사 + 회신서</a:t>
            </a:r>
            <a:endParaRPr lang="ko-KR" altLang="en-US" sz="1100" dirty="0"/>
          </a:p>
        </p:txBody>
      </p:sp>
      <p:sp>
        <p:nvSpPr>
          <p:cNvPr id="23" name="Copy hint 23"/>
          <p:cNvSpPr txBox="1"/>
          <p:nvPr/>
        </p:nvSpPr>
        <p:spPr>
          <a:xfrm>
            <a:off x="4956048" y="24414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ko-KR" altLang="en-US" sz="1050" b="0" dirty="0">
                <a:solidFill>
                  <a:srgbClr val="9CA3D9"/>
                </a:solidFill>
                <a:latin typeface="Pretendard Medium"/>
                <a:ea typeface="Pretendard Medium"/>
                <a:cs typeface="Pretendard Medium"/>
              </a:rPr>
              <a:t xml:space="preserve"> </a:t>
            </a:r>
            <a:endParaRPr lang="ko-KR" altLang="en-US" sz="1050" dirty="0"/>
          </a:p>
        </p:txBody>
      </p:sp>
      <p:sp>
        <p:nvSpPr>
          <p:cNvPr id="24" name="Prompt 24"/>
          <p:cNvSpPr/>
          <p:nvPr/>
        </p:nvSpPr>
        <p:spPr>
          <a:xfrm>
            <a:off x="8065008" y="2331720"/>
            <a:ext cx="3575304" cy="2377440"/>
          </a:xfrm>
          <a:prstGeom prst="roundRect">
            <a:avLst>
              <a:gd name="adj" fmla="val 4000"/>
            </a:avLst>
          </a:prstGeom>
          <a:solidFill>
            <a:srgbClr val="1C1F4A"/>
          </a:solidFill>
          <a:ln>
            <a:noFill/>
          </a:ln>
        </p:spPr>
        <p:txBody>
          <a:bodyPr wrap="square" lIns="228600" tIns="457200" rIns="228600" bIns="13716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수능일 재량휴업 안내문을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만들고, 핵심 요약을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베트남어로도 추가해줘.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→ 요약 박스 아래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  번역본 확인</a:t>
            </a:r>
            <a:endParaRPr lang="ko-KR" altLang="en-US" sz="1400" dirty="0"/>
          </a:p>
        </p:txBody>
      </p:sp>
      <p:sp>
        <p:nvSpPr>
          <p:cNvPr id="25" name="Chip 25"/>
          <p:cNvSpPr/>
          <p:nvPr/>
        </p:nvSpPr>
        <p:spPr>
          <a:xfrm>
            <a:off x="8247888" y="245059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9B5C8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100" b="0" dirty="0">
                <a:solidFill>
                  <a:srgbClr val="1C1F4A"/>
                </a:solidFill>
                <a:latin typeface="Pretendard ExtraBold"/>
                <a:ea typeface="Pretendard ExtraBold"/>
                <a:cs typeface="Pretendard ExtraBold"/>
              </a:rPr>
              <a:t xml:space="preserve">③ 다문화 지원</a:t>
            </a:r>
            <a:endParaRPr lang="ko-KR" altLang="en-US" sz="1100" dirty="0"/>
          </a:p>
        </p:txBody>
      </p:sp>
      <p:sp>
        <p:nvSpPr>
          <p:cNvPr id="26" name="Copy hint 26"/>
          <p:cNvSpPr txBox="1"/>
          <p:nvPr/>
        </p:nvSpPr>
        <p:spPr>
          <a:xfrm>
            <a:off x="8714232" y="24414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ko-KR" altLang="en-US" sz="1050" b="0" dirty="0">
                <a:solidFill>
                  <a:srgbClr val="9CA3D9"/>
                </a:solidFill>
                <a:latin typeface="Pretendard Medium"/>
                <a:ea typeface="Pretendard Medium"/>
                <a:cs typeface="Pretendard Medium"/>
              </a:rPr>
              <a:t xml:space="preserve"> </a:t>
            </a:r>
            <a:endParaRPr lang="ko-KR" altLang="en-US" sz="1050" dirty="0"/>
          </a:p>
        </p:txBody>
      </p:sp>
      <p:sp>
        <p:nvSpPr>
          <p:cNvPr id="27" name="Card 27"/>
          <p:cNvSpPr/>
          <p:nvPr/>
        </p:nvSpPr>
        <p:spPr>
          <a:xfrm>
            <a:off x="548640" y="4892040"/>
            <a:ext cx="1109167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164592" rIns="182880" bIns="109728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ko-KR" altLang="en-US" sz="15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Gem 이름 예: [정보중] 가정통신문 빌더</a:t>
            </a:r>
            <a:endParaRPr lang="ko-KR" altLang="en-US" sz="15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지식: 「2026_학사일정」 시트(내 드라이브 사본) + 「가정통신문_양식」 + 「학교_기본정보」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2부 · 실습 2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STEP 4  연동 체험 — 시트만 고치면 Gem도 바뀐다</a:t>
            </a:r>
            <a:endParaRPr lang="ko-KR" altLang="en-US" sz="2400" dirty="0"/>
          </a:p>
        </p:txBody>
      </p:sp>
      <p:sp>
        <p:nvSpPr>
          <p:cNvPr id="13" name="Step 13"/>
          <p:cNvSpPr/>
          <p:nvPr/>
        </p:nvSpPr>
        <p:spPr>
          <a:xfrm>
            <a:off x="54864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1  시트 설계</a:t>
            </a:r>
            <a:endParaRPr lang="ko-KR" altLang="en-US" sz="1250" dirty="0"/>
          </a:p>
        </p:txBody>
      </p:sp>
      <p:sp>
        <p:nvSpPr>
          <p:cNvPr id="14" name="Step 14"/>
          <p:cNvSpPr/>
          <p:nvPr/>
        </p:nvSpPr>
        <p:spPr>
          <a:xfrm>
            <a:off x="278892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2  요청사항</a:t>
            </a:r>
            <a:endParaRPr lang="ko-KR" altLang="en-US" sz="1250" dirty="0"/>
          </a:p>
        </p:txBody>
      </p:sp>
      <p:sp>
        <p:nvSpPr>
          <p:cNvPr id="15" name="Step 15"/>
          <p:cNvSpPr/>
          <p:nvPr/>
        </p:nvSpPr>
        <p:spPr>
          <a:xfrm>
            <a:off x="502920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3  테스트</a:t>
            </a:r>
            <a:endParaRPr lang="ko-KR" altLang="en-US" sz="1250" dirty="0"/>
          </a:p>
        </p:txBody>
      </p:sp>
      <p:sp>
        <p:nvSpPr>
          <p:cNvPr id="16" name="Step 16"/>
          <p:cNvSpPr/>
          <p:nvPr/>
        </p:nvSpPr>
        <p:spPr>
          <a:xfrm>
            <a:off x="7269480" y="1691640"/>
            <a:ext cx="2130552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 xml:space="preserve">STEP 4  연동 체험</a:t>
            </a:r>
            <a:endParaRPr lang="ko-KR" altLang="en-US" sz="1250" dirty="0"/>
          </a:p>
        </p:txBody>
      </p:sp>
      <p:sp>
        <p:nvSpPr>
          <p:cNvPr id="17" name="Step 17"/>
          <p:cNvSpPr/>
          <p:nvPr/>
        </p:nvSpPr>
        <p:spPr>
          <a:xfrm>
            <a:off x="950976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5  확장</a:t>
            </a:r>
            <a:endParaRPr lang="ko-KR" altLang="en-US" sz="1250" dirty="0"/>
          </a:p>
        </p:txBody>
      </p:sp>
      <p:sp>
        <p:nvSpPr>
          <p:cNvPr id="18" name="Sync step 18"/>
          <p:cNvSpPr/>
          <p:nvPr/>
        </p:nvSpPr>
        <p:spPr>
          <a:xfrm>
            <a:off x="548640" y="2423160"/>
            <a:ext cx="32918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182880" tIns="320040" rIns="182880" bIns="182880" rtlCol="0" anchor="t">
            <a:no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ko-KR" altLang="en-US" sz="19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①  시트 수정</a:t>
            </a:r>
            <a:endParaRPr lang="ko-KR" altLang="en-US" sz="1900" dirty="0"/>
          </a:p>
          <a:p>
            <a:pPr algn="ctr">
              <a:buNone/>
            </a:pPr>
            <a:r>
              <a:rPr lang="ko-KR" altLang="en-US" sz="15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학사일정 시트에서</a:t>
            </a:r>
            <a:endParaRPr lang="ko-KR" altLang="en-US" sz="1500" dirty="0"/>
          </a:p>
          <a:p>
            <a:pPr algn="ctr">
              <a:buNone/>
            </a:pPr>
            <a:r>
              <a:rPr lang="ko-KR" altLang="en-US" sz="15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공개수업 날짜를</a:t>
            </a:r>
            <a:endParaRPr lang="ko-KR" altLang="en-US" sz="1500" dirty="0"/>
          </a:p>
          <a:p>
            <a:pPr algn="ctr">
              <a:buNone/>
            </a:pPr>
            <a:r>
              <a:rPr lang="ko-KR" altLang="en-US" sz="15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11-13 → 11-20 으로 변경</a:t>
            </a:r>
            <a:endParaRPr lang="ko-KR" altLang="en-US" sz="1500" dirty="0"/>
          </a:p>
        </p:txBody>
      </p:sp>
      <p:sp>
        <p:nvSpPr>
          <p:cNvPr id="19" name="Arrow 19"/>
          <p:cNvSpPr/>
          <p:nvPr/>
        </p:nvSpPr>
        <p:spPr>
          <a:xfrm>
            <a:off x="3931920" y="3383280"/>
            <a:ext cx="420624" cy="457200"/>
          </a:xfrm>
          <a:prstGeom prst="rightArrow">
            <a:avLst/>
          </a:prstGeom>
          <a:solidFill>
            <a:srgbClr val="4A4AC1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ko-KR" altLang="en-US"/>
          </a:p>
        </p:txBody>
      </p:sp>
      <p:sp>
        <p:nvSpPr>
          <p:cNvPr id="20" name="Sync step 20"/>
          <p:cNvSpPr/>
          <p:nvPr/>
        </p:nvSpPr>
        <p:spPr>
          <a:xfrm>
            <a:off x="4448556" y="2423160"/>
            <a:ext cx="32918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182880" tIns="320040" rIns="182880" bIns="182880" rtlCol="0" anchor="t">
            <a:no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ko-KR" altLang="en-US" sz="19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②  Gem에 다시 요청</a:t>
            </a:r>
            <a:endParaRPr lang="ko-KR" altLang="en-US" sz="1900" dirty="0"/>
          </a:p>
          <a:p>
            <a:pPr algn="ctr">
              <a:buNone/>
            </a:pPr>
            <a:r>
              <a:rPr lang="ko-KR" altLang="en-US" sz="15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새 대화에서</a:t>
            </a:r>
            <a:endParaRPr lang="ko-KR" altLang="en-US" sz="1500" dirty="0"/>
          </a:p>
          <a:p>
            <a:pPr algn="ctr">
              <a:buNone/>
            </a:pPr>
            <a:r>
              <a:rPr lang="ko-KR" altLang="en-US" sz="15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“11월 가정통신문</a:t>
            </a:r>
            <a:endParaRPr lang="ko-KR" altLang="en-US" sz="1500" dirty="0"/>
          </a:p>
          <a:p>
            <a:pPr algn="ctr">
              <a:buNone/>
            </a:pPr>
            <a:r>
              <a:rPr lang="ko-KR" altLang="en-US" sz="15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다시 만들어줘”</a:t>
            </a:r>
            <a:endParaRPr lang="ko-KR" altLang="en-US" sz="1500" dirty="0"/>
          </a:p>
        </p:txBody>
      </p:sp>
      <p:sp>
        <p:nvSpPr>
          <p:cNvPr id="21" name="Arrow 21"/>
          <p:cNvSpPr/>
          <p:nvPr/>
        </p:nvSpPr>
        <p:spPr>
          <a:xfrm>
            <a:off x="7831836" y="3383280"/>
            <a:ext cx="420624" cy="457200"/>
          </a:xfrm>
          <a:prstGeom prst="rightArrow">
            <a:avLst/>
          </a:prstGeom>
          <a:solidFill>
            <a:srgbClr val="4A4AC1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ko-KR" altLang="en-US"/>
          </a:p>
        </p:txBody>
      </p:sp>
      <p:sp>
        <p:nvSpPr>
          <p:cNvPr id="22" name="Sync step 22"/>
          <p:cNvSpPr/>
          <p:nvPr/>
        </p:nvSpPr>
        <p:spPr>
          <a:xfrm>
            <a:off x="8348472" y="2423160"/>
            <a:ext cx="3291840" cy="23774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182880" tIns="320040" rIns="182880" bIns="182880" rtlCol="0" anchor="t">
            <a:no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ko-KR" altLang="en-US" sz="19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③  반영 확인</a:t>
            </a:r>
            <a:endParaRPr lang="ko-KR" altLang="en-US" sz="1900" dirty="0"/>
          </a:p>
          <a:p>
            <a:pPr algn="ctr">
              <a:buNone/>
            </a:pPr>
            <a:r>
              <a:rPr lang="ko-KR" altLang="en-US" sz="15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통신문 일정 표에</a:t>
            </a:r>
            <a:endParaRPr lang="ko-KR" altLang="en-US" sz="1500" dirty="0"/>
          </a:p>
          <a:p>
            <a:pPr algn="ctr">
              <a:buNone/>
            </a:pPr>
            <a:r>
              <a:rPr lang="ko-KR" altLang="en-US" sz="15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11월 20일(금)이</a:t>
            </a:r>
            <a:endParaRPr lang="ko-KR" altLang="en-US" sz="1500" dirty="0"/>
          </a:p>
          <a:p>
            <a:pPr algn="ctr">
              <a:buNone/>
            </a:pPr>
            <a:r>
              <a:rPr lang="ko-KR" altLang="en-US" sz="15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들어갔는지 확인</a:t>
            </a:r>
            <a:endParaRPr lang="ko-KR" altLang="en-US" sz="1500" dirty="0"/>
          </a:p>
        </p:txBody>
      </p:sp>
      <p:sp>
        <p:nvSpPr>
          <p:cNvPr id="23" name="Callout 23"/>
          <p:cNvSpPr/>
          <p:nvPr/>
        </p:nvSpPr>
        <p:spPr>
          <a:xfrm>
            <a:off x="548640" y="5074920"/>
            <a:ext cx="11091672" cy="502920"/>
          </a:xfrm>
          <a:prstGeom prst="roundRect">
            <a:avLst>
              <a:gd name="adj" fmla="val 30000"/>
            </a:avLst>
          </a:prstGeom>
          <a:solidFill>
            <a:srgbClr val="E6E8FA"/>
          </a:solidFill>
          <a:ln>
            <a:noFill/>
          </a:ln>
        </p:spPr>
        <p:txBody>
          <a:bodyPr wrap="square" lIns="274320" tIns="0" rIns="274320" bIns="0" rtlCol="0" anchor="ctr">
            <a:noAutofit/>
          </a:bodyPr>
          <a:lstStyle/>
          <a:p>
            <a:pPr algn="l">
              <a:buNone/>
            </a:pPr>
            <a:r>
              <a:rPr lang="ko-KR" altLang="en-US" sz="1300" b="0" dirty="0">
                <a:solidFill>
                  <a:srgbClr val="1720AF"/>
                </a:solidFill>
                <a:latin typeface="Pretendard SemiBold"/>
                <a:ea typeface="Pretendard SemiBold"/>
                <a:cs typeface="Pretendard SemiBold"/>
              </a:rPr>
              <a:t xml:space="preserve">단일 원본(Single Source of Truth) — 교무부가 학사일정 시트 하나만 관리하면 이를 참조하는 모든 Gem이 동시에 정확해집니다.</a:t>
            </a:r>
            <a:endParaRPr lang="ko-KR" altLang="en-US" sz="1300" dirty="0"/>
          </a:p>
        </p:txBody>
      </p:sp>
      <p:sp>
        <p:nvSpPr>
          <p:cNvPr id="24" name="Text 24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200" b="0" dirty="0">
                <a:solidFill>
                  <a:srgbClr val="5F6475"/>
                </a:solidFill>
                <a:latin typeface="Pretendard Medium"/>
                <a:ea typeface="Pretendard Medium"/>
                <a:cs typeface="Pretendard Medium"/>
              </a:rPr>
              <a:t xml:space="preserve">※ 반영이 늦으면 새 대화창에서 재시도하거나, Gem 편집 화면에서 지식 파일 연결 상태를 확인하세요.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2부 · 실습 2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STEP 5  확장 프롬프트 (조기 완료자용)</a:t>
            </a:r>
            <a:endParaRPr lang="ko-KR" altLang="en-US" sz="2400" dirty="0"/>
          </a:p>
        </p:txBody>
      </p:sp>
      <p:sp>
        <p:nvSpPr>
          <p:cNvPr id="13" name="Step 13"/>
          <p:cNvSpPr/>
          <p:nvPr/>
        </p:nvSpPr>
        <p:spPr>
          <a:xfrm>
            <a:off x="54864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1  시트 설계</a:t>
            </a:r>
            <a:endParaRPr lang="ko-KR" altLang="en-US" sz="1250" dirty="0"/>
          </a:p>
        </p:txBody>
      </p:sp>
      <p:sp>
        <p:nvSpPr>
          <p:cNvPr id="14" name="Step 14"/>
          <p:cNvSpPr/>
          <p:nvPr/>
        </p:nvSpPr>
        <p:spPr>
          <a:xfrm>
            <a:off x="278892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2  요청사항</a:t>
            </a:r>
            <a:endParaRPr lang="ko-KR" altLang="en-US" sz="1250" dirty="0"/>
          </a:p>
        </p:txBody>
      </p:sp>
      <p:sp>
        <p:nvSpPr>
          <p:cNvPr id="15" name="Step 15"/>
          <p:cNvSpPr/>
          <p:nvPr/>
        </p:nvSpPr>
        <p:spPr>
          <a:xfrm>
            <a:off x="502920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3  테스트</a:t>
            </a:r>
            <a:endParaRPr lang="ko-KR" altLang="en-US" sz="1250" dirty="0"/>
          </a:p>
        </p:txBody>
      </p:sp>
      <p:sp>
        <p:nvSpPr>
          <p:cNvPr id="16" name="Step 16"/>
          <p:cNvSpPr/>
          <p:nvPr/>
        </p:nvSpPr>
        <p:spPr>
          <a:xfrm>
            <a:off x="7269480" y="169164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1F2FB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STEP 4  연동 체험</a:t>
            </a:r>
            <a:endParaRPr lang="ko-KR" altLang="en-US" sz="1250" dirty="0"/>
          </a:p>
        </p:txBody>
      </p:sp>
      <p:sp>
        <p:nvSpPr>
          <p:cNvPr id="17" name="Step 17"/>
          <p:cNvSpPr/>
          <p:nvPr/>
        </p:nvSpPr>
        <p:spPr>
          <a:xfrm>
            <a:off x="9509760" y="1691640"/>
            <a:ext cx="2130552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 xml:space="preserve">STEP 5  확장</a:t>
            </a:r>
            <a:endParaRPr lang="ko-KR" altLang="en-US" sz="1250" dirty="0"/>
          </a:p>
        </p:txBody>
      </p:sp>
      <p:sp>
        <p:nvSpPr>
          <p:cNvPr id="18" name="Prompt 18"/>
          <p:cNvSpPr/>
          <p:nvPr/>
        </p:nvSpPr>
        <p:spPr>
          <a:xfrm>
            <a:off x="548640" y="2331720"/>
            <a:ext cx="3575304" cy="3108960"/>
          </a:xfrm>
          <a:prstGeom prst="roundRect">
            <a:avLst>
              <a:gd name="adj" fmla="val 4000"/>
            </a:avLst>
          </a:prstGeom>
          <a:solidFill>
            <a:srgbClr val="1C1F4A"/>
          </a:solidFill>
          <a:ln>
            <a:noFill/>
          </a:ln>
        </p:spPr>
        <p:txBody>
          <a:bodyPr wrap="square" lIns="228600" tIns="457200" rIns="228600" bIns="13716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요청사항 끝에 추가: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통신문 아래에 90자 이내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학부모 알림 문자 버전도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함께 만든다. 날짜·요일·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핵심 행동 1가지만 담는다.</a:t>
            </a:r>
            <a:endParaRPr lang="ko-KR" altLang="en-US" sz="1400" dirty="0"/>
          </a:p>
        </p:txBody>
      </p:sp>
      <p:sp>
        <p:nvSpPr>
          <p:cNvPr id="19" name="Chip 19"/>
          <p:cNvSpPr/>
          <p:nvPr/>
        </p:nvSpPr>
        <p:spPr>
          <a:xfrm>
            <a:off x="731520" y="2450592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9B5C8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100" b="0" dirty="0">
                <a:solidFill>
                  <a:srgbClr val="1C1F4A"/>
                </a:solidFill>
                <a:latin typeface="Pretendard ExtraBold"/>
                <a:ea typeface="Pretendard ExtraBold"/>
                <a:cs typeface="Pretendard ExtraBold"/>
              </a:rPr>
              <a:t xml:space="preserve">확장 ① 알림 문자</a:t>
            </a:r>
            <a:endParaRPr lang="ko-KR" altLang="en-US" sz="1100" dirty="0"/>
          </a:p>
        </p:txBody>
      </p:sp>
      <p:sp>
        <p:nvSpPr>
          <p:cNvPr id="20" name="Copy hint 20"/>
          <p:cNvSpPr txBox="1"/>
          <p:nvPr/>
        </p:nvSpPr>
        <p:spPr>
          <a:xfrm>
            <a:off x="1197864" y="24414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ko-KR" altLang="en-US" sz="1050" b="0" dirty="0">
                <a:solidFill>
                  <a:srgbClr val="9CA3D9"/>
                </a:solidFill>
                <a:latin typeface="Pretendard Medium"/>
                <a:ea typeface="Pretendard Medium"/>
                <a:cs typeface="Pretendard Medium"/>
              </a:rPr>
              <a:t xml:space="preserve"> </a:t>
            </a:r>
            <a:endParaRPr lang="ko-KR" altLang="en-US" sz="1050" dirty="0"/>
          </a:p>
        </p:txBody>
      </p:sp>
      <p:sp>
        <p:nvSpPr>
          <p:cNvPr id="21" name="Prompt 21"/>
          <p:cNvSpPr/>
          <p:nvPr/>
        </p:nvSpPr>
        <p:spPr>
          <a:xfrm>
            <a:off x="4306824" y="2331720"/>
            <a:ext cx="3575304" cy="3108960"/>
          </a:xfrm>
          <a:prstGeom prst="roundRect">
            <a:avLst>
              <a:gd name="adj" fmla="val 4000"/>
            </a:avLst>
          </a:prstGeom>
          <a:solidFill>
            <a:srgbClr val="1C1F4A"/>
          </a:solidFill>
          <a:ln>
            <a:noFill/>
          </a:ln>
        </p:spPr>
        <p:txBody>
          <a:bodyPr wrap="square" lIns="228600" tIns="457200" rIns="228600" bIns="13716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학사일정 시트에 열 추가: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‘평가 범위’, ‘수행평가 과목’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12월 지필평가 안내문을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만들고 과목별 평가 범위를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표로 정리해줘.</a:t>
            </a:r>
            <a:endParaRPr lang="ko-KR" altLang="en-US" sz="1400" dirty="0"/>
          </a:p>
        </p:txBody>
      </p:sp>
      <p:sp>
        <p:nvSpPr>
          <p:cNvPr id="22" name="Chip 22"/>
          <p:cNvSpPr/>
          <p:nvPr/>
        </p:nvSpPr>
        <p:spPr>
          <a:xfrm>
            <a:off x="4489704" y="2450592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9B5C8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100" b="0" dirty="0">
                <a:solidFill>
                  <a:srgbClr val="1C1F4A"/>
                </a:solidFill>
                <a:latin typeface="Pretendard ExtraBold"/>
                <a:ea typeface="Pretendard ExtraBold"/>
                <a:cs typeface="Pretendard ExtraBold"/>
              </a:rPr>
              <a:t xml:space="preserve">확장 ② 평가 일정</a:t>
            </a:r>
            <a:endParaRPr lang="ko-KR" altLang="en-US" sz="1100" dirty="0"/>
          </a:p>
        </p:txBody>
      </p:sp>
      <p:sp>
        <p:nvSpPr>
          <p:cNvPr id="23" name="Copy hint 23"/>
          <p:cNvSpPr txBox="1"/>
          <p:nvPr/>
        </p:nvSpPr>
        <p:spPr>
          <a:xfrm>
            <a:off x="4956048" y="24414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ko-KR" altLang="en-US" sz="1050" b="0" dirty="0">
                <a:solidFill>
                  <a:srgbClr val="9CA3D9"/>
                </a:solidFill>
                <a:latin typeface="Pretendard Medium"/>
                <a:ea typeface="Pretendard Medium"/>
                <a:cs typeface="Pretendard Medium"/>
              </a:rPr>
              <a:t xml:space="preserve"> </a:t>
            </a:r>
            <a:endParaRPr lang="ko-KR" altLang="en-US" sz="1050" dirty="0"/>
          </a:p>
        </p:txBody>
      </p:sp>
      <p:sp>
        <p:nvSpPr>
          <p:cNvPr id="24" name="Prompt 24"/>
          <p:cNvSpPr/>
          <p:nvPr/>
        </p:nvSpPr>
        <p:spPr>
          <a:xfrm>
            <a:off x="8065008" y="2331720"/>
            <a:ext cx="3575304" cy="3108960"/>
          </a:xfrm>
          <a:prstGeom prst="roundRect">
            <a:avLst>
              <a:gd name="adj" fmla="val 4000"/>
            </a:avLst>
          </a:prstGeom>
          <a:solidFill>
            <a:srgbClr val="1C1F4A"/>
          </a:solidFill>
          <a:ln>
            <a:noFill/>
          </a:ln>
        </p:spPr>
        <p:txBody>
          <a:bodyPr wrap="square" lIns="228600" tIns="457200" rIns="228600" bIns="13716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학사일정에서 다음 주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월~금 일정을 찾아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[요일 / 행사 / 관련 부서 /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교사 준비사항] 표로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교직원 주간 업무 안내를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만들어줘.</a:t>
            </a:r>
            <a:endParaRPr lang="ko-KR" altLang="en-US" sz="1400" dirty="0"/>
          </a:p>
        </p:txBody>
      </p:sp>
      <p:sp>
        <p:nvSpPr>
          <p:cNvPr id="25" name="Chip 25"/>
          <p:cNvSpPr/>
          <p:nvPr/>
        </p:nvSpPr>
        <p:spPr>
          <a:xfrm>
            <a:off x="8247888" y="2450592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9B5C8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100" b="0" dirty="0">
                <a:solidFill>
                  <a:srgbClr val="1C1F4A"/>
                </a:solidFill>
                <a:latin typeface="Pretendard ExtraBold"/>
                <a:ea typeface="Pretendard ExtraBold"/>
                <a:cs typeface="Pretendard ExtraBold"/>
              </a:rPr>
              <a:t xml:space="preserve">확장 ③ 주간 안내</a:t>
            </a:r>
            <a:endParaRPr lang="ko-KR" altLang="en-US" sz="1100" dirty="0"/>
          </a:p>
        </p:txBody>
      </p:sp>
      <p:sp>
        <p:nvSpPr>
          <p:cNvPr id="26" name="Copy hint 26"/>
          <p:cNvSpPr txBox="1"/>
          <p:nvPr/>
        </p:nvSpPr>
        <p:spPr>
          <a:xfrm>
            <a:off x="8714232" y="24414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ko-KR" altLang="en-US" sz="1050" b="0" dirty="0">
                <a:solidFill>
                  <a:srgbClr val="9CA3D9"/>
                </a:solidFill>
                <a:latin typeface="Pretendard Medium"/>
                <a:ea typeface="Pretendard Medium"/>
                <a:cs typeface="Pretendard Medium"/>
              </a:rPr>
              <a:t xml:space="preserve"> </a:t>
            </a:r>
            <a:endParaRPr lang="ko-KR" altLang="en-US" sz="1050" dirty="0"/>
          </a:p>
        </p:txBody>
      </p:sp>
      <p:sp>
        <p:nvSpPr>
          <p:cNvPr id="27" name="Text 27"/>
          <p:cNvSpPr txBox="1"/>
          <p:nvPr/>
        </p:nvSpPr>
        <p:spPr>
          <a:xfrm>
            <a:off x="548640" y="5577840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200" b="0" dirty="0">
                <a:solidFill>
                  <a:srgbClr val="5F6475"/>
                </a:solidFill>
                <a:latin typeface="Pretendard Medium"/>
                <a:ea typeface="Pretendard Medium"/>
                <a:cs typeface="Pretendard Medium"/>
              </a:rPr>
              <a:t xml:space="preserve">※ Google 앱 연결이 허용된 환경이라면 학교 공용 캘린더 일정을 조회해 반영하는 방식도 시도해 볼 수 있습니다.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PART 3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/>
            </a:r>
            <a:endParaRPr lang="ko-KR" altLang="en-US" sz="2400" dirty="0"/>
          </a:p>
        </p:txBody>
      </p:sp>
      <p:sp>
        <p:nvSpPr>
          <p:cNvPr id="13" name="Text 13"/>
          <p:cNvSpPr txBox="1"/>
          <p:nvPr/>
        </p:nvSpPr>
        <p:spPr>
          <a:xfrm>
            <a:off x="548640" y="2788920"/>
            <a:ext cx="1109167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38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AI 에이전트 공유와 교내 표준화</a:t>
            </a:r>
            <a:endParaRPr lang="ko-KR" altLang="en-US" sz="3800" dirty="0"/>
          </a:p>
        </p:txBody>
      </p:sp>
      <p:sp>
        <p:nvSpPr>
          <p:cNvPr id="14" name="Text 14"/>
          <p:cNvSpPr txBox="1"/>
          <p:nvPr/>
        </p:nvSpPr>
        <p:spPr>
          <a:xfrm>
            <a:off x="548640" y="3794760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공유·배포 · 프롬프트 라이브러리 · 윤리 가이드라인 · 45분</a:t>
            </a:r>
            <a:endParaRPr lang="ko-KR" alt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3부 · 공유와 배포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제작한 Gem 공유 · 배포 실습</a:t>
            </a:r>
            <a:endParaRPr lang="ko-KR" altLang="en-US" sz="2400" dirty="0"/>
          </a:p>
        </p:txBody>
      </p:sp>
      <p:sp>
        <p:nvSpPr>
          <p:cNvPr id="13" name="How to share 13"/>
          <p:cNvSpPr/>
          <p:nvPr/>
        </p:nvSpPr>
        <p:spPr>
          <a:xfrm>
            <a:off x="548640" y="1691640"/>
            <a:ext cx="585216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74320" tIns="228600" rIns="228600" bIns="137160" rtlCol="0" anchor="t">
            <a:noAutofit/>
          </a:bodyPr>
          <a:lstStyle/>
          <a:p>
            <a:pPr algn="l">
              <a:spcAft>
                <a:spcPts val="1000"/>
              </a:spcAft>
              <a:buNone/>
            </a:pPr>
            <a:r>
              <a:rPr lang="ko-KR" altLang="en-US" sz="18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공유 방법</a:t>
            </a:r>
            <a:endParaRPr lang="ko-KR" altLang="en-US" sz="1800" dirty="0"/>
          </a:p>
          <a:p>
            <a:pPr algn="l">
              <a:spcAft>
                <a:spcPts val="800"/>
              </a:spcAft>
              <a:buNone/>
            </a:pPr>
            <a:r>
              <a:rPr lang="ko-KR" altLang="en-US" sz="1500" b="0" dirty="0">
                <a:solidFill>
                  <a:srgbClr val="5653C5"/>
                </a:solidFill>
                <a:latin typeface="Pretendard ExtraBold"/>
                <a:ea typeface="Pretendard ExtraBold"/>
                <a:cs typeface="Pretendard ExtraBold"/>
              </a:rPr>
              <a:t xml:space="preserve">1  </a:t>
            </a:r>
            <a:r>
              <a:rPr lang="ko-KR" altLang="en-US" sz="15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Gem 관리자에서 공유할 Gem의 ‘공유’ 아이콘 선택</a:t>
            </a:r>
            <a:endParaRPr lang="ko-KR" altLang="en-US" sz="1400" dirty="0"/>
          </a:p>
          <a:p>
            <a:pPr algn="l">
              <a:spcAft>
                <a:spcPts val="800"/>
              </a:spcAft>
              <a:buNone/>
            </a:pPr>
            <a:r>
              <a:rPr lang="ko-KR" altLang="en-US" sz="1500" b="0" dirty="0">
                <a:solidFill>
                  <a:srgbClr val="5653C5"/>
                </a:solidFill>
                <a:latin typeface="Pretendard ExtraBold"/>
                <a:ea typeface="Pretendard ExtraBold"/>
                <a:cs typeface="Pretendard ExtraBold"/>
              </a:rPr>
              <a:t xml:space="preserve">2  </a:t>
            </a:r>
            <a:r>
              <a:rPr lang="ko-KR" altLang="en-US" sz="15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Drive 파일처럼 사용자·그룹 추가 또는 링크 공유</a:t>
            </a:r>
            <a:endParaRPr lang="ko-KR" altLang="en-US" sz="1400" dirty="0"/>
          </a:p>
          <a:p>
            <a:pPr algn="l">
              <a:spcAft>
                <a:spcPts val="800"/>
              </a:spcAft>
              <a:buNone/>
            </a:pPr>
            <a:r>
              <a:rPr lang="ko-KR" altLang="en-US" sz="1500" b="0" dirty="0">
                <a:solidFill>
                  <a:srgbClr val="5653C5"/>
                </a:solidFill>
                <a:latin typeface="Pretendard ExtraBold"/>
                <a:ea typeface="Pretendard ExtraBold"/>
                <a:cs typeface="Pretendard ExtraBold"/>
              </a:rPr>
              <a:t xml:space="preserve">3  </a:t>
            </a:r>
            <a:r>
              <a:rPr lang="ko-KR" altLang="en-US" sz="15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권한 선택 (뷰어 / 편집자)</a:t>
            </a:r>
            <a:endParaRPr lang="ko-KR" altLang="en-US" sz="1400" dirty="0"/>
          </a:p>
          <a:p>
            <a:pPr algn="l">
              <a:spcAft>
                <a:spcPts val="800"/>
              </a:spcAft>
              <a:buNone/>
            </a:pPr>
            <a:r>
              <a:rPr lang="ko-KR" altLang="en-US" sz="1500" b="0" dirty="0">
                <a:solidFill>
                  <a:srgbClr val="5653C5"/>
                </a:solidFill>
                <a:latin typeface="Pretendard ExtraBold"/>
                <a:ea typeface="Pretendard ExtraBold"/>
                <a:cs typeface="Pretendard ExtraBold"/>
              </a:rPr>
              <a:t xml:space="preserve">4  </a:t>
            </a:r>
            <a:r>
              <a:rPr lang="ko-KR" altLang="en-US" sz="15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지식으로 연결한 Drive 파일의 공유 권한도 함께 확인</a:t>
            </a:r>
            <a:endParaRPr lang="ko-KR" altLang="en-US" sz="1400" dirty="0"/>
          </a:p>
        </p:txBody>
      </p:sp>
      <p:sp>
        <p:nvSpPr>
          <p:cNvPr id="14" name="Card 14"/>
          <p:cNvSpPr/>
          <p:nvPr/>
        </p:nvSpPr>
        <p:spPr>
          <a:xfrm>
            <a:off x="6629400" y="1691640"/>
            <a:ext cx="237744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164592" rIns="182880" bIns="109728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ko-KR" altLang="en-US" sz="17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뷰어</a:t>
            </a:r>
            <a:endParaRPr lang="ko-KR" altLang="en-US" sz="17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Gem 사용 가능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요청사항 수정 불가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일반 교직원 배포용</a:t>
            </a:r>
            <a:endParaRPr lang="ko-KR" altLang="en-US" sz="1400" dirty="0"/>
          </a:p>
        </p:txBody>
      </p:sp>
      <p:sp>
        <p:nvSpPr>
          <p:cNvPr id="15" name="Card 15"/>
          <p:cNvSpPr/>
          <p:nvPr/>
        </p:nvSpPr>
        <p:spPr>
          <a:xfrm>
            <a:off x="9262872" y="1691640"/>
            <a:ext cx="2377440" cy="2514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164592" rIns="182880" bIns="109728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편집자</a:t>
            </a:r>
            <a:endParaRPr lang="ko-KR" altLang="en-US" sz="1700" dirty="0"/>
          </a:p>
          <a:p>
            <a:pPr algn="l" marL="228600" indent="-228600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요청사항·지식 수정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부서 담당자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관리자용</a:t>
            </a:r>
            <a:endParaRPr lang="ko-KR" altLang="en-US" sz="1400" dirty="0"/>
          </a:p>
        </p:txBody>
      </p:sp>
      <p:sp>
        <p:nvSpPr>
          <p:cNvPr id="16" name="Text 16"/>
          <p:cNvSpPr txBox="1"/>
          <p:nvPr/>
        </p:nvSpPr>
        <p:spPr>
          <a:xfrm>
            <a:off x="548640" y="43891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5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짝 공유 실습 (7분) — 뷰어 권한으로 공유 → 상대 Gem으로 테스트 1개</a:t>
            </a:r>
            <a:endParaRPr lang="ko-KR" altLang="en-US" sz="1500" dirty="0"/>
          </a:p>
        </p:txBody>
      </p:sp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548640" y="4800600"/>
          <a:ext cx="11091672" cy="1316736"/>
        </p:xfrm>
        <a:graphic>
          <a:graphicData uri="http://schemas.openxmlformats.org/drawingml/2006/table">
            <a:tbl>
              <a:tblPr firstRow="1" bandRow="1"/>
              <a:tblGrid>
                <a:gridCol w="4125002"/>
                <a:gridCol w="6966670"/>
              </a:tblGrid>
              <a:tr h="329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피드백 카드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5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내용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잘 된 점 👍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/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우리 학교라면 바꾸고 싶은 점 🔧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/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요청사항에 추가하면 좋을 한 문장 ✍️</a:t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/>
                      </a:r>
                      <a:endParaRPr lang="ko-KR" altLang="en-US" sz="12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3부 · 공유와 배포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교내 배포 4단계 로드맵</a:t>
            </a:r>
            <a:endParaRPr lang="ko-KR" altLang="en-US" sz="2400" dirty="0"/>
          </a:p>
        </p:txBody>
      </p:sp>
      <p:sp>
        <p:nvSpPr>
          <p:cNvPr id="13" name="Phase 13"/>
          <p:cNvSpPr/>
          <p:nvPr/>
        </p:nvSpPr>
        <p:spPr>
          <a:xfrm>
            <a:off x="548640" y="1691640"/>
            <a:ext cx="263575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182880" rIns="182880" bIns="137160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ko-KR" altLang="en-US" sz="19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① 파일럿</a:t>
            </a:r>
            <a:endParaRPr lang="ko-KR" altLang="en-US" sz="1900" dirty="0"/>
          </a:p>
          <a:p>
            <a:pPr algn="l">
              <a:spcAft>
                <a:spcPts val="1000"/>
              </a:spcAft>
              <a:buNone/>
            </a:pPr>
            <a:r>
              <a:rPr lang="ko-KR" altLang="en-US" sz="1400" b="0" dirty="0">
                <a:solidFill>
                  <a:srgbClr val="5653C5"/>
                </a:solidFill>
                <a:latin typeface="Pretendard SemiBold"/>
                <a:ea typeface="Pretendard SemiBold"/>
                <a:cs typeface="Pretendard SemiBold"/>
              </a:rPr>
              <a:t xml:space="preserve">1~2주</a:t>
            </a:r>
            <a:endParaRPr lang="ko-KR" altLang="en-US" sz="1400" dirty="0"/>
          </a:p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부서별 AI 리더 교사 1명이 Gem 시범 사용</a:t>
            </a:r>
            <a:endParaRPr lang="ko-KR" altLang="en-US" sz="1400" dirty="0"/>
          </a:p>
          <a:p>
            <a:pPr algn="l">
              <a:buNone/>
            </a:pPr>
            <a:r>
              <a:rPr lang="ko-KR" altLang="en-US" sz="130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담당: 관리자 지정</a:t>
            </a:r>
            <a:endParaRPr lang="ko-KR" altLang="en-US" sz="1300" dirty="0"/>
          </a:p>
        </p:txBody>
      </p:sp>
      <p:sp>
        <p:nvSpPr>
          <p:cNvPr id="14" name="Phase 14"/>
          <p:cNvSpPr/>
          <p:nvPr/>
        </p:nvSpPr>
        <p:spPr>
          <a:xfrm>
            <a:off x="3367278" y="1691640"/>
            <a:ext cx="263575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182880" rIns="182880" bIns="137160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ko-KR" altLang="en-US" sz="19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② 개선</a:t>
            </a:r>
            <a:endParaRPr lang="ko-KR" altLang="en-US" sz="1900" dirty="0"/>
          </a:p>
          <a:p>
            <a:pPr algn="l">
              <a:spcAft>
                <a:spcPts val="1000"/>
              </a:spcAft>
              <a:buNone/>
            </a:pPr>
            <a:r>
              <a:rPr lang="ko-KR" altLang="en-US" sz="1400" b="0" dirty="0">
                <a:solidFill>
                  <a:srgbClr val="5653C5"/>
                </a:solidFill>
                <a:latin typeface="Pretendard SemiBold"/>
                <a:ea typeface="Pretendard SemiBold"/>
                <a:cs typeface="Pretendard SemiBold"/>
              </a:rPr>
              <a:t xml:space="preserve">3~4주</a:t>
            </a:r>
            <a:endParaRPr lang="ko-KR" altLang="en-US" sz="1400" dirty="0"/>
          </a:p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오류 사례 수집 → 요청사항·지식 보완</a:t>
            </a:r>
            <a:endParaRPr lang="ko-KR" altLang="en-US" sz="1400" dirty="0"/>
          </a:p>
          <a:p>
            <a:pPr algn="l">
              <a:buNone/>
            </a:pPr>
            <a:r>
              <a:rPr lang="ko-KR" altLang="en-US" sz="130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담당: 부서 담당자</a:t>
            </a:r>
            <a:endParaRPr lang="ko-KR" altLang="en-US" sz="1300" dirty="0"/>
          </a:p>
        </p:txBody>
      </p:sp>
      <p:sp>
        <p:nvSpPr>
          <p:cNvPr id="15" name="Phase 15"/>
          <p:cNvSpPr/>
          <p:nvPr/>
        </p:nvSpPr>
        <p:spPr>
          <a:xfrm>
            <a:off x="6185916" y="1691640"/>
            <a:ext cx="2635758" cy="23317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182880" rIns="182880" bIns="137160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ko-KR" altLang="en-US" sz="19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③ 표준 배포</a:t>
            </a:r>
            <a:endParaRPr lang="ko-KR" altLang="en-US" sz="1900" dirty="0"/>
          </a:p>
          <a:p>
            <a:pPr algn="l">
              <a:spcAft>
                <a:spcPts val="1000"/>
              </a:spcAft>
              <a:buNone/>
            </a:pPr>
            <a:r>
              <a:rPr lang="ko-KR" altLang="en-US" sz="1400" b="0" dirty="0">
                <a:solidFill>
                  <a:srgbClr val="BFF4FA"/>
                </a:solidFill>
                <a:latin typeface="Pretendard SemiBold"/>
                <a:ea typeface="Pretendard SemiBold"/>
                <a:cs typeface="Pretendard SemiBold"/>
              </a:rPr>
              <a:t xml:space="preserve">5주~</a:t>
            </a:r>
            <a:endParaRPr lang="ko-KR" altLang="en-US" sz="1400" dirty="0"/>
          </a:p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ko-KR" altLang="en-US" sz="14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전 교직원 뷰어 공유, 교직원 협의회 10분 시연</a:t>
            </a:r>
            <a:endParaRPr lang="ko-KR" altLang="en-US" sz="1400" dirty="0"/>
          </a:p>
          <a:p>
            <a:pPr algn="l">
              <a:buNone/>
            </a:pPr>
            <a:r>
              <a:rPr lang="ko-KR" altLang="en-US" sz="1300" b="0" dirty="0">
                <a:solidFill>
                  <a:srgbClr val="DDE0FF"/>
                </a:solidFill>
                <a:latin typeface="Pretendard SemiBold"/>
                <a:ea typeface="Pretendard SemiBold"/>
                <a:cs typeface="Pretendard SemiBold"/>
              </a:rPr>
              <a:t xml:space="preserve">담당: 교무부</a:t>
            </a:r>
            <a:endParaRPr lang="ko-KR" altLang="en-US" sz="1300" dirty="0"/>
          </a:p>
        </p:txBody>
      </p:sp>
      <p:sp>
        <p:nvSpPr>
          <p:cNvPr id="16" name="Phase 16"/>
          <p:cNvSpPr/>
          <p:nvPr/>
        </p:nvSpPr>
        <p:spPr>
          <a:xfrm>
            <a:off x="9004554" y="1691640"/>
            <a:ext cx="263575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182880" rIns="182880" bIns="137160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ko-KR" altLang="en-US" sz="19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④ 운영·관리</a:t>
            </a:r>
            <a:endParaRPr lang="ko-KR" altLang="en-US" sz="1900" dirty="0"/>
          </a:p>
          <a:p>
            <a:pPr algn="l">
              <a:spcAft>
                <a:spcPts val="1000"/>
              </a:spcAft>
              <a:buNone/>
            </a:pPr>
            <a:r>
              <a:rPr lang="ko-KR" altLang="en-US" sz="1400" b="0" dirty="0">
                <a:solidFill>
                  <a:srgbClr val="5653C5"/>
                </a:solidFill>
                <a:latin typeface="Pretendard SemiBold"/>
                <a:ea typeface="Pretendard SemiBold"/>
                <a:cs typeface="Pretendard SemiBold"/>
              </a:rPr>
              <a:t xml:space="preserve">학기별</a:t>
            </a:r>
            <a:endParaRPr lang="ko-KR" altLang="en-US" sz="1400" dirty="0"/>
          </a:p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학사일정·서식 갱신, 사용 만족도 조사</a:t>
            </a:r>
            <a:endParaRPr lang="ko-KR" altLang="en-US" sz="1400" dirty="0"/>
          </a:p>
          <a:p>
            <a:pPr algn="l">
              <a:buNone/>
            </a:pPr>
            <a:r>
              <a:rPr lang="ko-KR" altLang="en-US" sz="1300" b="0" dirty="0">
                <a:solidFill>
                  <a:srgbClr val="5F6475"/>
                </a:solidFill>
                <a:latin typeface="Pretendard SemiBold"/>
                <a:ea typeface="Pretendard SemiBold"/>
                <a:cs typeface="Pretendard SemiBold"/>
              </a:rPr>
              <a:t xml:space="preserve">담당: 정보부 / 교무부</a:t>
            </a:r>
            <a:endParaRPr lang="ko-KR" altLang="en-US" sz="1300" dirty="0"/>
          </a:p>
        </p:txBody>
      </p:sp>
      <p:sp>
        <p:nvSpPr>
          <p:cNvPr id="17" name="Prompt 17"/>
          <p:cNvSpPr/>
          <p:nvPr/>
        </p:nvSpPr>
        <p:spPr>
          <a:xfrm>
            <a:off x="548640" y="4206240"/>
            <a:ext cx="11091672" cy="1783080"/>
          </a:xfrm>
          <a:prstGeom prst="roundRect">
            <a:avLst>
              <a:gd name="adj" fmla="val 4000"/>
            </a:avLst>
          </a:prstGeom>
          <a:solidFill>
            <a:srgbClr val="1C1F4A"/>
          </a:solidFill>
          <a:ln>
            <a:noFill/>
          </a:ln>
        </p:spPr>
        <p:txBody>
          <a:bodyPr wrap="square" lIns="228600" tIns="457200" rIns="228600" bIns="13716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[Gem 이름] 정보중 공문·기획안 비서     [이럴 때] 기안문·계획서 초안이 필요할 때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[요청 방법] “제목 / 일시 / 장소 / 대상 / 내용”을 함께 입력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[주의] 결과는 ‘초안’ — 수치·근거는 반드시 확인 후 결재 · 학생 개인정보 입력 금지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[관리 담당] 교무기획부 ○○○ (개선 요청은 라이브러리 시트에)</a:t>
            </a:r>
            <a:endParaRPr lang="ko-KR" altLang="en-US" sz="1400" dirty="0"/>
          </a:p>
        </p:txBody>
      </p:sp>
      <p:sp>
        <p:nvSpPr>
          <p:cNvPr id="18" name="Chip 18"/>
          <p:cNvSpPr/>
          <p:nvPr/>
        </p:nvSpPr>
        <p:spPr>
          <a:xfrm>
            <a:off x="731520" y="4325112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9B5C8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100" b="0" dirty="0">
                <a:solidFill>
                  <a:srgbClr val="1C1F4A"/>
                </a:solidFill>
                <a:latin typeface="Pretendard ExtraBold"/>
                <a:ea typeface="Pretendard ExtraBold"/>
                <a:cs typeface="Pretendard ExtraBold"/>
              </a:rPr>
              <a:t xml:space="preserve">Gem 사용 설명 카드</a:t>
            </a:r>
            <a:endParaRPr lang="ko-KR" altLang="en-US" sz="1100" dirty="0"/>
          </a:p>
        </p:txBody>
      </p:sp>
      <p:sp>
        <p:nvSpPr>
          <p:cNvPr id="19" name="Copy hint 19"/>
          <p:cNvSpPr txBox="1"/>
          <p:nvPr/>
        </p:nvSpPr>
        <p:spPr>
          <a:xfrm>
            <a:off x="8714232" y="43159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ko-KR" altLang="en-US" sz="1050" b="0" dirty="0">
                <a:solidFill>
                  <a:srgbClr val="9CA3D9"/>
                </a:solidFill>
                <a:latin typeface="Pretendard Medium"/>
                <a:ea typeface="Pretendard Medium"/>
                <a:cs typeface="Pretendard Medium"/>
              </a:rPr>
              <a:t xml:space="preserve">▶ 배포 시 1쪽으로 함께 안내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3부 · 프롬프트 라이브러리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부서별 표준 Gem 라이브러리</a:t>
            </a:r>
            <a:endParaRPr lang="ko-KR" altLang="en-US" sz="2400" dirty="0"/>
          </a:p>
        </p:txBody>
      </p:sp>
      <p:sp>
        <p:nvSpPr>
          <p:cNvPr id="13" name="Card 13"/>
          <p:cNvSpPr/>
          <p:nvPr/>
        </p:nvSpPr>
        <p:spPr>
          <a:xfrm>
            <a:off x="548640" y="1691640"/>
            <a:ext cx="2086661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164592" rIns="182880" bIns="109728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ko-KR" altLang="en-US" sz="18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교무부</a:t>
            </a:r>
            <a:endParaRPr lang="ko-KR" altLang="en-US" sz="18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교직원 회의록 정리 비서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주간 업무 안내 비서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보결 안내문 비서</a:t>
            </a:r>
            <a:endParaRPr lang="ko-KR" altLang="en-US" sz="1400" dirty="0"/>
          </a:p>
        </p:txBody>
      </p:sp>
      <p:sp>
        <p:nvSpPr>
          <p:cNvPr id="14" name="Card 14"/>
          <p:cNvSpPr/>
          <p:nvPr/>
        </p:nvSpPr>
        <p:spPr>
          <a:xfrm>
            <a:off x="2799893" y="1691640"/>
            <a:ext cx="2086661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164592" rIns="182880" bIns="109728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ko-KR" altLang="en-US" sz="18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연구부</a:t>
            </a:r>
            <a:endParaRPr lang="ko-KR" altLang="en-US" sz="18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연수 결과보고서 비서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공개수업·수업나눔 계획 비서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전문적 학습공동체 계획 비서</a:t>
            </a:r>
            <a:endParaRPr lang="ko-KR" altLang="en-US" sz="1400" dirty="0"/>
          </a:p>
        </p:txBody>
      </p:sp>
      <p:sp>
        <p:nvSpPr>
          <p:cNvPr id="15" name="Card 15"/>
          <p:cNvSpPr/>
          <p:nvPr/>
        </p:nvSpPr>
        <p:spPr>
          <a:xfrm>
            <a:off x="5051146" y="1691640"/>
            <a:ext cx="2086661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164592" rIns="182880" bIns="109728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ko-KR" altLang="en-US" sz="18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생활교육부</a:t>
            </a:r>
            <a:endParaRPr lang="ko-KR" altLang="en-US" sz="18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생활교육 안내문 비서 (PBS 관점)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예방교육 안내 비서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학부모 상담 주간 안내 비서</a:t>
            </a:r>
            <a:endParaRPr lang="ko-KR" altLang="en-US" sz="1400" dirty="0"/>
          </a:p>
        </p:txBody>
      </p:sp>
      <p:sp>
        <p:nvSpPr>
          <p:cNvPr id="16" name="Card 16"/>
          <p:cNvSpPr/>
          <p:nvPr/>
        </p:nvSpPr>
        <p:spPr>
          <a:xfrm>
            <a:off x="7302398" y="1691640"/>
            <a:ext cx="2086661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164592" rIns="182880" bIns="109728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ko-KR" altLang="en-US" sz="18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행정실</a:t>
            </a:r>
            <a:endParaRPr lang="ko-KR" altLang="en-US" sz="18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물품·용역 구입 기안 비서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시설 공사 안내 비서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예산 집행 현황 설명 비서</a:t>
            </a:r>
            <a:endParaRPr lang="ko-KR" altLang="en-US" sz="1400" dirty="0"/>
          </a:p>
        </p:txBody>
      </p:sp>
      <p:sp>
        <p:nvSpPr>
          <p:cNvPr id="17" name="Card 17"/>
          <p:cNvSpPr/>
          <p:nvPr/>
        </p:nvSpPr>
        <p:spPr>
          <a:xfrm>
            <a:off x="9553651" y="1691640"/>
            <a:ext cx="2086661" cy="30632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164592" rIns="182880" bIns="109728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ko-KR" altLang="en-US" sz="18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관리자</a:t>
            </a:r>
            <a:endParaRPr lang="ko-KR" altLang="en-US" sz="1800" dirty="0"/>
          </a:p>
          <a:p>
            <a:pPr algn="l" marL="228600" indent="-228600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학교운영위원회 안건 설명 비서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협의회 인사말·훈화 초안 비서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학교 평가 실적 정리 비서</a:t>
            </a:r>
            <a:endParaRPr lang="ko-KR" altLang="en-US" sz="1400" dirty="0"/>
          </a:p>
        </p:txBody>
      </p:sp>
      <p:sp>
        <p:nvSpPr>
          <p:cNvPr id="18" name="Text 18"/>
          <p:cNvSpPr txBox="1"/>
          <p:nvPr/>
        </p:nvSpPr>
        <p:spPr>
          <a:xfrm>
            <a:off x="548640" y="4892040"/>
            <a:ext cx="1109167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14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라이브러리 시트 구조 ([정보중] AI 비서 라이브러리)</a:t>
            </a:r>
            <a:endParaRPr lang="ko-KR" altLang="en-US" sz="1400" dirty="0"/>
          </a:p>
        </p:txBody>
      </p:sp>
      <p:graphicFrame>
        <p:nvGraphicFramePr>
          <p:cNvPr id="19" name="Table 19"/>
          <p:cNvGraphicFramePr>
            <a:graphicFrameLocks noGrp="1"/>
          </p:cNvGraphicFramePr>
          <p:nvPr/>
        </p:nvGraphicFramePr>
        <p:xfrm>
          <a:off x="548640" y="5257800"/>
          <a:ext cx="11091672" cy="731520"/>
        </p:xfrm>
        <a:graphic>
          <a:graphicData uri="http://schemas.openxmlformats.org/drawingml/2006/table">
            <a:tbl>
              <a:tblPr firstRow="1" bandRow="1"/>
              <a:tblGrid>
                <a:gridCol w="829284"/>
                <a:gridCol w="1969549"/>
                <a:gridCol w="1969549"/>
                <a:gridCol w="2176870"/>
                <a:gridCol w="829284"/>
                <a:gridCol w="1140265"/>
                <a:gridCol w="1347586"/>
                <a:gridCol w="829284"/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부서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Gem 이름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용도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입력 예시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링크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관리자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점검일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버전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교무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공문·기획안 비서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기안문·계획서 초안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제목/일시/대상/내용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(링크)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교무부장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2026-10-12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v1.2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3부 · 프롬프트 라이브러리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라이브러리 탑재 실습 — 모둠별 Gem 설계 프롬프트</a:t>
            </a:r>
            <a:endParaRPr lang="ko-KR" altLang="en-US" sz="2400" dirty="0"/>
          </a:p>
        </p:txBody>
      </p:sp>
      <p:sp>
        <p:nvSpPr>
          <p:cNvPr id="13" name="Prompt 13"/>
          <p:cNvSpPr/>
          <p:nvPr/>
        </p:nvSpPr>
        <p:spPr>
          <a:xfrm>
            <a:off x="548640" y="1691640"/>
            <a:ext cx="6949440" cy="4069080"/>
          </a:xfrm>
          <a:prstGeom prst="roundRect">
            <a:avLst>
              <a:gd name="adj" fmla="val 4000"/>
            </a:avLst>
          </a:prstGeom>
          <a:solidFill>
            <a:srgbClr val="1C1F4A"/>
          </a:solidFill>
          <a:ln>
            <a:noFill/>
          </a:ln>
        </p:spPr>
        <p:txBody>
          <a:bodyPr wrap="square" lIns="228600" tIns="457200" rIns="228600" bIns="13716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너는 학교 업무용 Gemini Gem 설계 전문가야.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우리 모둠은 정보중학교 [생활교육부]를 맡았어.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1. 이 부서에서 반복되는 업무 5개를 ‘반·정·문·검’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  기준(반복성·정형성·문서성·검증성)으로 평가해 표로 보여줘.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2. 점수가 가장 높은 업무 1개를 골라 Gem 요청사항을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  # 역할 # 목표 # 작업 절차 # 출력 형식 # 금지 사항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   구조로 작성해줘.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3. 필요한 지식 파일 목록과 테스트 프롬프트 2개를 제안해줘.</a:t>
            </a:r>
            <a:endParaRPr lang="ko-KR" altLang="en-US" sz="1400" dirty="0"/>
          </a:p>
          <a:p>
            <a:pPr algn="l">
              <a:lnSpc>
                <a:spcPct val="105000"/>
              </a:lnSpc>
              <a:buNone/>
            </a:pPr>
            <a:r>
              <a:rPr lang="ko-KR" altLang="en-US" sz="1400" b="0" dirty="0">
                <a:solidFill>
                  <a:srgbClr val="EEF0FF"/>
                </a:solidFill>
                <a:latin typeface="Pretendard Medium"/>
                <a:ea typeface="Pretendard Medium"/>
                <a:cs typeface="Pretendard Medium"/>
              </a:rPr>
              <a:t xml:space="preserve">4. 개인정보·민감정보 위험이 있으면 ‘입력 금지’로 표시해줘.</a:t>
            </a:r>
            <a:endParaRPr lang="ko-KR" altLang="en-US" sz="1400" dirty="0"/>
          </a:p>
        </p:txBody>
      </p:sp>
      <p:sp>
        <p:nvSpPr>
          <p:cNvPr id="14" name="Chip 14"/>
          <p:cNvSpPr/>
          <p:nvPr/>
        </p:nvSpPr>
        <p:spPr>
          <a:xfrm>
            <a:off x="731520" y="1810512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9B5C8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ko-KR" altLang="en-US" sz="1100" b="0" dirty="0">
                <a:solidFill>
                  <a:srgbClr val="1C1F4A"/>
                </a:solidFill>
                <a:latin typeface="Pretendard ExtraBold"/>
                <a:ea typeface="Pretendard ExtraBold"/>
                <a:cs typeface="Pretendard ExtraBold"/>
              </a:rPr>
              <a:t xml:space="preserve">Gem 설계 도우미 프롬프트</a:t>
            </a:r>
            <a:endParaRPr lang="ko-KR" altLang="en-US" sz="1100" dirty="0"/>
          </a:p>
        </p:txBody>
      </p:sp>
      <p:sp>
        <p:nvSpPr>
          <p:cNvPr id="15" name="Copy hint 15"/>
          <p:cNvSpPr txBox="1"/>
          <p:nvPr/>
        </p:nvSpPr>
        <p:spPr>
          <a:xfrm>
            <a:off x="4572000" y="18013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ko-KR" altLang="en-US" sz="1050" b="0" dirty="0">
                <a:solidFill>
                  <a:srgbClr val="9CA3D9"/>
                </a:solidFill>
                <a:latin typeface="Pretendard Medium"/>
                <a:ea typeface="Pretendard Medium"/>
                <a:cs typeface="Pretendard Medium"/>
              </a:rPr>
              <a:t xml:space="preserve">▶ Gemini에 그대로 복사</a:t>
            </a:r>
            <a:endParaRPr lang="ko-KR" altLang="en-US" sz="1050" dirty="0"/>
          </a:p>
        </p:txBody>
      </p:sp>
      <p:sp>
        <p:nvSpPr>
          <p:cNvPr id="16" name="Card 16"/>
          <p:cNvSpPr/>
          <p:nvPr/>
        </p:nvSpPr>
        <p:spPr>
          <a:xfrm>
            <a:off x="7726680" y="1691640"/>
            <a:ext cx="3913632" cy="406908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164592" rIns="182880" bIns="109728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모둠 배정 (4인 1조)</a:t>
            </a:r>
            <a:endParaRPr lang="ko-KR" altLang="en-US" sz="1700" dirty="0"/>
          </a:p>
          <a:p>
            <a:pPr algn="l" marL="228600" indent="-228600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1조  교무부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2조  연구부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3조  생활교육부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4조  행정실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5조  관리자 전용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 xml:space="preserve">[ ] 안의 부서명만 바꿔 실행 → 결과를 라이브러리 시트에 1행 추가</a:t>
            </a:r>
            <a:endParaRPr lang="ko-KR" altLang="en-US" sz="1400" dirty="0"/>
          </a:p>
        </p:txBody>
      </p:sp>
      <p:sp>
        <p:nvSpPr>
          <p:cNvPr id="17" name="Callout 17"/>
          <p:cNvSpPr/>
          <p:nvPr/>
        </p:nvSpPr>
        <p:spPr>
          <a:xfrm>
            <a:off x="548640" y="5852160"/>
            <a:ext cx="11091672" cy="411480"/>
          </a:xfrm>
          <a:prstGeom prst="roundRect">
            <a:avLst>
              <a:gd name="adj" fmla="val 30000"/>
            </a:avLst>
          </a:prstGeom>
          <a:solidFill>
            <a:srgbClr val="E6E8FA"/>
          </a:solidFill>
          <a:ln>
            <a:noFill/>
          </a:ln>
        </p:spPr>
        <p:txBody>
          <a:bodyPr wrap="square" lIns="274320" tIns="0" rIns="274320" bIns="0" rtlCol="0" anchor="ctr">
            <a:noAutofit/>
          </a:bodyPr>
          <a:lstStyle/>
          <a:p>
            <a:pPr algn="l">
              <a:buNone/>
            </a:pPr>
            <a:r>
              <a:rPr lang="ko-KR" altLang="en-US" sz="1300" b="0" dirty="0">
                <a:solidFill>
                  <a:srgbClr val="D64545"/>
                </a:solidFill>
                <a:latin typeface="Pretendard SemiBold"/>
                <a:ea typeface="Pretendard SemiBold"/>
                <a:cs typeface="Pretendard SemiBold"/>
              </a:rPr>
              <a:t xml:space="preserve">⚠ 생활교육 영역은 민감 정보 위험이 가장 큽니다. 개별 학생 사안(학교폭력 조사·상담 기록·징계)은 ‘AI 입력 금지 업무’로 지정하세요.</a:t>
            </a:r>
            <a:endParaRPr lang="ko-KR" alt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3부 · AI 업무 윤리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학교 AI 업무 윤리 5대 원칙</a:t>
            </a:r>
            <a:endParaRPr lang="ko-KR" altLang="en-US" sz="2400" dirty="0"/>
          </a:p>
        </p:txBody>
      </p:sp>
      <p:sp>
        <p:nvSpPr>
          <p:cNvPr id="13" name="Badge 13"/>
          <p:cNvSpPr/>
          <p:nvPr/>
        </p:nvSpPr>
        <p:spPr>
          <a:xfrm>
            <a:off x="1180490" y="1691640"/>
            <a:ext cx="822960" cy="822960"/>
          </a:xfrm>
          <a:prstGeom prst="ellipse">
            <a:avLst/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26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1</a:t>
            </a:r>
            <a:endParaRPr lang="ko-KR" altLang="en-US" sz="2600" dirty="0"/>
          </a:p>
        </p:txBody>
      </p:sp>
      <p:sp>
        <p:nvSpPr>
          <p:cNvPr id="14" name="Principle 14"/>
          <p:cNvSpPr/>
          <p:nvPr/>
        </p:nvSpPr>
        <p:spPr>
          <a:xfrm>
            <a:off x="548640" y="2697480"/>
            <a:ext cx="2086661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164592" tIns="274320" rIns="164592" bIns="137160" rtlCol="0" anchor="t">
            <a:no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ko-KR" altLang="en-US" sz="17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개인정보 보호</a:t>
            </a:r>
            <a:endParaRPr lang="ko-KR" altLang="en-US" sz="1700" dirty="0"/>
          </a:p>
          <a:p>
            <a:pPr algn="ctr">
              <a:lnSpc>
                <a:spcPct val="115000"/>
              </a:lnSpc>
              <a:spcAft>
                <a:spcPts val="1400"/>
              </a:spcAft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SemiBold"/>
                <a:ea typeface="Pretendard SemiBold"/>
                <a:cs typeface="Pretendard SemiBold"/>
              </a:rPr>
              <a:t xml:space="preserve">학생·학부모·교직원 개인정보 입력 금지</a:t>
            </a:r>
            <a:endParaRPr lang="ko-KR" altLang="en-US" sz="1400" dirty="0"/>
          </a:p>
          <a:p>
            <a:pPr algn="ctr">
              <a:lnSpc>
                <a:spcPct val="115000"/>
              </a:lnSpc>
              <a:buNone/>
            </a:pPr>
            <a:r>
              <a:rPr lang="ko-KR" altLang="en-US" sz="1300" b="0" dirty="0">
                <a:solidFill>
                  <a:srgbClr val="5F6475"/>
                </a:solidFill>
                <a:latin typeface="Pretendard Medium"/>
                <a:ea typeface="Pretendard Medium"/>
                <a:cs typeface="Pretendard Medium"/>
              </a:rPr>
              <a:t xml:space="preserve">“이름 대신 ‘학생A’, 연락처는 지우고 입력”</a:t>
            </a:r>
            <a:endParaRPr lang="ko-KR" altLang="en-US" sz="1300" dirty="0"/>
          </a:p>
        </p:txBody>
      </p:sp>
      <p:sp>
        <p:nvSpPr>
          <p:cNvPr id="15" name="Badge 15"/>
          <p:cNvSpPr/>
          <p:nvPr/>
        </p:nvSpPr>
        <p:spPr>
          <a:xfrm>
            <a:off x="3431743" y="1691640"/>
            <a:ext cx="822960" cy="822960"/>
          </a:xfrm>
          <a:prstGeom prst="ellipse">
            <a:avLst/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26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2</a:t>
            </a:r>
            <a:endParaRPr lang="ko-KR" altLang="en-US" sz="2600" dirty="0"/>
          </a:p>
        </p:txBody>
      </p:sp>
      <p:sp>
        <p:nvSpPr>
          <p:cNvPr id="16" name="Principle 16"/>
          <p:cNvSpPr/>
          <p:nvPr/>
        </p:nvSpPr>
        <p:spPr>
          <a:xfrm>
            <a:off x="2799893" y="2697480"/>
            <a:ext cx="2086661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164592" tIns="274320" rIns="164592" bIns="137160" rtlCol="0" anchor="t">
            <a:no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ko-KR" altLang="en-US" sz="17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사람의 최종 책임</a:t>
            </a:r>
            <a:endParaRPr lang="ko-KR" altLang="en-US" sz="1700" dirty="0"/>
          </a:p>
          <a:p>
            <a:pPr algn="ctr">
              <a:lnSpc>
                <a:spcPct val="115000"/>
              </a:lnSpc>
              <a:spcAft>
                <a:spcPts val="1400"/>
              </a:spcAft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SemiBold"/>
                <a:ea typeface="Pretendard SemiBold"/>
                <a:cs typeface="Pretendard SemiBold"/>
              </a:rPr>
              <a:t xml:space="preserve">AI는 초안, 결재·판단·발송은 사람</a:t>
            </a:r>
            <a:endParaRPr lang="ko-KR" altLang="en-US" sz="1400" dirty="0"/>
          </a:p>
          <a:p>
            <a:pPr algn="ctr">
              <a:lnSpc>
                <a:spcPct val="115000"/>
              </a:lnSpc>
              <a:buNone/>
            </a:pPr>
            <a:r>
              <a:rPr lang="ko-KR" altLang="en-US" sz="1300" b="0" dirty="0">
                <a:solidFill>
                  <a:srgbClr val="5F6475"/>
                </a:solidFill>
                <a:latin typeface="Pretendard Medium"/>
                <a:ea typeface="Pretendard Medium"/>
                <a:cs typeface="Pretendard Medium"/>
              </a:rPr>
              <a:t xml:space="preserve">“AI가 쓴 문서도 기안자의 문서”</a:t>
            </a:r>
            <a:endParaRPr lang="ko-KR" altLang="en-US" sz="1300" dirty="0"/>
          </a:p>
        </p:txBody>
      </p:sp>
      <p:sp>
        <p:nvSpPr>
          <p:cNvPr id="17" name="Badge 17"/>
          <p:cNvSpPr/>
          <p:nvPr/>
        </p:nvSpPr>
        <p:spPr>
          <a:xfrm>
            <a:off x="5682996" y="1691640"/>
            <a:ext cx="822960" cy="822960"/>
          </a:xfrm>
          <a:prstGeom prst="ellipse">
            <a:avLst/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26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3</a:t>
            </a:r>
            <a:endParaRPr lang="ko-KR" altLang="en-US" sz="2600" dirty="0"/>
          </a:p>
        </p:txBody>
      </p:sp>
      <p:sp>
        <p:nvSpPr>
          <p:cNvPr id="18" name="Principle 18"/>
          <p:cNvSpPr/>
          <p:nvPr/>
        </p:nvSpPr>
        <p:spPr>
          <a:xfrm>
            <a:off x="5051146" y="2697480"/>
            <a:ext cx="2086661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164592" tIns="274320" rIns="164592" bIns="137160" rtlCol="0" anchor="t">
            <a:no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ko-KR" altLang="en-US" sz="17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사실 확인</a:t>
            </a:r>
            <a:endParaRPr lang="ko-KR" altLang="en-US" sz="1700" dirty="0"/>
          </a:p>
          <a:p>
            <a:pPr algn="ctr">
              <a:lnSpc>
                <a:spcPct val="115000"/>
              </a:lnSpc>
              <a:spcAft>
                <a:spcPts val="1400"/>
              </a:spcAft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SemiBold"/>
                <a:ea typeface="Pretendard SemiBold"/>
                <a:cs typeface="Pretendard SemiBold"/>
              </a:rPr>
              <a:t xml:space="preserve">수치·법령·일정은 원문과 대조</a:t>
            </a:r>
            <a:endParaRPr lang="ko-KR" altLang="en-US" sz="1400" dirty="0"/>
          </a:p>
          <a:p>
            <a:pPr algn="ctr">
              <a:lnSpc>
                <a:spcPct val="115000"/>
              </a:lnSpc>
              <a:buNone/>
            </a:pPr>
            <a:r>
              <a:rPr lang="ko-KR" altLang="en-US" sz="1300" b="0" dirty="0">
                <a:solidFill>
                  <a:srgbClr val="5F6475"/>
                </a:solidFill>
                <a:latin typeface="Pretendard Medium"/>
                <a:ea typeface="Pretendard Medium"/>
                <a:cs typeface="Pretendard Medium"/>
              </a:rPr>
              <a:t xml:space="preserve">“AI가 말한 근거는 원문으로 확인”</a:t>
            </a:r>
            <a:endParaRPr lang="ko-KR" altLang="en-US" sz="1300" dirty="0"/>
          </a:p>
        </p:txBody>
      </p:sp>
      <p:sp>
        <p:nvSpPr>
          <p:cNvPr id="19" name="Badge 19"/>
          <p:cNvSpPr/>
          <p:nvPr/>
        </p:nvSpPr>
        <p:spPr>
          <a:xfrm>
            <a:off x="7934249" y="1691640"/>
            <a:ext cx="822960" cy="822960"/>
          </a:xfrm>
          <a:prstGeom prst="ellipse">
            <a:avLst/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26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4</a:t>
            </a:r>
            <a:endParaRPr lang="ko-KR" altLang="en-US" sz="2600" dirty="0"/>
          </a:p>
        </p:txBody>
      </p:sp>
      <p:sp>
        <p:nvSpPr>
          <p:cNvPr id="20" name="Principle 20"/>
          <p:cNvSpPr/>
          <p:nvPr/>
        </p:nvSpPr>
        <p:spPr>
          <a:xfrm>
            <a:off x="7302398" y="2697480"/>
            <a:ext cx="2086661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164592" tIns="274320" rIns="164592" bIns="137160" rtlCol="0" anchor="t">
            <a:no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ko-KR" altLang="en-US" sz="17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투명성</a:t>
            </a:r>
            <a:endParaRPr lang="ko-KR" altLang="en-US" sz="1700" dirty="0"/>
          </a:p>
          <a:p>
            <a:pPr algn="ctr">
              <a:lnSpc>
                <a:spcPct val="115000"/>
              </a:lnSpc>
              <a:spcAft>
                <a:spcPts val="1400"/>
              </a:spcAft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SemiBold"/>
                <a:ea typeface="Pretendard SemiBold"/>
                <a:cs typeface="Pretendard SemiBold"/>
              </a:rPr>
              <a:t xml:space="preserve">AI 활용 사실을 필요 시 밝힘</a:t>
            </a:r>
            <a:endParaRPr lang="ko-KR" altLang="en-US" sz="1400" dirty="0"/>
          </a:p>
          <a:p>
            <a:pPr algn="ctr">
              <a:lnSpc>
                <a:spcPct val="115000"/>
              </a:lnSpc>
              <a:buNone/>
            </a:pPr>
            <a:r>
              <a:rPr lang="ko-KR" altLang="en-US" sz="1300" b="0" dirty="0">
                <a:solidFill>
                  <a:srgbClr val="5F6475"/>
                </a:solidFill>
                <a:latin typeface="Pretendard Medium"/>
                <a:ea typeface="Pretendard Medium"/>
                <a:cs typeface="Pretendard Medium"/>
              </a:rPr>
              <a:t xml:space="preserve">“기관 지침에 따라 AI 활용 여부 표기”</a:t>
            </a:r>
            <a:endParaRPr lang="ko-KR" altLang="en-US" sz="1300" dirty="0"/>
          </a:p>
        </p:txBody>
      </p:sp>
      <p:sp>
        <p:nvSpPr>
          <p:cNvPr id="21" name="Badge 21"/>
          <p:cNvSpPr/>
          <p:nvPr/>
        </p:nvSpPr>
        <p:spPr>
          <a:xfrm>
            <a:off x="10185502" y="1691640"/>
            <a:ext cx="822960" cy="822960"/>
          </a:xfrm>
          <a:prstGeom prst="ellipse">
            <a:avLst/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26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5</a:t>
            </a:r>
            <a:endParaRPr lang="ko-KR" altLang="en-US" sz="2600" dirty="0"/>
          </a:p>
        </p:txBody>
      </p:sp>
      <p:sp>
        <p:nvSpPr>
          <p:cNvPr id="22" name="Principle 22"/>
          <p:cNvSpPr/>
          <p:nvPr/>
        </p:nvSpPr>
        <p:spPr>
          <a:xfrm>
            <a:off x="9553651" y="2697480"/>
            <a:ext cx="2086661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164592" tIns="274320" rIns="164592" bIns="137160" rtlCol="0" anchor="t">
            <a:no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ko-KR" altLang="en-US" sz="17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공정성·포용성</a:t>
            </a:r>
            <a:endParaRPr lang="ko-KR" altLang="en-US" sz="1700" dirty="0"/>
          </a:p>
          <a:p>
            <a:pPr algn="ctr">
              <a:lnSpc>
                <a:spcPct val="115000"/>
              </a:lnSpc>
              <a:spcAft>
                <a:spcPts val="1400"/>
              </a:spcAft>
              <a:buNone/>
            </a:pPr>
            <a:r>
              <a:rPr lang="ko-KR" altLang="en-US" sz="1400" b="0" dirty="0">
                <a:solidFill>
                  <a:srgbClr val="1F2340"/>
                </a:solidFill>
                <a:latin typeface="Pretendard SemiBold"/>
                <a:ea typeface="Pretendard SemiBold"/>
                <a:cs typeface="Pretendard SemiBold"/>
              </a:rPr>
              <a:t xml:space="preserve">편견·차별 표현 점검, 정보 소외 방지</a:t>
            </a:r>
            <a:endParaRPr lang="ko-KR" altLang="en-US" sz="1400" dirty="0"/>
          </a:p>
          <a:p>
            <a:pPr algn="ctr">
              <a:lnSpc>
                <a:spcPct val="115000"/>
              </a:lnSpc>
              <a:buNone/>
            </a:pPr>
            <a:r>
              <a:rPr lang="ko-KR" altLang="en-US" sz="1300" b="0" dirty="0">
                <a:solidFill>
                  <a:srgbClr val="5F6475"/>
                </a:solidFill>
                <a:latin typeface="Pretendard Medium"/>
                <a:ea typeface="Pretendard Medium"/>
                <a:cs typeface="Pretendard Medium"/>
              </a:rPr>
              <a:t xml:space="preserve">“다문화·장애 가정도 이해할 수 있는지 점검”</a:t>
            </a:r>
            <a:endParaRPr lang="ko-KR" alt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3부 · AI 업무 윤리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AI 입력 신호등</a:t>
            </a:r>
            <a:endParaRPr lang="ko-KR" altLang="en-US" sz="2400" dirty="0"/>
          </a:p>
        </p:txBody>
      </p:sp>
      <p:sp>
        <p:nvSpPr>
          <p:cNvPr id="13" name="Signal head 13"/>
          <p:cNvSpPr/>
          <p:nvPr/>
        </p:nvSpPr>
        <p:spPr>
          <a:xfrm>
            <a:off x="548640" y="1691640"/>
            <a:ext cx="3514344" cy="640080"/>
          </a:xfrm>
          <a:prstGeom prst="roundRect">
            <a:avLst>
              <a:gd name="adj" fmla="val 30000"/>
            </a:avLst>
          </a:prstGeom>
          <a:solidFill>
            <a:srgbClr val="1E9E5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buNone/>
            </a:pPr>
            <a:r>
              <a:rPr lang="ko-KR" altLang="en-US" sz="19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🟢  입력 가능</a:t>
            </a:r>
            <a:endParaRPr lang="ko-KR" altLang="en-US" sz="1900" dirty="0"/>
          </a:p>
        </p:txBody>
      </p:sp>
      <p:sp>
        <p:nvSpPr>
          <p:cNvPr id="14" name="Signal body 14"/>
          <p:cNvSpPr/>
          <p:nvPr/>
        </p:nvSpPr>
        <p:spPr>
          <a:xfrm>
            <a:off x="548640" y="2468880"/>
            <a:ext cx="3514344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74320" tIns="274320" rIns="228600" bIns="137160" rtlCol="0" anchor="t">
            <a:noAutofit/>
          </a:bodyPr>
          <a:lstStyle/>
          <a:p>
            <a:pPr algn="l" marL="228600" indent="-228600">
              <a:spcAft>
                <a:spcPts val="1000"/>
              </a:spcAft>
              <a:buClr>
                <a:srgbClr val="1E9E5A"/>
              </a:buClr>
              <a:buFont typeface="Arial"/>
              <a:buChar char="•"/>
            </a:pPr>
            <a:r>
              <a:rPr lang="ko-KR" altLang="en-US" sz="16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공개된 학사일정</a:t>
            </a:r>
            <a:endParaRPr lang="ko-KR" altLang="en-US" sz="1600" dirty="0"/>
          </a:p>
          <a:p>
            <a:pPr algn="l" marL="228600" indent="-228600">
              <a:spcAft>
                <a:spcPts val="1000"/>
              </a:spcAft>
              <a:buClr>
                <a:srgbClr val="1E9E5A"/>
              </a:buClr>
              <a:buFont typeface="Arial"/>
              <a:buChar char="•"/>
            </a:pPr>
            <a:r>
              <a:rPr lang="ko-KR" altLang="en-US" sz="16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학교 서식 · 양식</a:t>
            </a:r>
            <a:endParaRPr lang="ko-KR" altLang="en-US" sz="1600" dirty="0"/>
          </a:p>
          <a:p>
            <a:pPr algn="l" marL="228600" indent="-228600">
              <a:spcAft>
                <a:spcPts val="1000"/>
              </a:spcAft>
              <a:buClr>
                <a:srgbClr val="1E9E5A"/>
              </a:buClr>
              <a:buFont typeface="Arial"/>
              <a:buChar char="•"/>
            </a:pPr>
            <a:r>
              <a:rPr lang="ko-KR" altLang="en-US" sz="16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공개 공문</a:t>
            </a:r>
            <a:endParaRPr lang="ko-KR" altLang="en-US" sz="1600" dirty="0"/>
          </a:p>
          <a:p>
            <a:pPr algn="l" marL="228600" indent="-228600">
              <a:spcAft>
                <a:spcPts val="1000"/>
              </a:spcAft>
              <a:buClr>
                <a:srgbClr val="1E9E5A"/>
              </a:buClr>
              <a:buFont typeface="Arial"/>
              <a:buChar char="•"/>
            </a:pPr>
            <a:r>
              <a:rPr lang="ko-KR" altLang="en-US" sz="16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교육과정 문서</a:t>
            </a:r>
            <a:endParaRPr lang="ko-KR" altLang="en-US" sz="1600" dirty="0"/>
          </a:p>
        </p:txBody>
      </p:sp>
      <p:sp>
        <p:nvSpPr>
          <p:cNvPr id="15" name="Signal head 15"/>
          <p:cNvSpPr/>
          <p:nvPr/>
        </p:nvSpPr>
        <p:spPr>
          <a:xfrm>
            <a:off x="4337304" y="1691640"/>
            <a:ext cx="3514344" cy="640080"/>
          </a:xfrm>
          <a:prstGeom prst="roundRect">
            <a:avLst>
              <a:gd name="adj" fmla="val 30000"/>
            </a:avLst>
          </a:prstGeom>
          <a:solidFill>
            <a:srgbClr val="E0A100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buNone/>
            </a:pPr>
            <a:r>
              <a:rPr lang="ko-KR" altLang="en-US" sz="19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🟡  가공 후 입력</a:t>
            </a:r>
            <a:endParaRPr lang="ko-KR" altLang="en-US" sz="1900" dirty="0"/>
          </a:p>
        </p:txBody>
      </p:sp>
      <p:sp>
        <p:nvSpPr>
          <p:cNvPr id="16" name="Signal body 16"/>
          <p:cNvSpPr/>
          <p:nvPr/>
        </p:nvSpPr>
        <p:spPr>
          <a:xfrm>
            <a:off x="4337304" y="2468880"/>
            <a:ext cx="3514344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74320" tIns="274320" rIns="228600" bIns="137160" rtlCol="0" anchor="t">
            <a:noAutofit/>
          </a:bodyPr>
          <a:lstStyle/>
          <a:p>
            <a:pPr algn="l" marL="228600" indent="-228600">
              <a:spcAft>
                <a:spcPts val="1000"/>
              </a:spcAft>
              <a:buClr>
                <a:srgbClr val="E0A100"/>
              </a:buClr>
              <a:buFont typeface="Arial"/>
              <a:buChar char="•"/>
            </a:pPr>
            <a:r>
              <a:rPr lang="ko-KR" altLang="en-US" sz="16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회의 메모 (실명 제거)</a:t>
            </a:r>
            <a:endParaRPr lang="ko-KR" altLang="en-US" sz="1600" dirty="0"/>
          </a:p>
          <a:p>
            <a:pPr algn="l" marL="228600" indent="-228600">
              <a:spcAft>
                <a:spcPts val="1000"/>
              </a:spcAft>
              <a:buClr>
                <a:srgbClr val="E0A100"/>
              </a:buClr>
              <a:buFont typeface="Arial"/>
              <a:buChar char="•"/>
            </a:pPr>
            <a:r>
              <a:rPr lang="ko-KR" altLang="en-US" sz="16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설문 결과 (통계만)</a:t>
            </a:r>
            <a:endParaRPr lang="ko-KR" altLang="en-US" sz="1600" dirty="0"/>
          </a:p>
          <a:p>
            <a:pPr algn="l" marL="228600" indent="-228600">
              <a:spcAft>
                <a:spcPts val="1000"/>
              </a:spcAft>
              <a:buClr>
                <a:srgbClr val="E0A100"/>
              </a:buClr>
              <a:buFont typeface="Arial"/>
              <a:buChar char="•"/>
            </a:pPr>
            <a:r>
              <a:rPr lang="ko-KR" altLang="en-US" sz="16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예산 개요</a:t>
            </a:r>
            <a:endParaRPr lang="ko-KR" altLang="en-US" sz="1600" dirty="0"/>
          </a:p>
          <a:p>
            <a:pPr algn="l" marL="228600" indent="-228600">
              <a:spcAft>
                <a:spcPts val="1000"/>
              </a:spcAft>
              <a:buClr>
                <a:srgbClr val="E0A100"/>
              </a:buClr>
              <a:buFont typeface="Arial"/>
              <a:buChar char="•"/>
            </a:pPr>
            <a:r>
              <a:rPr lang="ko-KR" altLang="en-US" sz="16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익명화한 사례</a:t>
            </a:r>
            <a:endParaRPr lang="ko-KR" altLang="en-US" sz="1600" dirty="0"/>
          </a:p>
        </p:txBody>
      </p:sp>
      <p:sp>
        <p:nvSpPr>
          <p:cNvPr id="17" name="Signal head 17"/>
          <p:cNvSpPr/>
          <p:nvPr/>
        </p:nvSpPr>
        <p:spPr>
          <a:xfrm>
            <a:off x="8125968" y="1691640"/>
            <a:ext cx="3514344" cy="640080"/>
          </a:xfrm>
          <a:prstGeom prst="roundRect">
            <a:avLst>
              <a:gd name="adj" fmla="val 30000"/>
            </a:avLst>
          </a:prstGeom>
          <a:solidFill>
            <a:srgbClr val="D64545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buNone/>
            </a:pPr>
            <a:r>
              <a:rPr lang="ko-KR" altLang="en-US" sz="19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🔴  입력 금지</a:t>
            </a:r>
            <a:endParaRPr lang="ko-KR" altLang="en-US" sz="1900" dirty="0"/>
          </a:p>
        </p:txBody>
      </p:sp>
      <p:sp>
        <p:nvSpPr>
          <p:cNvPr id="18" name="Signal body 18"/>
          <p:cNvSpPr/>
          <p:nvPr/>
        </p:nvSpPr>
        <p:spPr>
          <a:xfrm>
            <a:off x="8125968" y="2468880"/>
            <a:ext cx="3514344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74320" tIns="274320" rIns="228600" bIns="137160" rtlCol="0" anchor="t">
            <a:noAutofit/>
          </a:bodyPr>
          <a:lstStyle/>
          <a:p>
            <a:pPr algn="l" marL="228600" indent="-228600">
              <a:spcAft>
                <a:spcPts val="1000"/>
              </a:spcAft>
              <a:buClr>
                <a:srgbClr val="D64545"/>
              </a:buClr>
              <a:buFont typeface="Arial"/>
              <a:buChar char="•"/>
            </a:pPr>
            <a:r>
              <a:rPr lang="ko-KR" altLang="en-US" sz="16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학생 성적 · 생활기록부</a:t>
            </a:r>
            <a:endParaRPr lang="ko-KR" altLang="en-US" sz="1600" dirty="0"/>
          </a:p>
          <a:p>
            <a:pPr algn="l" marL="228600" indent="-228600">
              <a:spcAft>
                <a:spcPts val="1000"/>
              </a:spcAft>
              <a:buClr>
                <a:srgbClr val="D64545"/>
              </a:buClr>
              <a:buFont typeface="Arial"/>
              <a:buChar char="•"/>
            </a:pPr>
            <a:r>
              <a:rPr lang="ko-KR" altLang="en-US" sz="16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상담 · 학교폭력 사안 기록</a:t>
            </a:r>
            <a:endParaRPr lang="ko-KR" altLang="en-US" sz="1600" dirty="0"/>
          </a:p>
          <a:p>
            <a:pPr algn="l" marL="228600" indent="-228600">
              <a:spcAft>
                <a:spcPts val="1000"/>
              </a:spcAft>
              <a:buClr>
                <a:srgbClr val="D64545"/>
              </a:buClr>
              <a:buFont typeface="Arial"/>
              <a:buChar char="•"/>
            </a:pPr>
            <a:r>
              <a:rPr lang="ko-KR" altLang="en-US" sz="16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건강 정보 · 연락처 · 주소</a:t>
            </a:r>
            <a:endParaRPr lang="ko-KR" altLang="en-US" sz="1600" dirty="0"/>
          </a:p>
          <a:p>
            <a:pPr algn="l" marL="228600" indent="-228600">
              <a:spcAft>
                <a:spcPts val="1000"/>
              </a:spcAft>
              <a:buClr>
                <a:srgbClr val="D64545"/>
              </a:buClr>
              <a:buFont typeface="Arial"/>
              <a:buChar char="•"/>
            </a:pPr>
            <a:r>
              <a:rPr lang="ko-KR" altLang="en-US" sz="16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인사 · 징계 자료, 비공개 공문</a:t>
            </a:r>
            <a:endParaRPr lang="ko-KR" altLang="en-US" sz="1600" dirty="0"/>
          </a:p>
        </p:txBody>
      </p:sp>
      <p:sp>
        <p:nvSpPr>
          <p:cNvPr id="19" name="Text 19"/>
          <p:cNvSpPr txBox="1"/>
          <p:nvPr/>
        </p:nvSpPr>
        <p:spPr>
          <a:xfrm>
            <a:off x="548640" y="5074920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ko-KR" altLang="en-US" sz="1200" b="0" dirty="0">
                <a:solidFill>
                  <a:srgbClr val="5F6475"/>
                </a:solidFill>
                <a:latin typeface="Pretendard Medium"/>
                <a:ea typeface="Pretendard Medium"/>
                <a:cs typeface="Pretendard Medium"/>
              </a:rPr>
              <a:t xml:space="preserve">※ Google Workspace for Education 계정은 개인 계정과 데이터 처리 조건이 다를 수 있습니다. 소속 교육청 지침과 Google 공식 안내를 확인하고, 어떤 계정이든 🔴 정보는 입력하지 않는 것을 원칙으로 합니다.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3부 · 가이드라인 토의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모둠 토의 — 우리 학교 AI 활용 가이드라인</a:t>
            </a:r>
            <a:endParaRPr lang="ko-KR" altLang="en-US" sz="2400" dirty="0"/>
          </a:p>
        </p:txBody>
      </p:sp>
      <p:sp>
        <p:nvSpPr>
          <p:cNvPr id="13" name="Q 13"/>
          <p:cNvSpPr/>
          <p:nvPr/>
        </p:nvSpPr>
        <p:spPr>
          <a:xfrm>
            <a:off x="548640" y="1691640"/>
            <a:ext cx="868680" cy="64008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Q1</a:t>
            </a:r>
            <a:endParaRPr lang="ko-KR" altLang="en-US" sz="1700" dirty="0"/>
          </a:p>
        </p:txBody>
      </p:sp>
      <p:sp>
        <p:nvSpPr>
          <p:cNvPr id="14" name="Question 14"/>
          <p:cNvSpPr/>
          <p:nvPr/>
        </p:nvSpPr>
        <p:spPr>
          <a:xfrm>
            <a:off x="1554480" y="1691640"/>
            <a:ext cx="5120640" cy="640080"/>
          </a:xfrm>
          <a:prstGeom prst="roundRect">
            <a:avLst>
              <a:gd name="adj" fmla="val 25000"/>
            </a:avLst>
          </a:prstGeom>
          <a:solidFill>
            <a:srgbClr val="F1F2FB"/>
          </a:solidFill>
          <a:ln>
            <a:noFill/>
          </a:ln>
        </p:spPr>
        <p:txBody>
          <a:bodyPr wrap="square" lIns="228600" tIns="0" rIns="182880" bIns="0" rtlCol="0" anchor="ctr">
            <a:noAutofit/>
          </a:bodyPr>
          <a:lstStyle/>
          <a:p>
            <a:pPr algn="l">
              <a:buNone/>
            </a:pPr>
            <a:r>
              <a:rPr lang="ko-KR" altLang="en-US" sz="1500" b="0" dirty="0">
                <a:solidFill>
                  <a:srgbClr val="1F2340"/>
                </a:solidFill>
                <a:latin typeface="Pretendard SemiBold"/>
                <a:ea typeface="Pretendard SemiBold"/>
                <a:cs typeface="Pretendard SemiBold"/>
              </a:rPr>
              <a:t xml:space="preserve">AI 사용을 권장할 업무와 금지할 업무는?</a:t>
            </a:r>
            <a:endParaRPr lang="ko-KR" altLang="en-US" sz="1500" dirty="0"/>
          </a:p>
        </p:txBody>
      </p:sp>
      <p:sp>
        <p:nvSpPr>
          <p:cNvPr id="15" name="Q 15"/>
          <p:cNvSpPr/>
          <p:nvPr/>
        </p:nvSpPr>
        <p:spPr>
          <a:xfrm>
            <a:off x="548640" y="2478024"/>
            <a:ext cx="868680" cy="64008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Q2</a:t>
            </a:r>
            <a:endParaRPr lang="ko-KR" altLang="en-US" sz="1700" dirty="0"/>
          </a:p>
        </p:txBody>
      </p:sp>
      <p:sp>
        <p:nvSpPr>
          <p:cNvPr id="16" name="Question 16"/>
          <p:cNvSpPr/>
          <p:nvPr/>
        </p:nvSpPr>
        <p:spPr>
          <a:xfrm>
            <a:off x="1554480" y="2478024"/>
            <a:ext cx="5120640" cy="640080"/>
          </a:xfrm>
          <a:prstGeom prst="roundRect">
            <a:avLst>
              <a:gd name="adj" fmla="val 25000"/>
            </a:avLst>
          </a:prstGeom>
          <a:solidFill>
            <a:srgbClr val="F1F2FB"/>
          </a:solidFill>
          <a:ln>
            <a:noFill/>
          </a:ln>
        </p:spPr>
        <p:txBody>
          <a:bodyPr wrap="square" lIns="228600" tIns="0" rIns="182880" bIns="0" rtlCol="0" anchor="ctr">
            <a:noAutofit/>
          </a:bodyPr>
          <a:lstStyle/>
          <a:p>
            <a:pPr algn="l">
              <a:buNone/>
            </a:pPr>
            <a:r>
              <a:rPr lang="ko-KR" altLang="en-US" sz="1500" b="0" dirty="0">
                <a:solidFill>
                  <a:srgbClr val="1F2340"/>
                </a:solidFill>
                <a:latin typeface="Pretendard SemiBold"/>
                <a:ea typeface="Pretendard SemiBold"/>
                <a:cs typeface="Pretendard SemiBold"/>
              </a:rPr>
              <a:t xml:space="preserve">AI로 작성한 문서의 검토 책임과 절차는?</a:t>
            </a:r>
            <a:endParaRPr lang="ko-KR" altLang="en-US" sz="1500" dirty="0"/>
          </a:p>
        </p:txBody>
      </p:sp>
      <p:sp>
        <p:nvSpPr>
          <p:cNvPr id="17" name="Q 17"/>
          <p:cNvSpPr/>
          <p:nvPr/>
        </p:nvSpPr>
        <p:spPr>
          <a:xfrm>
            <a:off x="548640" y="3264408"/>
            <a:ext cx="868680" cy="64008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Q3</a:t>
            </a:r>
            <a:endParaRPr lang="ko-KR" altLang="en-US" sz="1700" dirty="0"/>
          </a:p>
        </p:txBody>
      </p:sp>
      <p:sp>
        <p:nvSpPr>
          <p:cNvPr id="18" name="Question 18"/>
          <p:cNvSpPr/>
          <p:nvPr/>
        </p:nvSpPr>
        <p:spPr>
          <a:xfrm>
            <a:off x="1554480" y="3264408"/>
            <a:ext cx="5120640" cy="640080"/>
          </a:xfrm>
          <a:prstGeom prst="roundRect">
            <a:avLst>
              <a:gd name="adj" fmla="val 25000"/>
            </a:avLst>
          </a:prstGeom>
          <a:solidFill>
            <a:srgbClr val="F1F2FB"/>
          </a:solidFill>
          <a:ln>
            <a:noFill/>
          </a:ln>
        </p:spPr>
        <p:txBody>
          <a:bodyPr wrap="square" lIns="228600" tIns="0" rIns="182880" bIns="0" rtlCol="0" anchor="ctr">
            <a:noAutofit/>
          </a:bodyPr>
          <a:lstStyle/>
          <a:p>
            <a:pPr algn="l">
              <a:buNone/>
            </a:pPr>
            <a:r>
              <a:rPr lang="ko-KR" altLang="en-US" sz="1500" b="0" dirty="0">
                <a:solidFill>
                  <a:srgbClr val="1F2340"/>
                </a:solidFill>
                <a:latin typeface="Pretendard SemiBold"/>
                <a:ea typeface="Pretendard SemiBold"/>
                <a:cs typeface="Pretendard SemiBold"/>
              </a:rPr>
              <a:t xml:space="preserve">AI 활용 격차를 어떻게 줄일 것인가?</a:t>
            </a:r>
            <a:endParaRPr lang="ko-KR" altLang="en-US" sz="1500" dirty="0"/>
          </a:p>
        </p:txBody>
      </p:sp>
      <p:sp>
        <p:nvSpPr>
          <p:cNvPr id="19" name="Q 19"/>
          <p:cNvSpPr/>
          <p:nvPr/>
        </p:nvSpPr>
        <p:spPr>
          <a:xfrm>
            <a:off x="548640" y="4050792"/>
            <a:ext cx="868680" cy="64008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Q4</a:t>
            </a:r>
            <a:endParaRPr lang="ko-KR" altLang="en-US" sz="1700" dirty="0"/>
          </a:p>
        </p:txBody>
      </p:sp>
      <p:sp>
        <p:nvSpPr>
          <p:cNvPr id="20" name="Question 20"/>
          <p:cNvSpPr/>
          <p:nvPr/>
        </p:nvSpPr>
        <p:spPr>
          <a:xfrm>
            <a:off x="1554480" y="4050792"/>
            <a:ext cx="5120640" cy="640080"/>
          </a:xfrm>
          <a:prstGeom prst="roundRect">
            <a:avLst>
              <a:gd name="adj" fmla="val 25000"/>
            </a:avLst>
          </a:prstGeom>
          <a:solidFill>
            <a:srgbClr val="F1F2FB"/>
          </a:solidFill>
          <a:ln>
            <a:noFill/>
          </a:ln>
        </p:spPr>
        <p:txBody>
          <a:bodyPr wrap="square" lIns="228600" tIns="0" rIns="182880" bIns="0" rtlCol="0" anchor="ctr">
            <a:noAutofit/>
          </a:bodyPr>
          <a:lstStyle/>
          <a:p>
            <a:pPr algn="l">
              <a:buNone/>
            </a:pPr>
            <a:r>
              <a:rPr lang="ko-KR" altLang="en-US" sz="1500" b="0" dirty="0">
                <a:solidFill>
                  <a:srgbClr val="1F2340"/>
                </a:solidFill>
                <a:latin typeface="Pretendard SemiBold"/>
                <a:ea typeface="Pretendard SemiBold"/>
                <a:cs typeface="Pretendard SemiBold"/>
              </a:rPr>
              <a:t xml:space="preserve">공유 Gem의 관리 책임자와 갱신 주기는?</a:t>
            </a:r>
            <a:endParaRPr lang="ko-KR" altLang="en-US" sz="1500" dirty="0"/>
          </a:p>
        </p:txBody>
      </p:sp>
      <p:sp>
        <p:nvSpPr>
          <p:cNvPr id="21" name="Q 21"/>
          <p:cNvSpPr/>
          <p:nvPr/>
        </p:nvSpPr>
        <p:spPr>
          <a:xfrm>
            <a:off x="548640" y="4837176"/>
            <a:ext cx="868680" cy="64008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Q5</a:t>
            </a:r>
            <a:endParaRPr lang="ko-KR" altLang="en-US" sz="1700" dirty="0"/>
          </a:p>
        </p:txBody>
      </p:sp>
      <p:sp>
        <p:nvSpPr>
          <p:cNvPr id="22" name="Question 22"/>
          <p:cNvSpPr/>
          <p:nvPr/>
        </p:nvSpPr>
        <p:spPr>
          <a:xfrm>
            <a:off x="1554480" y="4837176"/>
            <a:ext cx="5120640" cy="640080"/>
          </a:xfrm>
          <a:prstGeom prst="roundRect">
            <a:avLst>
              <a:gd name="adj" fmla="val 25000"/>
            </a:avLst>
          </a:prstGeom>
          <a:solidFill>
            <a:srgbClr val="F1F2FB"/>
          </a:solidFill>
          <a:ln>
            <a:noFill/>
          </a:ln>
        </p:spPr>
        <p:txBody>
          <a:bodyPr wrap="square" lIns="228600" tIns="0" rIns="182880" bIns="0" rtlCol="0" anchor="ctr">
            <a:noAutofit/>
          </a:bodyPr>
          <a:lstStyle/>
          <a:p>
            <a:pPr algn="l">
              <a:buNone/>
            </a:pPr>
            <a:r>
              <a:rPr lang="ko-KR" altLang="en-US" sz="1500" b="0" dirty="0">
                <a:solidFill>
                  <a:srgbClr val="1F2340"/>
                </a:solidFill>
                <a:latin typeface="Pretendard SemiBold"/>
                <a:ea typeface="Pretendard SemiBold"/>
                <a:cs typeface="Pretendard SemiBold"/>
              </a:rPr>
              <a:t xml:space="preserve">AI 사용을 원하지 않는 교직원의 선택권은?</a:t>
            </a:r>
            <a:endParaRPr lang="ko-KR" altLang="en-US" sz="1500" dirty="0"/>
          </a:p>
        </p:txBody>
      </p:sp>
      <p:sp>
        <p:nvSpPr>
          <p:cNvPr id="23" name="Card 23"/>
          <p:cNvSpPr/>
          <p:nvPr/>
        </p:nvSpPr>
        <p:spPr>
          <a:xfrm>
            <a:off x="6903720" y="1691640"/>
            <a:ext cx="4736592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8F0"/>
            </a:solidFill>
          </a:ln>
          <a:effectLst>
            <a:outerShdw blurRad="152400" dist="38100" dir="5400000" algn="t" rotWithShape="0">
              <a:srgbClr val="1720AF">
                <a:alpha val="14000"/>
              </a:srgbClr>
            </a:outerShdw>
          </a:effectLst>
        </p:spPr>
        <p:txBody>
          <a:bodyPr wrap="square" lIns="201168" tIns="164592" rIns="182880" bIns="109728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ko-KR" altLang="en-US" sz="17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가이드라인 템플릿 (안)</a:t>
            </a:r>
            <a:endParaRPr lang="ko-KR" altLang="en-US" sz="17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1. 목적  2. 적용 범위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3. 활용 원칙 — 5대 원칙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4. 업무 구분 — 권장 / 주의 / 금지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5. 공용 Gem 관리 — 책임·주기·라이브러리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6. 역량 지원 — 교내 연수, AI 리더 교사</a:t>
            </a:r>
            <a:endParaRPr lang="ko-KR" altLang="en-US" sz="1400" dirty="0"/>
          </a:p>
          <a:p>
            <a:pPr algn="l" marL="228600" indent="-228600">
              <a:spcAft>
                <a:spcPts val="400"/>
              </a:spcAft>
              <a:buClr>
                <a:srgbClr val="1720AF"/>
              </a:buClr>
              <a:buFont typeface="Arial"/>
              <a:buChar char="•"/>
            </a:pPr>
            <a:r>
              <a:rPr lang="ko-KR" altLang="en-US" sz="1400" b="0" dirty="0">
                <a:solidFill>
                  <a:srgbClr val="1F2340"/>
                </a:solidFill>
                <a:latin typeface="Pretendard Medium"/>
                <a:ea typeface="Pretendard Medium"/>
                <a:cs typeface="Pretendard Medium"/>
              </a:rPr>
              <a:t xml:space="preserve">7. 점검 및 개선 — 학기 말 조사 후 개정</a:t>
            </a:r>
            <a:endParaRPr lang="ko-KR" altLang="en-US" sz="1400" dirty="0"/>
          </a:p>
        </p:txBody>
      </p:sp>
      <p:sp>
        <p:nvSpPr>
          <p:cNvPr id="24" name="Callout 24"/>
          <p:cNvSpPr/>
          <p:nvPr/>
        </p:nvSpPr>
        <p:spPr>
          <a:xfrm>
            <a:off x="548640" y="5623560"/>
            <a:ext cx="11091672" cy="411480"/>
          </a:xfrm>
          <a:prstGeom prst="roundRect">
            <a:avLst>
              <a:gd name="adj" fmla="val 30000"/>
            </a:avLst>
          </a:prstGeom>
          <a:solidFill>
            <a:srgbClr val="E6E8FA"/>
          </a:solidFill>
          <a:ln>
            <a:noFill/>
          </a:ln>
        </p:spPr>
        <p:txBody>
          <a:bodyPr wrap="square" lIns="274320" tIns="0" rIns="274320" bIns="0" rtlCol="0" anchor="ctr">
            <a:noAutofit/>
          </a:bodyPr>
          <a:lstStyle/>
          <a:p>
            <a:pPr algn="l">
              <a:buNone/>
            </a:pPr>
            <a:r>
              <a:rPr lang="ko-KR" altLang="en-US" sz="1300" b="0" dirty="0">
                <a:solidFill>
                  <a:srgbClr val="1720AF"/>
                </a:solidFill>
                <a:latin typeface="Pretendard SemiBold"/>
                <a:ea typeface="Pretendard SemiBold"/>
                <a:cs typeface="Pretendard SemiBold"/>
              </a:rPr>
              <a:t xml:space="preserve">진행: 모둠별 Q1 + 선택 질문 1개 토의(10분) → 템플릿 기록 → 조별 1분 발표</a:t>
            </a:r>
            <a:endParaRPr lang="ko-KR" alt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마무리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>오늘의 세 문장</a:t>
            </a:r>
            <a:endParaRPr lang="ko-KR" altLang="en-US" sz="2400" dirty="0"/>
          </a:p>
        </p:txBody>
      </p:sp>
      <p:sp>
        <p:nvSpPr>
          <p:cNvPr id="13" name="Key 13"/>
          <p:cNvSpPr/>
          <p:nvPr/>
        </p:nvSpPr>
        <p:spPr>
          <a:xfrm>
            <a:off x="548640" y="1691640"/>
            <a:ext cx="2377440" cy="71323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8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AI 에이전트</a:t>
            </a:r>
            <a:endParaRPr lang="ko-KR" altLang="en-US" sz="1800" dirty="0"/>
          </a:p>
        </p:txBody>
      </p:sp>
      <p:sp>
        <p:nvSpPr>
          <p:cNvPr id="14" name="Sentence 14"/>
          <p:cNvSpPr/>
          <p:nvPr/>
        </p:nvSpPr>
        <p:spPr>
          <a:xfrm>
            <a:off x="3108960" y="1691640"/>
            <a:ext cx="8531352" cy="713232"/>
          </a:xfrm>
          <a:prstGeom prst="roundRect">
            <a:avLst>
              <a:gd name="adj" fmla="val 25000"/>
            </a:avLst>
          </a:prstGeom>
          <a:solidFill>
            <a:srgbClr val="F1F2FB"/>
          </a:solidFill>
          <a:ln>
            <a:noFill/>
          </a:ln>
        </p:spPr>
        <p:txBody>
          <a:bodyPr wrap="square" lIns="274320" tIns="0" rIns="182880" bIns="0" rtlCol="0" anchor="ctr">
            <a:noAutofit/>
          </a:bodyPr>
          <a:lstStyle/>
          <a:p>
            <a:pPr algn="l">
              <a:buNone/>
            </a:pPr>
            <a:r>
              <a:rPr lang="ko-KR" altLang="en-US" sz="1700" b="0" dirty="0">
                <a:solidFill>
                  <a:srgbClr val="1F2340"/>
                </a:solidFill>
                <a:latin typeface="Pretendard SemiBold"/>
                <a:ea typeface="Pretendard SemiBold"/>
                <a:cs typeface="Pretendard SemiBold"/>
              </a:rPr>
              <a:t xml:space="preserve">역할 + 지식 + 도구 + 반복 업무를 갖춘 전담 AI 비서</a:t>
            </a:r>
            <a:endParaRPr lang="ko-KR" altLang="en-US" sz="1700" dirty="0"/>
          </a:p>
        </p:txBody>
      </p:sp>
      <p:sp>
        <p:nvSpPr>
          <p:cNvPr id="15" name="Key 15"/>
          <p:cNvSpPr/>
          <p:nvPr/>
        </p:nvSpPr>
        <p:spPr>
          <a:xfrm>
            <a:off x="548640" y="2560320"/>
            <a:ext cx="2377440" cy="71323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8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좋은 Gem</a:t>
            </a:r>
            <a:endParaRPr lang="ko-KR" altLang="en-US" sz="1800" dirty="0"/>
          </a:p>
        </p:txBody>
      </p:sp>
      <p:sp>
        <p:nvSpPr>
          <p:cNvPr id="16" name="Sentence 16"/>
          <p:cNvSpPr/>
          <p:nvPr/>
        </p:nvSpPr>
        <p:spPr>
          <a:xfrm>
            <a:off x="3108960" y="2560320"/>
            <a:ext cx="8531352" cy="713232"/>
          </a:xfrm>
          <a:prstGeom prst="roundRect">
            <a:avLst>
              <a:gd name="adj" fmla="val 25000"/>
            </a:avLst>
          </a:prstGeom>
          <a:solidFill>
            <a:srgbClr val="F1F2FB"/>
          </a:solidFill>
          <a:ln>
            <a:noFill/>
          </a:ln>
        </p:spPr>
        <p:txBody>
          <a:bodyPr wrap="square" lIns="274320" tIns="0" rIns="182880" bIns="0" rtlCol="0" anchor="ctr">
            <a:noAutofit/>
          </a:bodyPr>
          <a:lstStyle/>
          <a:p>
            <a:pPr algn="l">
              <a:buNone/>
            </a:pPr>
            <a:r>
              <a:rPr lang="ko-KR" altLang="en-US" sz="1700" b="0" dirty="0">
                <a:solidFill>
                  <a:srgbClr val="1F2340"/>
                </a:solidFill>
                <a:latin typeface="Pretendard SemiBold"/>
                <a:ea typeface="Pretendard SemiBold"/>
                <a:cs typeface="Pretendard SemiBold"/>
              </a:rPr>
              <a:t xml:space="preserve">잘 설계된 요청사항(역·목·절·형·금) + 잘 정리된 지식(Drive)</a:t>
            </a:r>
            <a:endParaRPr lang="ko-KR" altLang="en-US" sz="1700" dirty="0"/>
          </a:p>
        </p:txBody>
      </p:sp>
      <p:sp>
        <p:nvSpPr>
          <p:cNvPr id="17" name="Key 17"/>
          <p:cNvSpPr/>
          <p:nvPr/>
        </p:nvSpPr>
        <p:spPr>
          <a:xfrm>
            <a:off x="548640" y="3429000"/>
            <a:ext cx="2377440" cy="71323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8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학교 AX</a:t>
            </a:r>
            <a:endParaRPr lang="ko-KR" altLang="en-US" sz="1800" dirty="0"/>
          </a:p>
        </p:txBody>
      </p:sp>
      <p:sp>
        <p:nvSpPr>
          <p:cNvPr id="18" name="Sentence 18"/>
          <p:cNvSpPr/>
          <p:nvPr/>
        </p:nvSpPr>
        <p:spPr>
          <a:xfrm>
            <a:off x="3108960" y="3429000"/>
            <a:ext cx="8531352" cy="713232"/>
          </a:xfrm>
          <a:prstGeom prst="roundRect">
            <a:avLst>
              <a:gd name="adj" fmla="val 25000"/>
            </a:avLst>
          </a:prstGeom>
          <a:solidFill>
            <a:srgbClr val="F1F2FB"/>
          </a:solidFill>
          <a:ln>
            <a:noFill/>
          </a:ln>
        </p:spPr>
        <p:txBody>
          <a:bodyPr wrap="square" lIns="274320" tIns="0" rIns="182880" bIns="0" rtlCol="0" anchor="ctr">
            <a:noAutofit/>
          </a:bodyPr>
          <a:lstStyle/>
          <a:p>
            <a:pPr algn="l">
              <a:buNone/>
            </a:pPr>
            <a:r>
              <a:rPr lang="ko-KR" altLang="en-US" sz="1700" b="0" dirty="0">
                <a:solidFill>
                  <a:srgbClr val="1F2340"/>
                </a:solidFill>
                <a:latin typeface="Pretendard SemiBold"/>
                <a:ea typeface="Pretendard SemiBold"/>
                <a:cs typeface="Pretendard SemiBold"/>
              </a:rPr>
              <a:t xml:space="preserve">잘 만든 Gem을 공유·표준화하고 윤리 가이드라인 위에서 운영</a:t>
            </a:r>
            <a:endParaRPr lang="ko-KR" altLang="en-US" sz="1700" dirty="0"/>
          </a:p>
        </p:txBody>
      </p:sp>
      <p:graphicFrame>
        <p:nvGraphicFramePr>
          <p:cNvPr id="19" name="Table 19"/>
          <p:cNvGraphicFramePr>
            <a:graphicFrameLocks noGrp="1"/>
          </p:cNvGraphicFramePr>
          <p:nvPr/>
        </p:nvGraphicFramePr>
        <p:xfrm>
          <a:off x="548640" y="4434840"/>
          <a:ext cx="11091672" cy="1536192"/>
        </p:xfrm>
        <a:graphic>
          <a:graphicData uri="http://schemas.openxmlformats.org/drawingml/2006/table">
            <a:tbl>
              <a:tblPr firstRow="1" bandRow="1"/>
              <a:tblGrid>
                <a:gridCol w="4125002"/>
                <a:gridCol w="6966670"/>
              </a:tblGrid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35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학교 적용 실행 계획서</a:t>
                      </a:r>
                      <a:endParaRPr lang="ko-KR" altLang="en-US" sz="13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350" b="0" dirty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작성</a:t>
                      </a:r>
                      <a:endParaRPr lang="ko-KR" altLang="en-US" sz="13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1720A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35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우리 학교 첫 번째 AI 비서 / 담당 부서</a:t>
                      </a:r>
                      <a:endParaRPr lang="ko-KR" altLang="en-US" sz="13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3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/>
                      </a:r>
                      <a:endParaRPr lang="ko-KR" altLang="en-US" sz="13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35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필요한 지식 파일 / 파일럿 시작일</a:t>
                      </a:r>
                      <a:endParaRPr lang="ko-KR" altLang="en-US" sz="13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3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2026.     .     .</a:t>
                      </a:r>
                      <a:endParaRPr lang="ko-KR" altLang="en-US" sz="13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1F2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350" b="0" dirty="0">
                          <a:solidFill>
                            <a:srgbClr val="1F234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 xml:space="preserve">성공 지표</a:t>
                      </a:r>
                      <a:endParaRPr lang="ko-KR" altLang="en-US" sz="13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350" b="0" dirty="0">
                          <a:solidFill>
                            <a:srgbClr val="1F234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 xml:space="preserve">예) 가정통신문 작성 시간 ___분 → ___분</a:t>
                      </a:r>
                      <a:endParaRPr lang="ko-KR" altLang="en-US" sz="1350" dirty="0"/>
                    </a:p>
                  </a:txBody>
                  <a:tcPr marL="91440" marR="91440" marT="45720" marB="45720" anchor="ctr">
                    <a:lnL w="9525">
                      <a:solidFill>
                        <a:srgbClr val="D5D8F0"/>
                      </a:solidFill>
                    </a:lnL>
                    <a:lnR w="9525">
                      <a:solidFill>
                        <a:srgbClr val="D5D8F0"/>
                      </a:solidFill>
                    </a:lnR>
                    <a:lnT w="9525">
                      <a:solidFill>
                        <a:srgbClr val="D5D8F0"/>
                      </a:solidFill>
                    </a:lnT>
                    <a:lnB w="9525">
                      <a:solidFill>
                        <a:srgbClr val="D5D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115A5-2359-7E36-6ACA-56972AAA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0574734-EBF8-4D12-9523-8F525075FA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1" name="Section label 11"/>
          <p:cNvSpPr txBox="1"/>
          <p:nvPr/>
        </p:nvSpPr>
        <p:spPr>
          <a:xfrm>
            <a:off x="274320" y="826618"/>
            <a:ext cx="329184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7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 xml:space="preserve">마무리</a:t>
            </a:r>
            <a:endParaRPr lang="ko-KR" altLang="en-US" sz="1700" dirty="0"/>
          </a:p>
        </p:txBody>
      </p:sp>
      <p:sp>
        <p:nvSpPr>
          <p:cNvPr id="12" name="Title 12"/>
          <p:cNvSpPr txBox="1"/>
          <p:nvPr/>
        </p:nvSpPr>
        <p:spPr>
          <a:xfrm>
            <a:off x="4069080" y="826618"/>
            <a:ext cx="7589520" cy="5660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ko-KR" altLang="en-US" sz="2400" b="0" dirty="0">
                <a:solidFill>
                  <a:srgbClr val="1F2340"/>
                </a:solidFill>
                <a:latin typeface="Pretendard ExtraBold"/>
                <a:ea typeface="Pretendard ExtraBold"/>
                <a:cs typeface="Pretendard ExtraBold"/>
              </a:rPr>
              <a:t xml:space="preserve"/>
            </a:r>
            <a:endParaRPr lang="ko-KR" altLang="en-US" sz="2400" dirty="0"/>
          </a:p>
        </p:txBody>
      </p:sp>
      <p:sp>
        <p:nvSpPr>
          <p:cNvPr id="13" name="Text 13"/>
          <p:cNvSpPr txBox="1"/>
          <p:nvPr/>
        </p:nvSpPr>
        <p:spPr>
          <a:xfrm>
            <a:off x="548640" y="2286000"/>
            <a:ext cx="1109167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4400" b="0" dirty="0">
                <a:solidFill>
                  <a:srgbClr val="1720AF"/>
                </a:solidFill>
                <a:latin typeface="Pretendard ExtraBold"/>
                <a:ea typeface="Pretendard ExtraBold"/>
                <a:cs typeface="Pretendard ExtraBold"/>
              </a:rPr>
              <a:t xml:space="preserve">감사합니다</a:t>
            </a:r>
            <a:endParaRPr lang="ko-KR" altLang="en-US" sz="4400" dirty="0"/>
          </a:p>
        </p:txBody>
      </p:sp>
      <p:sp>
        <p:nvSpPr>
          <p:cNvPr id="14" name="Text 14"/>
          <p:cNvSpPr txBox="1"/>
          <p:nvPr/>
        </p:nvSpPr>
        <p:spPr>
          <a:xfrm>
            <a:off x="548640" y="3246120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1800" b="0" dirty="0">
                <a:solidFill>
                  <a:srgbClr val="5653C5"/>
                </a:solidFill>
                <a:latin typeface="Pretendard SemiBold"/>
                <a:ea typeface="Pretendard SemiBold"/>
                <a:cs typeface="Pretendard SemiBold"/>
              </a:rPr>
              <a:t xml:space="preserve">교직원 업무 혁신을 위한 AI 에이전트 과정 · Gemini GEM 활용</a:t>
            </a:r>
            <a:endParaRPr lang="ko-KR" altLang="en-US" sz="1800" dirty="0"/>
          </a:p>
        </p:txBody>
      </p:sp>
      <p:sp>
        <p:nvSpPr>
          <p:cNvPr id="15" name="Survey 15"/>
          <p:cNvSpPr/>
          <p:nvPr/>
        </p:nvSpPr>
        <p:spPr>
          <a:xfrm>
            <a:off x="3383280" y="4160520"/>
            <a:ext cx="5422392" cy="685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653C5"/>
              </a:gs>
              <a:gs pos="100000">
                <a:srgbClr val="1720AF"/>
              </a:gs>
            </a:gsLst>
            <a:lin ang="0" scaled="1"/>
          </a:gra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buNone/>
            </a:pPr>
            <a:r>
              <a:rPr lang="ko-KR" altLang="en-US" sz="16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 xml:space="preserve">사후 설문 QR  ·  실습 폴더 QR</a:t>
            </a:r>
            <a:endParaRPr lang="ko-KR" alt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Pretendard SemiBold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3448</TotalTime>
  <Words>23</Words>
  <Application>Microsoft Office PowerPoint</Application>
  <PresentationFormat>와이드스크린</PresentationFormat>
  <Paragraphs>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Arial</vt:lpstr>
      <vt:lpstr>Pretendard Medium</vt:lpstr>
      <vt:lpstr>Pretendard SemiBold</vt:lpstr>
      <vt:lpstr>Pretendard ExtraBold</vt:lpstr>
      <vt:lpstr>맑은 고딕</vt:lpstr>
      <vt:lpstr>디자인 사용자 지정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승미 이</dc:creator>
  <cp:lastModifiedBy>바운더리엑스 BX</cp:lastModifiedBy>
  <cp:revision>3</cp:revision>
  <dcterms:created xsi:type="dcterms:W3CDTF">2025-03-12T06:44:44Z</dcterms:created>
  <dcterms:modified xsi:type="dcterms:W3CDTF">2026-10-04T13:18:02Z</dcterms:modified>
</cp:coreProperties>
</file>